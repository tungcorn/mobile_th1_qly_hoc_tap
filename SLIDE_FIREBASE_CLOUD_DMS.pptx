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 Bài toán và quyết định" id="{20993204-f65c-416b-8a45-1239e607f9b7}">
          <p14:sldIdLst>
            <p14:sldId id="256"/>
            <p14:sldId id="257"/>
            <p14:sldId id="258"/>
            <p14:sldId id="259"/>
          </p14:sldIdLst>
        </p14:section>
        <p14:section name="02 | Thiết kế tích hợp" id="{15d2a489-0237-3ddf-2ba1-7ec7af836723}">
          <p14:sldIdLst>
            <p14:sldId id="260"/>
            <p14:sldId id="261"/>
            <p14:sldId id="262"/>
            <p14:sldId id="263"/>
            <p14:sldId id="264"/>
            <p14:sldId id="265"/>
          </p14:sldIdLst>
        </p14:section>
        <p14:section name="03 | Bảo mật, chi phí, hiệu năng" id="{715bb337-8ca9-1560-3c54-53eb7c662ce7}">
          <p14:sldIdLst>
            <p14:sldId id="266"/>
            <p14:sldId id="267"/>
            <p14:sldId id="268"/>
          </p14:sldIdLst>
        </p14:section>
        <p14:section name="04 | Thiết lập và nghiệm thu" id="{0bee69c7-e774-90ff-2829-46ffb9bd0106}">
          <p14:sldIdLst>
            <p14:sldId id="269"/>
            <p14:sldId id="270"/>
            <p14:sldId id="271"/>
            <p14:sldId id="272"/>
          </p14:sldIdLst>
        </p14:section>
        <p14:section name="05 | Tài liệu đối chiếu" id="{4a450d18-4eb9-bb90-2aae-24e99ce0f3fb}">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25 giây.
Bài tập chọn Firebase Public Cloud theo yêu cầu giảng viên. Mục tiêu là lưu và truy cập tài liệu riêng tư theo tài khoản Google, không thay thế hệ thống SQLite hiện có. Bài trình bày gồm 18 slide, khoảng 11 phút. Bảy nội dung kiểm tra là: bốn thành phần hiện tại; điểm nghẽn; lựa chọn mô hình Cloud; dịch vụ sử dụng; kiến trúc và luồng dữ liệu; bảo mật, chi phí, hiệu năng; thiết lập tài khoản nhóm và demo có bằng chứng. Các slide không giả định nhóm đã có dự án, tài khoản hay kết quả triển khai Cloud thật.
Nguồn tham khảo: F1: Firebase overview | https://firebase.google.com/docs
F2: Flutter Google Auth | https://firebase.google.com/docs/auth/flutter/federated-auth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30 giây.
Bốn thành phần hiện tại được đối chiếu với mã nguồn. Giao diện Flutter gồm trang danh sách, biểu mẫu, chi tiết và quản lý môn học. DocumentService thực hiện kiểm tra dữ liệu và thống kê; DatabaseGlobal cùng AppDatabase làm lớp truy cập dữ liệu, không có REST backend độc lập. SQLite có các bảng subjects và documents, lưu metadata như tiêu đề, môn học, deadline, yêu thích và fileUrl. Phần tệp cũ chỉ lưu đường dẫn hoặc URL do người dùng nhập; không có BLOB binary trong bảng SQLite và không phải một object store. Nguồn nội bộ: lib/main.dart; lib/pages; lib/widgets; lib/struct/documentService.dart; lib/database/appDatabase.dart; lib/database/tables.dart.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25 giây.
Điểm nghẽn chính là dữ liệu gắn với từng thiết bị, đường dẫn cục bộ không có ý nghĩa trên thiết bị khác, và việc lưu metadata không chứng minh rằng ứng dụng đã lưu hay sao lưu tệp thật. SQLite vẫn có lợi thế sử dụng offline. Không đưa ra số mili giây, số người dùng tối đa hoặc khẳng định dữ liệu mất 100 phần trăm khi chưa đo và chưa kiểm chứng. Phạm vi bài tập xử lý một phần bài toán bằng thư viện Cloud riêng tư, không triển khai cộng tác nhóm hoặc tự đồng bộ SQLite.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35 giây.
So sánh bốn khía cạnh. Phần local trước đây không có danh tính Cloud; phần mới dùng Google Auth và UID. Metadata cloud ở Firestore và metadata SQLite vẫn riêng biệt. Tệp mới được upload binary vào Cloud Storage thay vì chỉ giữ đường dẫn. Cùng tài khoản có thể truy cập thư viện Cloud trên Web hoặc Android khi có mạng. Local vẫn offline; thư viện Cloud không có cache file offline và không tự nhập dữ liệu vào SQLite. Bảng này mô tả khả năng trong mã, không chứng nhận triển khai Cloud thật, không hứa đồng bộ hai chiều, chia sẻ nhóm hoặc sao lưu tự động.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30 giây.
Public Cloud là hạ tầng do nhà cung cấp vận hành, như Firebase trên Google Cloud; đây là lựa chọn bắt buộc theo yêu cầu giảng viên và phù hợp bài tập. Private Cloud là một hạ tầng cloud dành riêng cho tổ chức, không đơn giản là dữ liệu của người dùng được đặt riêng theo UID. Theo định nghĩa NIST, Hybrid Cloud kết hợp các hạ tầng cloud khác nhau và có công nghệ liên kết chúng. SQLite trên thiết bị, kể cả khi được dùng làm cache trong một thiết kế khác, không tự biến hệ thống thành Hybrid Cloud. Ở đây SQLite còn không đóng vai trò cache Firebase vì không có đồng bộ giữa hai kho.
Nguồn tham khảo: F8: NIST: Hybrid cloud | https://csrc.nist.gov/glossary/term/hybrid_cloud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35 giây.
Firebase cung cấp các dịch vụ backend được quản lý, thường được mô tả là Backend-as-a-Service. Auth xác thực tài khoản Google và cấp UID. Firestore lưu metadata tài liệu theo UID. Cloud Storage lưu byte thực của PDF, Office, văn bản, ZIP và ảnh. Hosting chỉ là lựa chọn để phục vụ bản Flutter Web tĩnh hoặc SPA; Hosting không thay thế kho tệp riêng tư. Trong phạm vi này không có backend REST riêng, Cloud Functions, OCR hay dịch vụ AWS. Nhà cung cấp vận hành hạ tầng, nhưng nhóm phải tạo dự án, triển khai Rules đúng, quản lý billing và thu thập bằng chứng thực tế.
Nguồn tham khảo: F1: Firebase overview | https://firebase.google.com/docs
F2: Flutter Google Auth | https://firebase.google.com/docs/auth/flutter/federated-auth
F3: Firestore Security Rules | https://firebase.google.com/docs/firestore/security/rules-conditions
F5: Storage Rules | https://firebase.google.com/docs/storage/security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55 giây.
Đọc sơ đồ từ trái sang phải. Ứng dụng Flutter giữ hai khu vực: Local với SQLite và thư viện Cloud cho Web hoặc Android. CloudDocumentService chạy phía client, gọi SDK tới Google Auth, Firestore và Storage. Auth cung cấp UID. Firestore lưu metadata nhỏ. Storage lưu binary, cả đọc và ghi được kiểm tra bằng Security Rules đã deploy. Mũi tên thể hiện lời gọi SDK, không phải API Gateway hay một backend tự xây. Không có mũi tên đồng bộ SQLite với Firestore. Hosting tùy chọn không nằm trong đường truyền tài liệu riêng tư. Sơ đồ trình bày kiến trúc đã viết trong mã; nhóm phải triển khai lên dự án thật để xác nhận vận hành.
Nguồn tham khảo: F1: Firebase overview | https://firebase.google.com/docs
F2: Flutter Google Auth | https://firebase.google.com/docs/auth/flutter/federated-auth
F3: Firestore Security Rules | https://firebase.google.com/docs/firestore/security/rules-conditions
F5: Storage Rules | https://firebase.google.com/docs/storage/security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40 giây.
Đăng nhập Web dùng signInWithPopup với GoogleAuthProvider. Android lấy Google ID token rồi signInWithCredential. Firebase Auth cung cấp UID cho thư viện riêng. Upload kiểm tra trường dữ liệu, phần mở rộng và tối đa 10 MiB trước khi putData vào Storage rồi ghi metadata bằng doc.set. Download chọn metadata, kiểm tra ownerId và storagePath ở client, sau đó gọi Storage getData với maxBytes, đồng thời Rules phía dịch vụ kiểm tra UID. Code không gọi getDownloadURL và không phát hành public link. getData trả Uint8List và nạp toàn bộ tệp vào RAM; đây không phải cơ chế cache tệp Cloud để xem offline.
Nguồn tham khảo: F2: Flutter Google Auth | https://firebase.google.com/docs/auth/flutter/federated-auth
F4: Storage download: Flutter / Web | https://firebase.google.com/docs/storage/flutter/download-files | https://firebase.google.com/docs/storage/web/download-files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40 giây.
Upload trước tiên hoàn tất object Storage, sau đó ghi metadata Firestore. Nếu ghi metadata thất bại, code cố xóa object để bù trừ. Nếu cleanup cũng thất bại, thông báo trả đường dẫn tệp mồ côi để xử lý trong Console; không hứa rollback hoàn hảo. Xóa thực hiện Storage trước, Firestore sau. Nếu object đã mất, code bỏ qua object-not-found để cho phép người dùng thử xóa lại metadata. Nếu xóa metadata lỗi, việc retry thao tác xóa là an toàn đối với object đã xóa; đây là khả năng thử lại, không phải hàng đợi retry tự động. Nhóm cần demo đường thành công và kiểm tra lỗi trong môi trường test phù hợp.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30 giây.
Firestore lưu document trong users/{uid}/documents/{documentId}. Chín trường đúng với code là ownerId, title, subject, note, fileName, contentType, size, storagePath và createdAt. createdAt được ghi bằng serverTimestamp, Rules yêu cầu bằng thời gian request khi tạo. Storage object luôn ở users/{uid}/documents/{documentId}/file. documentId do Firestore cấp, tên tệp gốc nằm ở metadata. Rules chỉ cho chỉnh title và note; ownerId, path và thông tin tệp không được thay đổi bằng update. Cặp schema này không liên kết với subjects trong SQLite và không tạo cơ chế đồng bộ.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40 giây.
Điều kiện cốt lõi là có request.auth và request.auth.uid trùng uid trong path. Client có kiểm tra ownerId và storagePath, nhưng Security Rules đã deploy mới là ranh giới bảo mật phía dịch vụ. Firestore kiểm tra đủ và đúng chín trường, kiểu dữ liệu, ownerId, đường dẫn, giới hạn chuỗi và timestamp. Storage chỉ cho tạo object với MIME được cho phép, dữ liệu lớn hơn 0 và tối đa 10 MiB; không cho ghi đè object. Định dạng được chấp nhận là PDF, DOCX, PPTX, XLSX, TXT, ZIP, PNG, JPG/JPEG. MIME và phần mở rộng không phải quét malware hay xác minh nội dung tệp. Tài khoản khác và người chưa đăng nhập phải bị chặn khi truy cập đường dẫn trực tiếp. CORS chỉ cho phép nguồn Web phù hợp, không cấp quyền thay Rules. Không dùng service-account key trong app.
Nguồn tham khảo: F3: Firestore Security Rules | https://firebase.google.com/docs/firestore/security/rules-conditions
F5: Storage Rules | https://firebase.google.com/docs/storage/security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35 giây.
Theo Firebase, từ tháng 2 năm 2026, Cloud Storage for Firebase yêu cầu dự án dùng gói Blaze và gắn Cloud Billing; việc tạo bucket mới đã yêu cầu Blaze từ trước. Slide dùng mốc tháng để tránh nhầm ngày triển khai yêu cầu. Có thể có mức dùng miễn phí trên Blaze, nhưng phụ thuộc loại bucket, khu vực và mức dùng, nên không bảo đảm hóa đơn bằng 0. Firestore có chi phí đọc, ghi, xóa, dung lượng và các mục tính phí liên quan; Storage tính dung lượng, thao tác, lưu lượng ra theo vùng và điều kiện. Thiết lập budget alerts cho chủ billing của nhóm, kiểm tra usage và dọn dữ liệu demo. Budget alerts chỉ là thông báo, không tự dừng Storage hoặc Firestore và không phải hard cap chi phí. Không đưa ra giá USD hư cấu khi chưa biết vùng và tài nguyên của dự án thật.
Nguồn tham khảo: F6: Blaze and Storage changes | https://firebase.google.com/docs/storage/faqs-storage-changes-announced-sept-2024
F7: Pricing and budget alerts | https://firebase.google.com/pricing | https://firebase.google.com/docs/projects/billing/avoid-surprise-bills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30 giây.
Đặt giả định rõ ràng: có 30 tài liệu, mỗi tài liệu đúng 2 MiB, nên phần binary lưu là 60 MiB. Có 120 lượt download đầy đủ, mỗi lượt 2 MiB, nên khối lượng file đi ra là 240 MiB. Đây chỉ là phép tính workload giả định, không phải lưu lượng tính phí đã đo; chưa tính metadata, reads của listeners, request retries, overhead hoặc cách nhà cung cấp tính phí. Không có cache file Cloud trong bản này nên không trừ đi lượt tải từ cache. getData nạp toàn bộ tệp vào RAM, vì thế giới hạn 10 MiB cần được tôn trọng. Tốc độ còn tùy mạng, vùng Firestore/Storage và thiết bị; nhóm phải đo upload, download, lỗi và số lần đọc trên dự án thật trước khi công bố benchmark.
Nguồn tham khảo: F4: Storage download: Flutter / Web | https://firebase.google.com/docs/storage/flutter/download-files | https://firebase.google.com/docs/storage/web/download-files
F7: Pricing and budget alerts | https://firebase.google.com/pricing | https://firebase.google.com/docs/projects/billing/avoid-surprise-bills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40 giây.
Nhóm thống nhất người chịu trách nhiệm billing và tạo dự án trên Firebase Console bằng tài khoản Google thật được phép sử dụng. Mời các thành viên qua quyền IAM phù hợp, không chia sẻ mật khẩu. IAM quản trị project không phải RBAC chia sẻ tài liệu trong ứng dụng. Đăng ký ứng dụng Web, lưu firebaseConfig thực của project. Bật provider Google trong Authentication và thêm localhost hoặc tên miền triển khai vào Authorized domains nếu chưa có; không giả định localhost tự được thêm. Tạo Firestore, chọn region phù hợp và không dùng Rules test mở. Chuyển Blaze với sự đồng ý của chủ billing, tạo Storage bucket và thiết lập budget alerts. Nếu demo Android: đăng ký applicationId thực trong android/app/build.gradle.kts, thêm SHA-1/SHA-256 của bản build và cấu hình OAuth Web client ID cho GOOGLE_SERVER_CLIENT_ID. Chưa có thông tin tài khoản hoặc project thật nên slide là hướng dẫn, không phải biên bản hoàn tất.
Nguồn tham khảo: F1: Firebase overview | https://firebase.google.com/docs
F2: Flutter Google Auth | https://firebase.google.com/docs/auth/flutter/federated-auth
F6: Blaze and Storage changes | https://firebase.google.com/docs/storage/faqs-storage-changes-announced-sept-2024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50 giây.
Chuẩn bị Node/Firebase CLI, Google Cloud CLI và Flutter. Lưu JSON firebaseConfig của Web app thật từ Console vào firebase_web_config.json, gồm apiKey, appId, messagingSenderId, projectId, storageBucket, authDomain. Chạy scripts/configure_firebase.ps1 với WebConfigPath; script tạo firebase_config.json và từ chối demo project ID cũng như ghi đè file đang tồn tại. Đọc file đã sinh bằng PowerShell: $firebaseConfig = Get-Content -Raw firebase_config.json | ConvertFrom-Json; $env:FIREBASE_PROJECT_ID = $firebaseConfig.FIREBASE_PROJECT_ID; $env:FIREBASE_STORAGE_BUCKET = $firebaseConfig.FIREBASE_STORAGE_BUCKET. Đăng nhập Firebase CLI và deploy firestore.rules cùng storage.rules vào đúng project qua --project. CORS hiện cho GET/HEAD từ localhost:7357 và 127.0.0.1:7357; bổ sung đúng origin Hosting nếu triển khai Web, không dùng wildcard tùy tiện. Chạy gcloud auth login với tài khoản có quyền quản trị bucket, rồi cập nhật CORS. flutter run dùng --dart-define-from-file=firebase_config.json và không bật USE_FIREBASE_EMULATOR. Trong PowerShell dấu backtick nối dòng. Android dùng cấu hình Android thực của cùng project, đặc biệt FIREBASE_APP_ID dạng Android và GOOGLE_SERVER_CLIENT_ID là OAuth Web client ID; lưu vào firebase_android_config.json rồi dùng flutter run --dart-define-from-file=firebase_android_config.json. Không đưa service-account private key vào các file cấu hình client. Hosting tùy chọn: flutter build web --dart-define-from-file=firebase_config.json, sau đó firebase deploy --only hosting --project $env:FIREBASE_PROJECT_ID.
Nguồn tham khảo: F4: Storage download: Flutter / Web | https://firebase.google.com/docs/storage/flutter/download-files | https://firebase.google.com/docs/storage/web/download-files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65 giây.
Demo khoảng một phút với dữ liệu nhỏ và thời gian dự phòng. Trước khi chạy, xác nhận không có banner Emulator và app trỏ đúng project thật; Google popup hoặc Google sign-in Android phải là luồng thật. Thu bằng chứng Auth Console với provider Google và UID, che thông tin cá nhân khi nộp. Tài khoản thứ nhất trên thiết bị thứ nhất upload một tệp hợp lệ; ghi lại tiến trình và kết quả, đối chiếu Firestore metadata và object Storage cùng documentId, path, size và MIME. Trên thiết bị thứ hai đăng nhập cùng tài khoản và tải đủ tệp, mở kiểm tra nội dung hoặc so sánh hash với tệp gốc. Dùng tài khoản Google thứ hai để chứng minh kho riêng; không chỉ thấy danh sách rỗng mà thử đọc trực tiếp đường dẫn của tài khoản một bằng SDK và nhận permission-denied hoặc unauthorized. Kiểm tra file quá 10 MiB hoặc định dạng không cho phép; kiểm tra xóa và thử lại khi metadata chưa xóa trong môi trường test có kiểm soát. Emulator giúp kiểm thử Rules và nhánh lỗi, nhưng tài khoản giả trong Emulator không chứng minh Google OAuth, bucket thật, billing hay tải Cloud. Nhóm cần ảnh hoặc video thật kèm thời điểm và các bước, không chụp token, mật khẩu hay service-account key.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35 giây.
Kết luận: Firebase Public Cloud đáp ứng lựa chọn nền tảng của bài tập, trong khi SQLite vẫn độc lập để giữ quản lý tài liệu local offline. Thư viện Cloud có Auth Google, metadata theo UID, Storage binary và tải qua SDK xác thực, tối đa 10 MiB. Chưa có tự đồng bộ SQLite với Firestore, cache file Cloud offline, RBAC, chia sẻ nhóm, OCR, backup hoặc versioning; những khả năng đó chỉ nằm trong lộ trình cần thiết kế và kiểm thử riêng. Không coi độ bền của nhà cung cấp là backup ứng dụng đã triển khai. Điều kiện nghiệm thu là nhóm tạo dự án thật, bật Google, deploy Rules, cấu hình billing và CORS đúng, rồi hoàn thành bằng chứng hai thiết bị và hai tài khoản. Không thể thay điều kiện này bằng demo Emulator.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 20 giây.
Tài liệu chính thức Firebase và NIST dùng để kiểm tra khái niệm, Auth, Rules, download SDK và chi phí. Những mô tả tính năng dựa trực tiếp vào mã nguồn trong repo, không dựa vào đề xuất AWS, Sync Engine hay public CDN của báo cáo cũ. Các nguồn tham khảo:
F1: Firebase overview | https://firebase.google.com/docs
F2: Flutter Google Auth | https://firebase.google.com/docs/auth/flutter/federated-auth
F3: Firestore Security Rules | https://firebase.google.com/docs/firestore/security/rules-conditions
F4: Storage download: Flutter / Web | https://firebase.google.com/docs/storage/flutter/download-files | https://firebase.google.com/docs/storage/web/download-files
F5: Storage Rules | https://firebase.google.com/docs/storage/security
F6: Blaze and Storage changes | https://firebase.google.com/docs/storage/faqs-storage-changes-announced-sept-2024
F7: Pricing and budget alerts | https://firebase.google.com/pricing | https://firebase.google.com/docs/projects/billing/avoid-surprise-bills
F8: NIST: Hybrid cloud | https://csrc.nist.gov/glossary/term/hybrid_cloud
Nguồn nội bộ: lib/cloud/cloudDocumentService.dart; lib/cloud/cloudDocument.dart; lib/cloud/firebaseBootstrap.dart; firestore.rules; storage.rules; storage.cors.json; scripts/configure_firebase.ps1; lib/struct/documentService.dart; lib/database/appDatabase.dart; lib/database/tables.dart. Ngày đối chiếu nội dung: 08/10/2026. Đơn giá và yêu cầu cấu hình cần kiểm tra lại tại thời điểm triển khai thật.
Đối chiếu mã nguồn: lib/cloud/cloudDocumentService.dart; lib/cloud/cloudDocument.dart; lib/cloud/firebaseBootstrap.dart; firestore.rules; storage.rules. Không sử dụng đề xuất AWS trong báo cáo cũ làm căn cứ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71500" y="1371600"/>
            <a:ext cx="7086600" cy="1485900"/>
          </a:xfrm>
          <a:prstGeom prst="rect">
            <a:avLst/>
          </a:prstGeom>
          <a:noFill/>
          <a:ln/>
        </p:spPr>
        <p:txBody>
          <a:bodyPr wrap="square" rtlCol="0"/>
          <a:lstStyle>
            <a:lvl1pPr indent="0" marL="0">
              <a:buNone/>
              <a:defRPr lang="en-US" sz="4200" b="1" dirty="0">
                <a:solidFill>
                  <a:schemeClr val="bg1"/>
                </a:solidFill>
                <a:latin typeface="+mj-lt" pitchFamily="34" charset="0"/>
                <a:ea typeface="+mj-lt" pitchFamily="34" charset="-122"/>
                <a:cs typeface="+mj-lt" pitchFamily="34" charset="-120"/>
              </a:defRPr>
            </a:lvl1pPr>
          </a:lstStyle>
          <a:p>
            <a:pPr indent="0" marL="0">
              <a:buNone/>
            </a:pPr>
            <a:endParaRPr lang="en-US" sz="4200" dirty="0"/>
          </a:p>
        </p:txBody>
      </p:sp>
      <p:sp>
        <p:nvSpPr>
          <p:cNvPr id="3" name="Text 0"/>
          <p:cNvSpPr/>
          <p:nvPr>
            <p:ph idx="101" type="body" hasCustomPrompt="1"/>
          </p:nvPr>
        </p:nvSpPr>
        <p:spPr>
          <a:xfrm>
            <a:off x="571500" y="457200"/>
            <a:ext cx="11087100" cy="22860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4" name="Text 0"/>
          <p:cNvSpPr/>
          <p:nvPr>
            <p:ph idx="102" type="body" hasCustomPrompt="1"/>
          </p:nvPr>
        </p:nvSpPr>
        <p:spPr>
          <a:xfrm>
            <a:off x="571500" y="3200400"/>
            <a:ext cx="6858000" cy="102870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
        <p:nvSpPr>
          <p:cNvPr id="5" name="Text 0"/>
          <p:cNvSpPr txBox="1"/>
          <p:nvPr/>
        </p:nvSpPr>
        <p:spPr>
          <a:xfrm>
            <a:off x="571500" y="6172200"/>
            <a:ext cx="10172700" cy="228600"/>
          </a:xfrm>
          <a:prstGeom prst="rect">
            <a:avLst/>
          </a:prstGeom>
          <a:noFill/>
          <a:ln/>
        </p:spPr>
        <p:txBody>
          <a:bodyPr wrap="square" lIns="0" tIns="0" rIns="0" bIns="0" rtlCol="0" anchor="ctr"/>
          <a:lstStyle/>
          <a:p>
            <a:pPr indent="0" marL="0">
              <a:buNone/>
            </a:pPr>
            <a:r>
              <a:rPr lang="en-US" sz="1100" dirty="0">
                <a:solidFill>
                  <a:schemeClr val="accent6"/>
                </a:solidFill>
              </a:rPr>
              <a:t>StudyDoc Manager | Firebase</a:t>
            </a:r>
            <a:endParaRPr lang="en-US" sz="11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rtlCol="0"/>
          <a:lstStyle>
            <a:lvl1pPr indent="0" marL="0">
              <a:buNone/>
              <a:defRPr lang="en-US" sz="3600" b="1" dirty="0">
                <a:solidFill>
                  <a:schemeClr val="tx1"/>
                </a:solidFill>
                <a:latin typeface="+mj-lt" pitchFamily="34" charset="0"/>
                <a:ea typeface="+mj-lt" pitchFamily="34" charset="-122"/>
                <a:cs typeface="+mj-lt" pitchFamily="34" charset="-120"/>
              </a:defRPr>
            </a:lvl1pPr>
          </a:lstStyle>
          <a:p>
            <a:pPr indent="0" marL="0">
              <a:buNone/>
            </a:pP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rtlCol="0"/>
          <a:lstStyle>
            <a:lvl1pPr indent="0" marL="0">
              <a:buNone/>
              <a:defRPr lang="en-US" sz="1200" b="1" dirty="0">
                <a:solidFill>
                  <a:schemeClr val="tx2"/>
                </a:solidFill>
              </a:defRPr>
            </a:lvl1pPr>
          </a:lstStyle>
          <a:p>
            <a:pPr indent="0" marL="0">
              <a:buNone/>
            </a:pP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
        <p:nvSpPr>
          <p:cNvPr id="5" name="Text 0"/>
          <p:cNvSpPr txBox="1"/>
          <p:nvPr/>
        </p:nvSpPr>
        <p:spPr>
          <a:xfrm>
            <a:off x="571500" y="6172200"/>
            <a:ext cx="10172700" cy="228600"/>
          </a:xfrm>
          <a:prstGeom prst="rect">
            <a:avLst/>
          </a:prstGeom>
          <a:noFill/>
          <a:ln/>
        </p:spPr>
        <p:txBody>
          <a:bodyPr wrap="square" lIns="0" tIns="0" rIns="0" bIns="0" rtlCol="0" anchor="ctr"/>
          <a:lstStyle/>
          <a:p>
            <a:pPr indent="0" marL="0">
              <a:buNone/>
            </a:pPr>
            <a:r>
              <a:rPr lang="en-US" sz="1100" dirty="0">
                <a:solidFill>
                  <a:schemeClr val="tx2"/>
                </a:solidFill>
              </a:rPr>
              <a:t>StudyDoc Manager | Firebase</a:t>
            </a:r>
            <a:endParaRPr lang="en-US" sz="11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rtlCol="0"/>
          <a:lstStyle>
            <a:lvl1pPr indent="0" marL="0">
              <a:buNone/>
              <a:defRPr lang="en-US" sz="3600" b="1" dirty="0">
                <a:solidFill>
                  <a:schemeClr val="tx1"/>
                </a:solidFill>
                <a:latin typeface="+mj-lt" pitchFamily="34" charset="0"/>
                <a:ea typeface="+mj-lt" pitchFamily="34" charset="-122"/>
                <a:cs typeface="+mj-lt" pitchFamily="34" charset="-120"/>
              </a:defRPr>
            </a:lvl1pPr>
          </a:lstStyle>
          <a:p>
            <a:pPr indent="0" marL="0">
              <a:buNone/>
            </a:pP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rtlCol="0"/>
          <a:lstStyle>
            <a:lvl1pPr indent="0" marL="0">
              <a:buNone/>
              <a:defRPr lang="en-US" sz="1200" b="1" dirty="0">
                <a:solidFill>
                  <a:schemeClr val="tx2"/>
                </a:solidFill>
              </a:defRPr>
            </a:lvl1pPr>
          </a:lstStyle>
          <a:p>
            <a:pPr indent="0" marL="0">
              <a:buNone/>
            </a:pP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
        <p:nvSpPr>
          <p:cNvPr id="5" name="Text 0"/>
          <p:cNvSpPr txBox="1"/>
          <p:nvPr/>
        </p:nvSpPr>
        <p:spPr>
          <a:xfrm>
            <a:off x="571500" y="6172200"/>
            <a:ext cx="10172700" cy="228600"/>
          </a:xfrm>
          <a:prstGeom prst="rect">
            <a:avLst/>
          </a:prstGeom>
          <a:noFill/>
          <a:ln/>
        </p:spPr>
        <p:txBody>
          <a:bodyPr wrap="square" lIns="0" tIns="0" rIns="0" bIns="0" rtlCol="0" anchor="ctr"/>
          <a:lstStyle/>
          <a:p>
            <a:pPr indent="0" marL="0">
              <a:buNone/>
            </a:pPr>
            <a:r>
              <a:rPr lang="en-US" sz="1100" dirty="0">
                <a:solidFill>
                  <a:schemeClr val="tx2"/>
                </a:solidFill>
              </a:rPr>
              <a:t>StudyDoc Manager | Firebase</a:t>
            </a:r>
            <a:endParaRPr lang="en-US" sz="11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rtlCol="0"/>
          <a:lstStyle>
            <a:lvl1pPr indent="0" marL="0">
              <a:buNone/>
              <a:defRPr lang="en-US" sz="3600" b="1" dirty="0">
                <a:solidFill>
                  <a:schemeClr val="tx1"/>
                </a:solidFill>
                <a:latin typeface="+mj-lt" pitchFamily="34" charset="0"/>
                <a:ea typeface="+mj-lt" pitchFamily="34" charset="-122"/>
                <a:cs typeface="+mj-lt" pitchFamily="34" charset="-120"/>
              </a:defRPr>
            </a:lvl1pPr>
          </a:lstStyle>
          <a:p>
            <a:pPr indent="0" marL="0">
              <a:buNone/>
            </a:pP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rtlCol="0"/>
          <a:lstStyle>
            <a:lvl1pPr indent="0" marL="0">
              <a:buNone/>
              <a:defRPr lang="en-US" sz="1200" b="1" dirty="0">
                <a:solidFill>
                  <a:schemeClr val="tx2"/>
                </a:solidFill>
              </a:defRPr>
            </a:lvl1pPr>
          </a:lstStyle>
          <a:p>
            <a:pPr indent="0" marL="0">
              <a:buNone/>
            </a:pP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
        <p:nvSpPr>
          <p:cNvPr id="5" name="Text 0"/>
          <p:cNvSpPr txBox="1"/>
          <p:nvPr/>
        </p:nvSpPr>
        <p:spPr>
          <a:xfrm>
            <a:off x="571500" y="6172200"/>
            <a:ext cx="10172700" cy="228600"/>
          </a:xfrm>
          <a:prstGeom prst="rect">
            <a:avLst/>
          </a:prstGeom>
          <a:noFill/>
          <a:ln/>
        </p:spPr>
        <p:txBody>
          <a:bodyPr wrap="square" lIns="0" tIns="0" rIns="0" bIns="0" rtlCol="0" anchor="ctr"/>
          <a:lstStyle/>
          <a:p>
            <a:pPr indent="0" marL="0">
              <a:buNone/>
            </a:pPr>
            <a:r>
              <a:rPr lang="en-US" sz="1100" dirty="0">
                <a:solidFill>
                  <a:schemeClr val="tx2"/>
                </a:solidFill>
              </a:rPr>
              <a:t>StudyDoc Manager | Firebase</a:t>
            </a:r>
            <a:endParaRPr lang="en-US" sz="11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unbook">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rtlCol="0"/>
          <a:lstStyle>
            <a:lvl1pPr indent="0" marL="0">
              <a:buNone/>
              <a:defRPr lang="en-US" sz="3600" b="1" dirty="0">
                <a:solidFill>
                  <a:schemeClr val="tx1"/>
                </a:solidFill>
                <a:latin typeface="+mj-lt" pitchFamily="34" charset="0"/>
                <a:ea typeface="+mj-lt" pitchFamily="34" charset="-122"/>
                <a:cs typeface="+mj-lt" pitchFamily="34" charset="-120"/>
              </a:defRPr>
            </a:lvl1pPr>
          </a:lstStyle>
          <a:p>
            <a:pPr indent="0" marL="0">
              <a:buNone/>
            </a:pP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rtlCol="0"/>
          <a:lstStyle>
            <a:lvl1pPr indent="0" marL="0">
              <a:buNone/>
              <a:defRPr lang="en-US" sz="1200" b="1" dirty="0">
                <a:solidFill>
                  <a:schemeClr val="tx2"/>
                </a:solidFill>
              </a:defRPr>
            </a:lvl1pPr>
          </a:lstStyle>
          <a:p>
            <a:pPr indent="0" marL="0">
              <a:buNone/>
            </a:pP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
        <p:nvSpPr>
          <p:cNvPr id="5" name="Text 0"/>
          <p:cNvSpPr txBox="1"/>
          <p:nvPr/>
        </p:nvSpPr>
        <p:spPr>
          <a:xfrm>
            <a:off x="571500" y="6172200"/>
            <a:ext cx="10172700" cy="228600"/>
          </a:xfrm>
          <a:prstGeom prst="rect">
            <a:avLst/>
          </a:prstGeom>
          <a:noFill/>
          <a:ln/>
        </p:spPr>
        <p:txBody>
          <a:bodyPr wrap="square" lIns="0" tIns="0" rIns="0" bIns="0" rtlCol="0" anchor="ctr"/>
          <a:lstStyle/>
          <a:p>
            <a:pPr indent="0" marL="0">
              <a:buNone/>
            </a:pPr>
            <a:r>
              <a:rPr lang="en-US" sz="1100" dirty="0">
                <a:solidFill>
                  <a:schemeClr val="tx2"/>
                </a:solidFill>
              </a:rPr>
              <a:t>StudyDoc Manager | Firebase</a:t>
            </a:r>
            <a:endParaRPr lang="en-US" sz="11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rtlCol="0"/>
          <a:lstStyle>
            <a:lvl1pPr indent="0" marL="0">
              <a:buNone/>
              <a:defRPr lang="en-US" sz="3600" b="1" dirty="0">
                <a:solidFill>
                  <a:schemeClr val="bg1"/>
                </a:solidFill>
                <a:latin typeface="+mj-lt" pitchFamily="34" charset="0"/>
                <a:ea typeface="+mj-lt" pitchFamily="34" charset="-122"/>
                <a:cs typeface="+mj-lt" pitchFamily="34" charset="-120"/>
              </a:defRPr>
            </a:lvl1pPr>
          </a:lstStyle>
          <a:p>
            <a:pPr indent="0" marL="0">
              <a:buNone/>
            </a:pP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5" name="Text 0"/>
          <p:cNvSpPr txBox="1"/>
          <p:nvPr/>
        </p:nvSpPr>
        <p:spPr>
          <a:xfrm>
            <a:off x="571500" y="6172200"/>
            <a:ext cx="10172700" cy="228600"/>
          </a:xfrm>
          <a:prstGeom prst="rect">
            <a:avLst/>
          </a:prstGeom>
          <a:noFill/>
          <a:ln/>
        </p:spPr>
        <p:txBody>
          <a:bodyPr wrap="square" lIns="0" tIns="0" rIns="0" bIns="0" rtlCol="0" anchor="ctr"/>
          <a:lstStyle/>
          <a:p>
            <a:pPr indent="0" marL="0">
              <a:buNone/>
            </a:pPr>
            <a:r>
              <a:rPr lang="en-US" sz="1100" dirty="0">
                <a:solidFill>
                  <a:schemeClr val="accent6"/>
                </a:solidFill>
              </a:rPr>
              <a:t>StudyDoc Manager | Firebase</a:t>
            </a:r>
            <a:endParaRPr lang="en-US" sz="11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firebase.google.com/docs" TargetMode="External"/><Relationship Id="rId2" Type="http://schemas.openxmlformats.org/officeDocument/2006/relationships/hyperlink" Target="https://firebase.google.com/docs" TargetMode="External"/><Relationship Id="rId3" Type="http://schemas.openxmlformats.org/officeDocument/2006/relationships/hyperlink" Target="https://firebase.google.com/docs/auth/flutter/federated-auth" TargetMode="External"/><Relationship Id="rId4" Type="http://schemas.openxmlformats.org/officeDocument/2006/relationships/hyperlink" Target="https://firebase.google.com/docs/auth/flutter/federated-auth" TargetMode="External"/><Relationship Id="rId5" Type="http://schemas.openxmlformats.org/officeDocument/2006/relationships/hyperlink" Target="https://firebase.google.com/docs/firestore/security/rules-conditions" TargetMode="External"/><Relationship Id="rId6" Type="http://schemas.openxmlformats.org/officeDocument/2006/relationships/hyperlink" Target="https://firebase.google.com/docs/firestore/security/rules-conditions" TargetMode="External"/><Relationship Id="rId7" Type="http://schemas.openxmlformats.org/officeDocument/2006/relationships/hyperlink" Target="https://firebase.google.com/docs/storage/flutter/download-files" TargetMode="External"/><Relationship Id="rId8" Type="http://schemas.openxmlformats.org/officeDocument/2006/relationships/hyperlink" Target="https://firebase.google.com/docs/storage/flutter/download-files" TargetMode="External"/><Relationship Id="rId9" Type="http://schemas.openxmlformats.org/officeDocument/2006/relationships/hyperlink" Target="https://firebase.google.com/docs/storage/security" TargetMode="External"/><Relationship Id="rId10" Type="http://schemas.openxmlformats.org/officeDocument/2006/relationships/hyperlink" Target="https://firebase.google.com/docs/storage/security" TargetMode="External"/><Relationship Id="rId11" Type="http://schemas.openxmlformats.org/officeDocument/2006/relationships/hyperlink" Target="https://firebase.google.com/docs/storage/faqs-storage-changes-announced-sept-2024" TargetMode="External"/><Relationship Id="rId12" Type="http://schemas.openxmlformats.org/officeDocument/2006/relationships/hyperlink" Target="https://firebase.google.com/docs/storage/faqs-storage-changes-announced-sept-2024" TargetMode="External"/><Relationship Id="rId13" Type="http://schemas.openxmlformats.org/officeDocument/2006/relationships/hyperlink" Target="https://firebase.google.com/pricing" TargetMode="External"/><Relationship Id="rId14" Type="http://schemas.openxmlformats.org/officeDocument/2006/relationships/hyperlink" Target="https://firebase.google.com/pricing" TargetMode="External"/><Relationship Id="rId15" Type="http://schemas.openxmlformats.org/officeDocument/2006/relationships/hyperlink" Target="https://csrc.nist.gov/glossary/term/hybrid_cloud" TargetMode="External"/><Relationship Id="rId16" Type="http://schemas.openxmlformats.org/officeDocument/2006/relationships/hyperlink" Target="https://csrc.nist.gov/glossary/term/hybrid_cloud" TargetMode="External"/><Relationship Id="rId17" Type="http://schemas.openxmlformats.org/officeDocument/2006/relationships/slideLayout" Target="../slideLayouts/slideLayout3.xml"/><Relationship Id="rId1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71500" y="1371600"/>
            <a:ext cx="7086600" cy="1485900"/>
          </a:xfrm>
          <a:prstGeom prst="rect">
            <a:avLst/>
          </a:prstGeom>
          <a:noFill/>
          <a:ln/>
        </p:spPr>
        <p:txBody>
          <a:bodyPr wrap="square" lIns="0" tIns="0" rIns="0" bIns="0" rtlCol="0" anchor="ctr"/>
          <a:lstStyle/>
          <a:p>
            <a:pPr indent="0" marL="0">
              <a:buNone/>
            </a:pPr>
            <a:r>
              <a:rPr lang="en-US" sz="4200" b="1" dirty="0">
                <a:solidFill>
                  <a:schemeClr val="bg1"/>
                </a:solidFill>
                <a:latin typeface="+mj-lt" pitchFamily="34" charset="0"/>
                <a:ea typeface="+mj-lt" pitchFamily="34" charset="-122"/>
                <a:cs typeface="+mj-lt" pitchFamily="34" charset="-120"/>
              </a:rPr>
              <a:t>StudyDoc Manager |</a:t>
            </a:r>
            <a:endParaRPr lang="en-US" sz="4200" dirty="0"/>
          </a:p>
          <a:p>
            <a:pPr indent="0" marL="0">
              <a:buNone/>
            </a:pPr>
            <a:r>
              <a:rPr lang="en-US" sz="4200" b="1" dirty="0">
                <a:solidFill>
                  <a:schemeClr val="bg1"/>
                </a:solidFill>
                <a:latin typeface="+mj-lt" pitchFamily="34" charset="0"/>
                <a:ea typeface="+mj-lt" pitchFamily="34" charset="-122"/>
                <a:cs typeface="+mj-lt" pitchFamily="34" charset="-120"/>
              </a:rPr>
              <a:t>Bài tập tích hợp Cloud</a:t>
            </a:r>
            <a:endParaRPr lang="en-US" sz="42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accent1"/>
                </a:solidFill>
              </a:rPr>
              <a:t>01 | BÀI TOÁN VÀ QUYẾT ĐỊNH</a:t>
            </a:r>
            <a:endParaRPr lang="en-US" sz="1200" dirty="0"/>
          </a:p>
        </p:txBody>
      </p:sp>
      <p:sp>
        <p:nvSpPr>
          <p:cNvPr id="4" name="Text 0"/>
          <p:cNvSpPr/>
          <p:nvPr>
            <p:ph idx="102" type="body" hasCustomPrompt="1"/>
          </p:nvPr>
        </p:nvSpPr>
        <p:spPr>
          <a:xfrm>
            <a:off x="571500" y="3200400"/>
            <a:ext cx="6858000" cy="1028700"/>
          </a:xfrm>
          <a:prstGeom prst="rect">
            <a:avLst/>
          </a:prstGeom>
          <a:noFill/>
          <a:ln/>
        </p:spPr>
        <p:txBody>
          <a:bodyPr wrap="square" lIns="0" tIns="0" rIns="0" bIns="0" rtlCol="0" anchor="ctr"/>
          <a:lstStyle/>
          <a:p>
            <a:pPr indent="0" marL="0">
              <a:buNone/>
            </a:pPr>
            <a:r>
              <a:rPr lang="en-US" sz="2200" dirty="0">
                <a:solidFill>
                  <a:schemeClr val="accent6"/>
                </a:solidFill>
              </a:rPr>
              <a:t>Giữ quản lý offline cục bộ.</a:t>
            </a:r>
            <a:endParaRPr lang="en-US" sz="2200" dirty="0"/>
          </a:p>
          <a:p>
            <a:pPr indent="0" marL="0">
              <a:buNone/>
            </a:pPr>
            <a:r>
              <a:rPr lang="en-US" sz="2200" dirty="0">
                <a:solidFill>
                  <a:schemeClr val="accent6"/>
                </a:solidFill>
              </a:rPr>
              <a:t>Bổ sung thư viện Cloud riêng tư trên Web / Android.</a:t>
            </a:r>
            <a:endParaRPr lang="en-US" sz="2200" dirty="0"/>
          </a:p>
        </p:txBody>
      </p:sp>
      <p:sp>
        <p:nvSpPr>
          <p:cNvPr id="5" name="Text 1: Nguồn: F1 · F2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accent6"/>
                </a:solidFill>
                <a:latin typeface="+mn-lt" pitchFamily="34" charset="0"/>
                <a:ea typeface="+mn-lt" pitchFamily="34" charset="-122"/>
                <a:cs typeface="+mn-lt" pitchFamily="34" charset="-120"/>
              </a:rPr>
              <a:t>Nguồn: F1 · F2 | URL đầy đủ trong ghi chú và slide 18</a:t>
            </a:r>
            <a:endParaRPr lang="en-US" sz="1200" dirty="0"/>
          </a:p>
        </p:txBody>
      </p:sp>
      <p:sp>
        <p:nvSpPr>
          <p:cNvPr id="7" name="Content panel 2"/>
          <p:cNvSpPr/>
          <p:nvPr/>
        </p:nvSpPr>
        <p:spPr>
          <a:xfrm>
            <a:off x="571500" y="4572000"/>
            <a:ext cx="6858000" cy="457200"/>
          </a:xfrm>
          <a:prstGeom prst="roundRect">
            <a:avLst>
              <a:gd name="adj" fmla="val 32000"/>
            </a:avLst>
          </a:prstGeom>
          <a:solidFill>
            <a:schemeClr val="accent1"/>
          </a:solidFill>
          <a:ln w="10160">
            <a:solidFill>
              <a:schemeClr val="accent1"/>
            </a:solidFill>
            <a:prstDash val="solid"/>
          </a:ln>
        </p:spPr>
      </p:sp>
      <p:sp>
        <p:nvSpPr>
          <p:cNvPr id="8" name="Text 3: Firebase Public Cloud · Tệp tối đa 10 MiB"/>
          <p:cNvSpPr txBox="1"/>
          <p:nvPr/>
        </p:nvSpPr>
        <p:spPr>
          <a:xfrm>
            <a:off x="571500" y="4572000"/>
            <a:ext cx="68580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Firebase Public Cloud · Tệp tối đa 10 MiB</a:t>
            </a:r>
            <a:endParaRPr lang="en-US" sz="1800" dirty="0"/>
          </a:p>
        </p:txBody>
      </p:sp>
      <p:sp>
        <p:nvSpPr>
          <p:cNvPr id="9" name="Content panel 4"/>
          <p:cNvSpPr/>
          <p:nvPr/>
        </p:nvSpPr>
        <p:spPr>
          <a:xfrm>
            <a:off x="571500" y="5257800"/>
            <a:ext cx="2057400" cy="457200"/>
          </a:xfrm>
          <a:prstGeom prst="roundRect">
            <a:avLst>
              <a:gd name="adj" fmla="val 32000"/>
            </a:avLst>
          </a:prstGeom>
          <a:solidFill>
            <a:schemeClr val="accent1"/>
          </a:solidFill>
          <a:ln w="10160">
            <a:solidFill>
              <a:schemeClr val="accent1"/>
            </a:solidFill>
            <a:prstDash val="solid"/>
          </a:ln>
        </p:spPr>
      </p:sp>
      <p:sp>
        <p:nvSpPr>
          <p:cNvPr id="10" name="Text 5: 01  Hiện trạng"/>
          <p:cNvSpPr txBox="1"/>
          <p:nvPr/>
        </p:nvSpPr>
        <p:spPr>
          <a:xfrm>
            <a:off x="571500" y="5257800"/>
            <a:ext cx="20574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01  Hiện trạng</a:t>
            </a:r>
            <a:endParaRPr lang="en-US" sz="1800" dirty="0"/>
          </a:p>
        </p:txBody>
      </p:sp>
      <p:sp>
        <p:nvSpPr>
          <p:cNvPr id="11" name="Content panel 6"/>
          <p:cNvSpPr/>
          <p:nvPr/>
        </p:nvSpPr>
        <p:spPr>
          <a:xfrm>
            <a:off x="2971800" y="5257800"/>
            <a:ext cx="2057400" cy="457200"/>
          </a:xfrm>
          <a:prstGeom prst="roundRect">
            <a:avLst>
              <a:gd name="adj" fmla="val 32000"/>
            </a:avLst>
          </a:prstGeom>
          <a:solidFill>
            <a:schemeClr val="accent1"/>
          </a:solidFill>
          <a:ln w="10160">
            <a:solidFill>
              <a:schemeClr val="accent1"/>
            </a:solidFill>
            <a:prstDash val="solid"/>
          </a:ln>
        </p:spPr>
      </p:sp>
      <p:sp>
        <p:nvSpPr>
          <p:cNvPr id="12" name="Text 7: 02  Thiết kế"/>
          <p:cNvSpPr txBox="1"/>
          <p:nvPr/>
        </p:nvSpPr>
        <p:spPr>
          <a:xfrm>
            <a:off x="2971800" y="5257800"/>
            <a:ext cx="20574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02  Thiết kế</a:t>
            </a:r>
            <a:endParaRPr lang="en-US" sz="1800" dirty="0"/>
          </a:p>
        </p:txBody>
      </p:sp>
      <p:sp>
        <p:nvSpPr>
          <p:cNvPr id="13" name="Content panel 8"/>
          <p:cNvSpPr/>
          <p:nvPr/>
        </p:nvSpPr>
        <p:spPr>
          <a:xfrm>
            <a:off x="5372100" y="5257800"/>
            <a:ext cx="2057400" cy="457200"/>
          </a:xfrm>
          <a:prstGeom prst="roundRect">
            <a:avLst>
              <a:gd name="adj" fmla="val 32000"/>
            </a:avLst>
          </a:prstGeom>
          <a:solidFill>
            <a:schemeClr val="accent1"/>
          </a:solidFill>
          <a:ln w="10160">
            <a:solidFill>
              <a:schemeClr val="accent1"/>
            </a:solidFill>
            <a:prstDash val="solid"/>
          </a:ln>
        </p:spPr>
      </p:sp>
      <p:sp>
        <p:nvSpPr>
          <p:cNvPr id="14" name="Text 9: 03  Kiểm chứng"/>
          <p:cNvSpPr txBox="1"/>
          <p:nvPr/>
        </p:nvSpPr>
        <p:spPr>
          <a:xfrm>
            <a:off x="5372100" y="5257800"/>
            <a:ext cx="20574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03  Kiểm chứng</a:t>
            </a:r>
            <a:endParaRPr lang="en-US" sz="1800" dirty="0"/>
          </a:p>
        </p:txBody>
      </p:sp>
      <p:sp>
        <p:nvSpPr>
          <p:cNvPr id="15" name="Content panel 10"/>
          <p:cNvSpPr/>
          <p:nvPr/>
        </p:nvSpPr>
        <p:spPr>
          <a:xfrm>
            <a:off x="8229600" y="1485900"/>
            <a:ext cx="3429000" cy="1828800"/>
          </a:xfrm>
          <a:prstGeom prst="roundRect">
            <a:avLst>
              <a:gd name="adj" fmla="val 8000"/>
            </a:avLst>
          </a:prstGeom>
          <a:solidFill>
            <a:schemeClr val="accent3"/>
          </a:solidFill>
          <a:ln w="10160">
            <a:solidFill>
              <a:schemeClr val="accent3"/>
            </a:solidFill>
            <a:prstDash val="solid"/>
          </a:ln>
        </p:spPr>
      </p:sp>
      <p:sp>
        <p:nvSpPr>
          <p:cNvPr id="16" name="Text 11: LOCAL"/>
          <p:cNvSpPr txBox="1"/>
          <p:nvPr/>
        </p:nvSpPr>
        <p:spPr>
          <a:xfrm>
            <a:off x="8458200" y="1714500"/>
            <a:ext cx="2971800" cy="342900"/>
          </a:xfrm>
          <a:prstGeom prst="rect">
            <a:avLst/>
          </a:prstGeom>
          <a:noFill/>
          <a:ln/>
        </p:spPr>
        <p:txBody>
          <a:bodyPr wrap="square" lIns="0" tIns="0" rIns="0" bIns="0" rtlCol="0" anchor="t"/>
          <a:lstStyle/>
          <a:p>
            <a:pPr indent="0" marL="0">
              <a:lnSpc>
                <a:spcPct val="106000"/>
              </a:lnSpc>
              <a:buNone/>
            </a:pPr>
            <a:r>
              <a:rPr lang="en-US" sz="1200" b="1" dirty="0">
                <a:solidFill>
                  <a:schemeClr val="accent1"/>
                </a:solidFill>
                <a:latin typeface="+mn-lt" pitchFamily="34" charset="0"/>
                <a:ea typeface="+mn-lt" pitchFamily="34" charset="-122"/>
                <a:cs typeface="+mn-lt" pitchFamily="34" charset="-120"/>
              </a:rPr>
              <a:t>LOCAL</a:t>
            </a:r>
            <a:endParaRPr lang="en-US" sz="1200" dirty="0"/>
          </a:p>
        </p:txBody>
      </p:sp>
      <p:sp>
        <p:nvSpPr>
          <p:cNvPr id="17" name="Text 12: SQLite"/>
          <p:cNvSpPr txBox="1"/>
          <p:nvPr/>
        </p:nvSpPr>
        <p:spPr>
          <a:xfrm>
            <a:off x="8458200" y="2286000"/>
            <a:ext cx="2971800" cy="571500"/>
          </a:xfrm>
          <a:prstGeom prst="rect">
            <a:avLst/>
          </a:prstGeom>
          <a:noFill/>
          <a:ln/>
        </p:spPr>
        <p:txBody>
          <a:bodyPr wrap="square" lIns="0" tIns="0" rIns="0" bIns="0" rtlCol="0" anchor="t"/>
          <a:lstStyle/>
          <a:p>
            <a:pPr indent="0" marL="0">
              <a:lnSpc>
                <a:spcPct val="106000"/>
              </a:lnSpc>
              <a:buNone/>
            </a:pPr>
            <a:r>
              <a:rPr lang="en-US" sz="3200" b="1" dirty="0">
                <a:solidFill>
                  <a:schemeClr val="bg1"/>
                </a:solidFill>
                <a:latin typeface="+mn-lt" pitchFamily="34" charset="0"/>
                <a:ea typeface="+mn-lt" pitchFamily="34" charset="-122"/>
                <a:cs typeface="+mn-lt" pitchFamily="34" charset="-120"/>
              </a:rPr>
              <a:t>SQLite</a:t>
            </a:r>
            <a:endParaRPr lang="en-US" sz="3200" dirty="0"/>
          </a:p>
        </p:txBody>
      </p:sp>
      <p:sp>
        <p:nvSpPr>
          <p:cNvPr id="18" name="Text 13: Offline · độc lập"/>
          <p:cNvSpPr txBox="1"/>
          <p:nvPr/>
        </p:nvSpPr>
        <p:spPr>
          <a:xfrm>
            <a:off x="8458200" y="2857500"/>
            <a:ext cx="2971800" cy="342900"/>
          </a:xfrm>
          <a:prstGeom prst="rect">
            <a:avLst/>
          </a:prstGeom>
          <a:noFill/>
          <a:ln/>
        </p:spPr>
        <p:txBody>
          <a:bodyPr wrap="square" lIns="0" tIns="0" rIns="0" bIns="0" rtlCol="0" anchor="t"/>
          <a:lstStyle/>
          <a:p>
            <a:pPr indent="0" marL="0">
              <a:lnSpc>
                <a:spcPct val="106000"/>
              </a:lnSpc>
              <a:buNone/>
            </a:pPr>
            <a:r>
              <a:rPr lang="en-US" sz="1800" dirty="0">
                <a:solidFill>
                  <a:schemeClr val="accent6"/>
                </a:solidFill>
                <a:latin typeface="+mn-lt" pitchFamily="34" charset="0"/>
                <a:ea typeface="+mn-lt" pitchFamily="34" charset="-122"/>
                <a:cs typeface="+mn-lt" pitchFamily="34" charset="-120"/>
              </a:rPr>
              <a:t>Offline · độc lập</a:t>
            </a:r>
            <a:endParaRPr lang="en-US" sz="1800" dirty="0"/>
          </a:p>
        </p:txBody>
      </p:sp>
      <p:sp>
        <p:nvSpPr>
          <p:cNvPr id="19" name="Content panel 14"/>
          <p:cNvSpPr/>
          <p:nvPr/>
        </p:nvSpPr>
        <p:spPr>
          <a:xfrm>
            <a:off x="8229600" y="3771900"/>
            <a:ext cx="3429000" cy="1828800"/>
          </a:xfrm>
          <a:prstGeom prst="roundRect">
            <a:avLst>
              <a:gd name="adj" fmla="val 8000"/>
            </a:avLst>
          </a:prstGeom>
          <a:solidFill>
            <a:schemeClr val="bg1"/>
          </a:solidFill>
          <a:ln w="10160">
            <a:solidFill>
              <a:schemeClr val="bg1"/>
            </a:solidFill>
            <a:prstDash val="solid"/>
          </a:ln>
        </p:spPr>
      </p:sp>
      <p:sp>
        <p:nvSpPr>
          <p:cNvPr id="20" name="Text 15: CLOUD"/>
          <p:cNvSpPr txBox="1"/>
          <p:nvPr/>
        </p:nvSpPr>
        <p:spPr>
          <a:xfrm>
            <a:off x="8458200" y="4000500"/>
            <a:ext cx="2971800" cy="342900"/>
          </a:xfrm>
          <a:prstGeom prst="rect">
            <a:avLst/>
          </a:prstGeom>
          <a:noFill/>
          <a:ln/>
        </p:spPr>
        <p:txBody>
          <a:bodyPr wrap="square" lIns="0" tIns="0" rIns="0" bIns="0" rtlCol="0" anchor="t"/>
          <a:lstStyle/>
          <a:p>
            <a:pPr indent="0" marL="0">
              <a:lnSpc>
                <a:spcPct val="106000"/>
              </a:lnSpc>
              <a:buNone/>
            </a:pPr>
            <a:r>
              <a:rPr lang="en-US" sz="1200" b="1" dirty="0">
                <a:solidFill>
                  <a:schemeClr val="tx1"/>
                </a:solidFill>
                <a:latin typeface="+mn-lt" pitchFamily="34" charset="0"/>
                <a:ea typeface="+mn-lt" pitchFamily="34" charset="-122"/>
                <a:cs typeface="+mn-lt" pitchFamily="34" charset="-120"/>
              </a:rPr>
              <a:t>CLOUD</a:t>
            </a:r>
            <a:endParaRPr lang="en-US" sz="1200" dirty="0"/>
          </a:p>
        </p:txBody>
      </p:sp>
      <p:sp>
        <p:nvSpPr>
          <p:cNvPr id="21" name="Text 16: Firebase"/>
          <p:cNvSpPr txBox="1"/>
          <p:nvPr/>
        </p:nvSpPr>
        <p:spPr>
          <a:xfrm>
            <a:off x="8458200" y="4572000"/>
            <a:ext cx="2971800" cy="571500"/>
          </a:xfrm>
          <a:prstGeom prst="rect">
            <a:avLst/>
          </a:prstGeom>
          <a:noFill/>
          <a:ln/>
        </p:spPr>
        <p:txBody>
          <a:bodyPr wrap="square" lIns="0" tIns="0" rIns="0" bIns="0" rtlCol="0" anchor="t"/>
          <a:lstStyle/>
          <a:p>
            <a:pPr indent="0" marL="0">
              <a:lnSpc>
                <a:spcPct val="106000"/>
              </a:lnSpc>
              <a:buNone/>
            </a:pPr>
            <a:r>
              <a:rPr lang="en-US" sz="3200" b="1" dirty="0">
                <a:solidFill>
                  <a:schemeClr val="tx1"/>
                </a:solidFill>
                <a:latin typeface="+mn-lt" pitchFamily="34" charset="0"/>
                <a:ea typeface="+mn-lt" pitchFamily="34" charset="-122"/>
                <a:cs typeface="+mn-lt" pitchFamily="34" charset="-120"/>
              </a:rPr>
              <a:t>Firebase</a:t>
            </a:r>
            <a:endParaRPr lang="en-US" sz="3200" dirty="0"/>
          </a:p>
        </p:txBody>
      </p:sp>
      <p:sp>
        <p:nvSpPr>
          <p:cNvPr id="22" name="Text 17: Google · UID · binary"/>
          <p:cNvSpPr txBox="1"/>
          <p:nvPr/>
        </p:nvSpPr>
        <p:spPr>
          <a:xfrm>
            <a:off x="8458200" y="5143500"/>
            <a:ext cx="29718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Google · UID · binary</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Hiện trạng: bốn thành phần cốt lõi</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01 | BÀI TOÁN VÀ QUYẾT ĐỊNH</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Ứng dụng Flutter phân tầng, nghiệp vụ chạy trong tiến trình thiết bị</a:t>
            </a:r>
            <a:endParaRPr lang="en-US" sz="1800" dirty="0"/>
          </a:p>
        </p:txBody>
      </p:sp>
      <p:sp>
        <p:nvSpPr>
          <p:cNvPr id="6" name="Content panel 18"/>
          <p:cNvSpPr/>
          <p:nvPr/>
        </p:nvSpPr>
        <p:spPr>
          <a:xfrm>
            <a:off x="571500" y="2171700"/>
            <a:ext cx="5372100" cy="1600200"/>
          </a:xfrm>
          <a:prstGeom prst="roundRect">
            <a:avLst>
              <a:gd name="adj" fmla="val 9143"/>
            </a:avLst>
          </a:prstGeom>
          <a:solidFill>
            <a:schemeClr val="bg2"/>
          </a:solidFill>
          <a:ln w="10160">
            <a:solidFill>
              <a:schemeClr val="bg2"/>
            </a:solidFill>
            <a:prstDash val="solid"/>
          </a:ln>
        </p:spPr>
      </p:sp>
      <p:sp>
        <p:nvSpPr>
          <p:cNvPr id="7" name="Text 19: 01 | Frontend"/>
          <p:cNvSpPr txBox="1"/>
          <p:nvPr/>
        </p:nvSpPr>
        <p:spPr>
          <a:xfrm>
            <a:off x="800100" y="2400300"/>
            <a:ext cx="49149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01 | Frontend</a:t>
            </a:r>
            <a:endParaRPr lang="en-US" sz="2200" dirty="0"/>
          </a:p>
        </p:txBody>
      </p:sp>
      <p:sp>
        <p:nvSpPr>
          <p:cNvPr id="8" name="Text 20: Flutter Pages + Widgets Danh sách, biểu mẫu, chi tiết, môn học"/>
          <p:cNvSpPr txBox="1"/>
          <p:nvPr/>
        </p:nvSpPr>
        <p:spPr>
          <a:xfrm>
            <a:off x="800100" y="3086100"/>
            <a:ext cx="49149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Flutter Pages + Widgets</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Danh sách, biểu mẫu, chi tiết, môn học</a:t>
            </a:r>
            <a:endParaRPr lang="en-US" sz="1800" dirty="0"/>
          </a:p>
        </p:txBody>
      </p:sp>
      <p:sp>
        <p:nvSpPr>
          <p:cNvPr id="9" name="Content panel 21"/>
          <p:cNvSpPr/>
          <p:nvPr/>
        </p:nvSpPr>
        <p:spPr>
          <a:xfrm>
            <a:off x="6286500" y="2171700"/>
            <a:ext cx="5372100" cy="1600200"/>
          </a:xfrm>
          <a:prstGeom prst="roundRect">
            <a:avLst>
              <a:gd name="adj" fmla="val 9143"/>
            </a:avLst>
          </a:prstGeom>
          <a:solidFill>
            <a:schemeClr val="bg2"/>
          </a:solidFill>
          <a:ln w="10160">
            <a:solidFill>
              <a:schemeClr val="bg2"/>
            </a:solidFill>
            <a:prstDash val="solid"/>
          </a:ln>
        </p:spPr>
      </p:sp>
      <p:sp>
        <p:nvSpPr>
          <p:cNvPr id="10" name="Text 22: 02 | Logic ứng dụng"/>
          <p:cNvSpPr txBox="1"/>
          <p:nvPr/>
        </p:nvSpPr>
        <p:spPr>
          <a:xfrm>
            <a:off x="6515100" y="2400300"/>
            <a:ext cx="49149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02 | Logic ứng dụng</a:t>
            </a:r>
            <a:endParaRPr lang="en-US" sz="2200" dirty="0"/>
          </a:p>
        </p:txBody>
      </p:sp>
      <p:sp>
        <p:nvSpPr>
          <p:cNvPr id="11" name="Text 23: DocumentService + DatabaseGlobal Validation, thống kê, lời gọi tr"/>
          <p:cNvSpPr txBox="1"/>
          <p:nvPr/>
        </p:nvSpPr>
        <p:spPr>
          <a:xfrm>
            <a:off x="6515100" y="3086100"/>
            <a:ext cx="49149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DocumentService + DatabaseGlobal</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Validation, thống kê, lời gọi trực tiếp</a:t>
            </a:r>
            <a:endParaRPr lang="en-US" sz="1800" dirty="0"/>
          </a:p>
        </p:txBody>
      </p:sp>
      <p:sp>
        <p:nvSpPr>
          <p:cNvPr id="12" name="Content panel 24"/>
          <p:cNvSpPr/>
          <p:nvPr/>
        </p:nvSpPr>
        <p:spPr>
          <a:xfrm>
            <a:off x="571500" y="4114800"/>
            <a:ext cx="5372100" cy="1600200"/>
          </a:xfrm>
          <a:prstGeom prst="roundRect">
            <a:avLst>
              <a:gd name="adj" fmla="val 9143"/>
            </a:avLst>
          </a:prstGeom>
          <a:solidFill>
            <a:schemeClr val="bg2"/>
          </a:solidFill>
          <a:ln w="10160">
            <a:solidFill>
              <a:schemeClr val="bg2"/>
            </a:solidFill>
            <a:prstDash val="solid"/>
          </a:ln>
        </p:spPr>
      </p:sp>
      <p:sp>
        <p:nvSpPr>
          <p:cNvPr id="13" name="Text 25: 03 | Database"/>
          <p:cNvSpPr txBox="1"/>
          <p:nvPr/>
        </p:nvSpPr>
        <p:spPr>
          <a:xfrm>
            <a:off x="800100" y="4343400"/>
            <a:ext cx="49149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03 | Database</a:t>
            </a:r>
            <a:endParaRPr lang="en-US" sz="2200" dirty="0"/>
          </a:p>
        </p:txBody>
      </p:sp>
      <p:sp>
        <p:nvSpPr>
          <p:cNvPr id="14" name="Text 26: SQLite: subjects và documents Metadata, ghi chú, deadline, trạng "/>
          <p:cNvSpPr txBox="1"/>
          <p:nvPr/>
        </p:nvSpPr>
        <p:spPr>
          <a:xfrm>
            <a:off x="800100" y="5029200"/>
            <a:ext cx="49149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SQLite: subjects và documents</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Metadata, ghi chú, deadline, trạng thái</a:t>
            </a:r>
            <a:endParaRPr lang="en-US" sz="1800" dirty="0"/>
          </a:p>
        </p:txBody>
      </p:sp>
      <p:sp>
        <p:nvSpPr>
          <p:cNvPr id="15" name="Content panel 27"/>
          <p:cNvSpPr/>
          <p:nvPr/>
        </p:nvSpPr>
        <p:spPr>
          <a:xfrm>
            <a:off x="6286500" y="4114800"/>
            <a:ext cx="5372100" cy="1600200"/>
          </a:xfrm>
          <a:prstGeom prst="roundRect">
            <a:avLst>
              <a:gd name="adj" fmla="val 9143"/>
            </a:avLst>
          </a:prstGeom>
          <a:solidFill>
            <a:schemeClr val="bg2"/>
          </a:solidFill>
          <a:ln w="10160">
            <a:solidFill>
              <a:schemeClr val="bg2"/>
            </a:solidFill>
            <a:prstDash val="solid"/>
          </a:ln>
        </p:spPr>
      </p:sp>
      <p:sp>
        <p:nvSpPr>
          <p:cNvPr id="16" name="Text 28: 04 | File / liên kết"/>
          <p:cNvSpPr txBox="1"/>
          <p:nvPr/>
        </p:nvSpPr>
        <p:spPr>
          <a:xfrm>
            <a:off x="6515100" y="4343400"/>
            <a:ext cx="49149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04 | File / liên kết</a:t>
            </a:r>
            <a:endParaRPr lang="en-US" sz="2200" dirty="0"/>
          </a:p>
        </p:txBody>
      </p:sp>
      <p:sp>
        <p:nvSpPr>
          <p:cNvPr id="17" name="Text 29: fileUrl là đường dẫn hoặc URL Chưa có kho binary do ứng dụng quản"/>
          <p:cNvSpPr txBox="1"/>
          <p:nvPr/>
        </p:nvSpPr>
        <p:spPr>
          <a:xfrm>
            <a:off x="6515100" y="5029200"/>
            <a:ext cx="49149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fileUrl là đường dẫn hoặc URL</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Chưa có kho binary do ứng dụng quản lý</a:t>
            </a:r>
            <a:endParaRPr lang="en-US" sz="1800" dirty="0"/>
          </a:p>
        </p:txBody>
      </p:sp>
      <p:sp>
        <p:nvSpPr>
          <p:cNvPr id="18" name="Text 30: SQLite lưu metadata, không lưu nội dung tệp trong BLOB."/>
          <p:cNvSpPr txBox="1"/>
          <p:nvPr/>
        </p:nvSpPr>
        <p:spPr>
          <a:xfrm>
            <a:off x="571500" y="5829300"/>
            <a:ext cx="11087100" cy="342900"/>
          </a:xfrm>
          <a:prstGeom prst="rect">
            <a:avLst/>
          </a:prstGeom>
          <a:noFill/>
          <a:ln/>
        </p:spPr>
        <p:txBody>
          <a:bodyPr wrap="square" lIns="0" tIns="0" rIns="0" bIns="0" rtlCol="0" anchor="t"/>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SQLite lưu metadata, không lưu nội dung tệp trong BLOB.</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Điểm nghẽn của mô hình cục bộ</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01 | BÀI TOÁN VÀ QUYẾT ĐỊNH</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Ưu tiên kho tài liệu từ xa theo tài khoản, không phóng đại tốc độ hay quy mô</a:t>
            </a:r>
            <a:endParaRPr lang="en-US" sz="1800" dirty="0"/>
          </a:p>
        </p:txBody>
      </p:sp>
      <p:sp>
        <p:nvSpPr>
          <p:cNvPr id="6" name="Content panel 31"/>
          <p:cNvSpPr/>
          <p:nvPr/>
        </p:nvSpPr>
        <p:spPr>
          <a:xfrm>
            <a:off x="571500" y="2171700"/>
            <a:ext cx="5943600" cy="1028700"/>
          </a:xfrm>
          <a:prstGeom prst="roundRect">
            <a:avLst>
              <a:gd name="adj" fmla="val 14222"/>
            </a:avLst>
          </a:prstGeom>
          <a:solidFill>
            <a:schemeClr val="bg2"/>
          </a:solidFill>
          <a:ln w="10160">
            <a:solidFill>
              <a:schemeClr val="bg2"/>
            </a:solidFill>
            <a:prstDash val="solid"/>
          </a:ln>
        </p:spPr>
      </p:sp>
      <p:sp>
        <p:nvSpPr>
          <p:cNvPr id="7" name="Step 1"/>
          <p:cNvSpPr/>
          <p:nvPr/>
        </p:nvSpPr>
        <p:spPr>
          <a:xfrm>
            <a:off x="800100" y="2400300"/>
            <a:ext cx="457200" cy="457200"/>
          </a:xfrm>
          <a:prstGeom prst="ellipse">
            <a:avLst/>
          </a:prstGeom>
          <a:solidFill>
            <a:schemeClr val="tx1"/>
          </a:solidFill>
          <a:ln w="10160">
            <a:solidFill>
              <a:schemeClr val="tx1"/>
            </a:solidFill>
            <a:prstDash val="solid"/>
          </a:ln>
        </p:spPr>
      </p:sp>
      <p:sp>
        <p:nvSpPr>
          <p:cNvPr id="8" name="Text 32: 1"/>
          <p:cNvSpPr txBox="1"/>
          <p:nvPr/>
        </p:nvSpPr>
        <p:spPr>
          <a:xfrm>
            <a:off x="800100" y="24003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1</a:t>
            </a:r>
            <a:endParaRPr lang="en-US" sz="1800" dirty="0"/>
          </a:p>
        </p:txBody>
      </p:sp>
      <p:sp>
        <p:nvSpPr>
          <p:cNvPr id="9" name="Text 33: Dữ liệu gắn với thiết bị"/>
          <p:cNvSpPr txBox="1"/>
          <p:nvPr/>
        </p:nvSpPr>
        <p:spPr>
          <a:xfrm>
            <a:off x="1485900" y="2286000"/>
            <a:ext cx="4800600" cy="3429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Dữ liệu gắn với thiết bị</a:t>
            </a:r>
            <a:endParaRPr lang="en-US" sz="2200" dirty="0"/>
          </a:p>
        </p:txBody>
      </p:sp>
      <p:sp>
        <p:nvSpPr>
          <p:cNvPr id="10" name="Text 34: Không có kho từ xa theo tài khoản."/>
          <p:cNvSpPr txBox="1"/>
          <p:nvPr/>
        </p:nvSpPr>
        <p:spPr>
          <a:xfrm>
            <a:off x="1485900" y="2743200"/>
            <a:ext cx="48006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Không có kho từ xa theo tài khoản.</a:t>
            </a:r>
            <a:endParaRPr lang="en-US" sz="1800" dirty="0"/>
          </a:p>
        </p:txBody>
      </p:sp>
      <p:sp>
        <p:nvSpPr>
          <p:cNvPr id="11" name="Content panel 35"/>
          <p:cNvSpPr/>
          <p:nvPr/>
        </p:nvSpPr>
        <p:spPr>
          <a:xfrm>
            <a:off x="571500" y="3429000"/>
            <a:ext cx="5943600" cy="1028700"/>
          </a:xfrm>
          <a:prstGeom prst="roundRect">
            <a:avLst>
              <a:gd name="adj" fmla="val 14222"/>
            </a:avLst>
          </a:prstGeom>
          <a:solidFill>
            <a:schemeClr val="bg2"/>
          </a:solidFill>
          <a:ln w="10160">
            <a:solidFill>
              <a:schemeClr val="bg2"/>
            </a:solidFill>
            <a:prstDash val="solid"/>
          </a:ln>
        </p:spPr>
      </p:sp>
      <p:sp>
        <p:nvSpPr>
          <p:cNvPr id="12" name="Step 2"/>
          <p:cNvSpPr/>
          <p:nvPr/>
        </p:nvSpPr>
        <p:spPr>
          <a:xfrm>
            <a:off x="800100" y="3657600"/>
            <a:ext cx="457200" cy="457200"/>
          </a:xfrm>
          <a:prstGeom prst="ellipse">
            <a:avLst/>
          </a:prstGeom>
          <a:solidFill>
            <a:schemeClr val="tx1"/>
          </a:solidFill>
          <a:ln w="10160">
            <a:solidFill>
              <a:schemeClr val="tx1"/>
            </a:solidFill>
            <a:prstDash val="solid"/>
          </a:ln>
        </p:spPr>
      </p:sp>
      <p:sp>
        <p:nvSpPr>
          <p:cNvPr id="13" name="Text 36: 2"/>
          <p:cNvSpPr txBox="1"/>
          <p:nvPr/>
        </p:nvSpPr>
        <p:spPr>
          <a:xfrm>
            <a:off x="800100" y="36576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2</a:t>
            </a:r>
            <a:endParaRPr lang="en-US" sz="1800" dirty="0"/>
          </a:p>
        </p:txBody>
      </p:sp>
      <p:sp>
        <p:nvSpPr>
          <p:cNvPr id="14" name="Text 37: Đường dẫn dễ mất hiệu lực"/>
          <p:cNvSpPr txBox="1"/>
          <p:nvPr/>
        </p:nvSpPr>
        <p:spPr>
          <a:xfrm>
            <a:off x="1485900" y="3543300"/>
            <a:ext cx="4800600" cy="3429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Đường dẫn dễ mất hiệu lực</a:t>
            </a:r>
            <a:endParaRPr lang="en-US" sz="2200" dirty="0"/>
          </a:p>
        </p:txBody>
      </p:sp>
      <p:sp>
        <p:nvSpPr>
          <p:cNvPr id="15" name="Text 38: Máy khác không có cùng fileUrl cục bộ."/>
          <p:cNvSpPr txBox="1"/>
          <p:nvPr/>
        </p:nvSpPr>
        <p:spPr>
          <a:xfrm>
            <a:off x="1485900" y="4000500"/>
            <a:ext cx="48006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Máy khác không có cùng fileUrl cục bộ.</a:t>
            </a:r>
            <a:endParaRPr lang="en-US" sz="1800" dirty="0"/>
          </a:p>
        </p:txBody>
      </p:sp>
      <p:sp>
        <p:nvSpPr>
          <p:cNvPr id="16" name="Content panel 39"/>
          <p:cNvSpPr/>
          <p:nvPr/>
        </p:nvSpPr>
        <p:spPr>
          <a:xfrm>
            <a:off x="571500" y="4686300"/>
            <a:ext cx="5943600" cy="1028700"/>
          </a:xfrm>
          <a:prstGeom prst="roundRect">
            <a:avLst>
              <a:gd name="adj" fmla="val 14222"/>
            </a:avLst>
          </a:prstGeom>
          <a:solidFill>
            <a:schemeClr val="bg2"/>
          </a:solidFill>
          <a:ln w="10160">
            <a:solidFill>
              <a:schemeClr val="bg2"/>
            </a:solidFill>
            <a:prstDash val="solid"/>
          </a:ln>
        </p:spPr>
      </p:sp>
      <p:sp>
        <p:nvSpPr>
          <p:cNvPr id="17" name="Step 3"/>
          <p:cNvSpPr/>
          <p:nvPr/>
        </p:nvSpPr>
        <p:spPr>
          <a:xfrm>
            <a:off x="800100" y="4914900"/>
            <a:ext cx="457200" cy="457200"/>
          </a:xfrm>
          <a:prstGeom prst="ellipse">
            <a:avLst/>
          </a:prstGeom>
          <a:solidFill>
            <a:schemeClr val="tx1"/>
          </a:solidFill>
          <a:ln w="10160">
            <a:solidFill>
              <a:schemeClr val="tx1"/>
            </a:solidFill>
            <a:prstDash val="solid"/>
          </a:ln>
        </p:spPr>
      </p:sp>
      <p:sp>
        <p:nvSpPr>
          <p:cNvPr id="18" name="Text 40: 3"/>
          <p:cNvSpPr txBox="1"/>
          <p:nvPr/>
        </p:nvSpPr>
        <p:spPr>
          <a:xfrm>
            <a:off x="800100" y="49149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3</a:t>
            </a:r>
            <a:endParaRPr lang="en-US" sz="1800" dirty="0"/>
          </a:p>
        </p:txBody>
      </p:sp>
      <p:sp>
        <p:nvSpPr>
          <p:cNvPr id="19" name="Text 41: Metadata không phải tệp thật"/>
          <p:cNvSpPr txBox="1"/>
          <p:nvPr/>
        </p:nvSpPr>
        <p:spPr>
          <a:xfrm>
            <a:off x="1485900" y="4800600"/>
            <a:ext cx="4800600" cy="3429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Metadata không phải tệp thật</a:t>
            </a:r>
            <a:endParaRPr lang="en-US" sz="2200" dirty="0"/>
          </a:p>
        </p:txBody>
      </p:sp>
      <p:sp>
        <p:nvSpPr>
          <p:cNvPr id="20" name="Text 42: Chưa có cơ chế backup / versioning."/>
          <p:cNvSpPr txBox="1"/>
          <p:nvPr/>
        </p:nvSpPr>
        <p:spPr>
          <a:xfrm>
            <a:off x="1485900" y="5257800"/>
            <a:ext cx="48006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Chưa có cơ chế backup / versioning.</a:t>
            </a:r>
            <a:endParaRPr lang="en-US" sz="1800" dirty="0"/>
          </a:p>
        </p:txBody>
      </p:sp>
      <p:sp>
        <p:nvSpPr>
          <p:cNvPr id="21" name="Content panel 43"/>
          <p:cNvSpPr/>
          <p:nvPr/>
        </p:nvSpPr>
        <p:spPr>
          <a:xfrm>
            <a:off x="6972300" y="2171700"/>
            <a:ext cx="4686300" cy="3543300"/>
          </a:xfrm>
          <a:prstGeom prst="roundRect">
            <a:avLst>
              <a:gd name="adj" fmla="val 4129"/>
            </a:avLst>
          </a:prstGeom>
          <a:solidFill>
            <a:schemeClr val="tx1"/>
          </a:solidFill>
          <a:ln w="10160">
            <a:solidFill>
              <a:schemeClr val="tx1"/>
            </a:solidFill>
            <a:prstDash val="solid"/>
          </a:ln>
        </p:spPr>
      </p:sp>
      <p:sp>
        <p:nvSpPr>
          <p:cNvPr id="22" name="Content panel 44"/>
          <p:cNvSpPr/>
          <p:nvPr/>
        </p:nvSpPr>
        <p:spPr>
          <a:xfrm>
            <a:off x="7429500" y="2514600"/>
            <a:ext cx="3771900" cy="1143000"/>
          </a:xfrm>
          <a:prstGeom prst="roundRect">
            <a:avLst>
              <a:gd name="adj" fmla="val 12800"/>
            </a:avLst>
          </a:prstGeom>
          <a:solidFill>
            <a:schemeClr val="bg1"/>
          </a:solidFill>
          <a:ln w="10160">
            <a:solidFill>
              <a:schemeClr val="accent6"/>
            </a:solidFill>
            <a:prstDash val="solid"/>
          </a:ln>
        </p:spPr>
      </p:sp>
      <p:sp>
        <p:nvSpPr>
          <p:cNvPr id="23" name="Text 45: Thiết bị 1"/>
          <p:cNvSpPr txBox="1"/>
          <p:nvPr/>
        </p:nvSpPr>
        <p:spPr>
          <a:xfrm>
            <a:off x="7543800" y="2628900"/>
            <a:ext cx="3543300" cy="457200"/>
          </a:xfrm>
          <a:prstGeom prst="rect">
            <a:avLst/>
          </a:prstGeom>
          <a:noFill/>
          <a:ln/>
        </p:spPr>
        <p:txBody>
          <a:bodyPr wrap="square" lIns="0" tIns="0" rIns="0" bIns="0" rtlCol="0" anchor="ctr"/>
          <a:lstStyle/>
          <a:p>
            <a:pPr algn="ctr" indent="0" marL="0">
              <a:lnSpc>
                <a:spcPct val="106000"/>
              </a:lnSpc>
              <a:buNone/>
            </a:pPr>
            <a:r>
              <a:rPr lang="en-US" sz="2200" b="1" dirty="0">
                <a:solidFill>
                  <a:schemeClr val="tx1"/>
                </a:solidFill>
                <a:latin typeface="+mn-lt" pitchFamily="34" charset="0"/>
                <a:ea typeface="+mn-lt" pitchFamily="34" charset="-122"/>
                <a:cs typeface="+mn-lt" pitchFamily="34" charset="-120"/>
              </a:rPr>
              <a:t>Thiết bị 1</a:t>
            </a:r>
            <a:endParaRPr lang="en-US" sz="2200" dirty="0"/>
          </a:p>
        </p:txBody>
      </p:sp>
      <p:sp>
        <p:nvSpPr>
          <p:cNvPr id="24" name="Text 46: Metadata + đường dẫn local"/>
          <p:cNvSpPr txBox="1"/>
          <p:nvPr/>
        </p:nvSpPr>
        <p:spPr>
          <a:xfrm>
            <a:off x="7543800" y="3086100"/>
            <a:ext cx="3543300" cy="457200"/>
          </a:xfrm>
          <a:prstGeom prst="rect">
            <a:avLst/>
          </a:prstGeom>
          <a:noFill/>
          <a:ln/>
        </p:spPr>
        <p:txBody>
          <a:bodyPr wrap="square" lIns="0" tIns="0" rIns="0" bIns="0" rtlCol="0" anchor="ctr"/>
          <a:lstStyle/>
          <a:p>
            <a:pPr algn="ctr" indent="0" marL="0">
              <a:lnSpc>
                <a:spcPct val="106000"/>
              </a:lnSpc>
              <a:buNone/>
            </a:pPr>
            <a:r>
              <a:rPr lang="en-US" sz="1800" dirty="0">
                <a:solidFill>
                  <a:schemeClr val="tx2"/>
                </a:solidFill>
                <a:latin typeface="+mn-lt" pitchFamily="34" charset="0"/>
                <a:ea typeface="+mn-lt" pitchFamily="34" charset="-122"/>
                <a:cs typeface="+mn-lt" pitchFamily="34" charset="-120"/>
              </a:rPr>
              <a:t>Metadata + đường dẫn local</a:t>
            </a:r>
            <a:endParaRPr lang="en-US" sz="1800" dirty="0"/>
          </a:p>
        </p:txBody>
      </p:sp>
      <p:sp>
        <p:nvSpPr>
          <p:cNvPr id="25" name="Text 47: Chưa có kho tài khoản chung"/>
          <p:cNvSpPr txBox="1"/>
          <p:nvPr/>
        </p:nvSpPr>
        <p:spPr>
          <a:xfrm>
            <a:off x="7315200" y="3886200"/>
            <a:ext cx="4000500" cy="457200"/>
          </a:xfrm>
          <a:prstGeom prst="rect">
            <a:avLst/>
          </a:prstGeom>
          <a:noFill/>
          <a:ln/>
        </p:spPr>
        <p:txBody>
          <a:bodyPr wrap="square" lIns="0" tIns="0" rIns="0" bIns="0" rtlCol="0" anchor="ctr"/>
          <a:lstStyle/>
          <a:p>
            <a:pPr algn="ctr" indent="0" marL="0">
              <a:lnSpc>
                <a:spcPct val="106000"/>
              </a:lnSpc>
              <a:buNone/>
            </a:pPr>
            <a:r>
              <a:rPr lang="en-US" sz="1800" dirty="0">
                <a:solidFill>
                  <a:schemeClr val="accent1"/>
                </a:solidFill>
                <a:latin typeface="+mn-lt" pitchFamily="34" charset="0"/>
                <a:ea typeface="+mn-lt" pitchFamily="34" charset="-122"/>
                <a:cs typeface="+mn-lt" pitchFamily="34" charset="-120"/>
              </a:rPr>
              <a:t>Chưa có kho tài khoản chung</a:t>
            </a:r>
            <a:endParaRPr lang="en-US" sz="1800" dirty="0"/>
          </a:p>
        </p:txBody>
      </p:sp>
      <p:sp>
        <p:nvSpPr>
          <p:cNvPr id="26" name="Content panel 48"/>
          <p:cNvSpPr/>
          <p:nvPr/>
        </p:nvSpPr>
        <p:spPr>
          <a:xfrm>
            <a:off x="7429500" y="4572000"/>
            <a:ext cx="3771900" cy="914400"/>
          </a:xfrm>
          <a:prstGeom prst="roundRect">
            <a:avLst>
              <a:gd name="adj" fmla="val 16000"/>
            </a:avLst>
          </a:prstGeom>
          <a:solidFill>
            <a:schemeClr val="bg1"/>
          </a:solidFill>
          <a:ln w="10160">
            <a:solidFill>
              <a:schemeClr val="accent6"/>
            </a:solidFill>
            <a:prstDash val="solid"/>
          </a:ln>
        </p:spPr>
      </p:sp>
      <p:sp>
        <p:nvSpPr>
          <p:cNvPr id="27" name="Text 49: Thiết bị 2"/>
          <p:cNvSpPr txBox="1"/>
          <p:nvPr/>
        </p:nvSpPr>
        <p:spPr>
          <a:xfrm>
            <a:off x="7543800" y="4686300"/>
            <a:ext cx="3543300" cy="457200"/>
          </a:xfrm>
          <a:prstGeom prst="rect">
            <a:avLst/>
          </a:prstGeom>
          <a:noFill/>
          <a:ln/>
        </p:spPr>
        <p:txBody>
          <a:bodyPr wrap="square" lIns="0" tIns="0" rIns="0" bIns="0" rtlCol="0" anchor="ctr"/>
          <a:lstStyle/>
          <a:p>
            <a:pPr algn="ctr" indent="0" marL="0">
              <a:lnSpc>
                <a:spcPct val="106000"/>
              </a:lnSpc>
              <a:buNone/>
            </a:pPr>
            <a:r>
              <a:rPr lang="en-US" sz="2200" b="1" dirty="0">
                <a:solidFill>
                  <a:schemeClr val="tx1"/>
                </a:solidFill>
                <a:latin typeface="+mn-lt" pitchFamily="34" charset="0"/>
                <a:ea typeface="+mn-lt" pitchFamily="34" charset="-122"/>
                <a:cs typeface="+mn-lt" pitchFamily="34" charset="-120"/>
              </a:rPr>
              <a:t>Thiết bị 2</a:t>
            </a:r>
            <a:endParaRPr lang="en-US" sz="2200" dirty="0"/>
          </a:p>
        </p:txBody>
      </p:sp>
      <p:sp>
        <p:nvSpPr>
          <p:cNvPr id="28" name="Text 50: Dữ liệu local độc lập"/>
          <p:cNvSpPr txBox="1"/>
          <p:nvPr/>
        </p:nvSpPr>
        <p:spPr>
          <a:xfrm>
            <a:off x="7543800" y="5143500"/>
            <a:ext cx="3543300" cy="228600"/>
          </a:xfrm>
          <a:prstGeom prst="rect">
            <a:avLst/>
          </a:prstGeom>
          <a:noFill/>
          <a:ln/>
        </p:spPr>
        <p:txBody>
          <a:bodyPr wrap="square" lIns="0" tIns="0" rIns="0" bIns="0" rtlCol="0" anchor="ctr"/>
          <a:lstStyle/>
          <a:p>
            <a:pPr algn="ctr" indent="0" marL="0">
              <a:lnSpc>
                <a:spcPct val="106000"/>
              </a:lnSpc>
              <a:buNone/>
            </a:pPr>
            <a:r>
              <a:rPr lang="en-US" sz="1800" dirty="0">
                <a:solidFill>
                  <a:schemeClr val="tx2"/>
                </a:solidFill>
                <a:latin typeface="+mn-lt" pitchFamily="34" charset="0"/>
                <a:ea typeface="+mn-lt" pitchFamily="34" charset="-122"/>
                <a:cs typeface="+mn-lt" pitchFamily="34" charset="-120"/>
              </a:rPr>
              <a:t>Dữ liệu local độc lập</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Trước và sau: thay đổi có giới hạn</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01 | BÀI TOÁN VÀ QUYẾT ĐỊNH</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Sau tích hợp = giữ Local + thêm thư viện Firebase riêng tư, không phải chuyển đổi toàn bộ</a:t>
            </a:r>
            <a:endParaRPr lang="en-US" sz="1800" dirty="0"/>
          </a:p>
        </p:txBody>
      </p:sp>
      <p:sp>
        <p:nvSpPr>
          <p:cNvPr id="6" name="Content panel 51"/>
          <p:cNvSpPr/>
          <p:nvPr/>
        </p:nvSpPr>
        <p:spPr>
          <a:xfrm>
            <a:off x="571500" y="2171700"/>
            <a:ext cx="2514600" cy="571500"/>
          </a:xfrm>
          <a:prstGeom prst="roundRect">
            <a:avLst>
              <a:gd name="adj" fmla="val 25600"/>
            </a:avLst>
          </a:prstGeom>
          <a:solidFill>
            <a:schemeClr val="tx1"/>
          </a:solidFill>
          <a:ln w="10160">
            <a:solidFill>
              <a:schemeClr val="tx1"/>
            </a:solidFill>
            <a:prstDash val="solid"/>
          </a:ln>
        </p:spPr>
      </p:sp>
      <p:sp>
        <p:nvSpPr>
          <p:cNvPr id="7" name="Text 52: Khía cạnh"/>
          <p:cNvSpPr txBox="1"/>
          <p:nvPr/>
        </p:nvSpPr>
        <p:spPr>
          <a:xfrm>
            <a:off x="685800" y="2286000"/>
            <a:ext cx="2286000" cy="342900"/>
          </a:xfrm>
          <a:prstGeom prst="rect">
            <a:avLst/>
          </a:prstGeom>
          <a:noFill/>
          <a:ln/>
        </p:spPr>
        <p:txBody>
          <a:bodyPr wrap="square" lIns="0" tIns="0" rIns="0" bIns="0" rtlCol="0" anchor="ctr"/>
          <a:lstStyle/>
          <a:p>
            <a:pPr indent="0" marL="0">
              <a:lnSpc>
                <a:spcPct val="106000"/>
              </a:lnSpc>
              <a:buNone/>
            </a:pPr>
            <a:r>
              <a:rPr lang="en-US" sz="2000" b="1" dirty="0">
                <a:solidFill>
                  <a:schemeClr val="bg1"/>
                </a:solidFill>
                <a:latin typeface="+mn-lt" pitchFamily="34" charset="0"/>
                <a:ea typeface="+mn-lt" pitchFamily="34" charset="-122"/>
                <a:cs typeface="+mn-lt" pitchFamily="34" charset="-120"/>
              </a:rPr>
              <a:t>Khía cạnh</a:t>
            </a:r>
            <a:endParaRPr lang="en-US" sz="2000" dirty="0"/>
          </a:p>
        </p:txBody>
      </p:sp>
      <p:sp>
        <p:nvSpPr>
          <p:cNvPr id="8" name="Content panel 53"/>
          <p:cNvSpPr/>
          <p:nvPr/>
        </p:nvSpPr>
        <p:spPr>
          <a:xfrm>
            <a:off x="3086100" y="2171700"/>
            <a:ext cx="3886200" cy="571500"/>
          </a:xfrm>
          <a:prstGeom prst="roundRect">
            <a:avLst>
              <a:gd name="adj" fmla="val 25600"/>
            </a:avLst>
          </a:prstGeom>
          <a:solidFill>
            <a:schemeClr val="tx1"/>
          </a:solidFill>
          <a:ln w="10160">
            <a:solidFill>
              <a:schemeClr val="tx1"/>
            </a:solidFill>
            <a:prstDash val="solid"/>
          </a:ln>
        </p:spPr>
      </p:sp>
      <p:sp>
        <p:nvSpPr>
          <p:cNvPr id="9" name="Text 54: Truyền thống / cục bộ"/>
          <p:cNvSpPr txBox="1"/>
          <p:nvPr/>
        </p:nvSpPr>
        <p:spPr>
          <a:xfrm>
            <a:off x="3200400" y="2286000"/>
            <a:ext cx="3657600" cy="342900"/>
          </a:xfrm>
          <a:prstGeom prst="rect">
            <a:avLst/>
          </a:prstGeom>
          <a:noFill/>
          <a:ln/>
        </p:spPr>
        <p:txBody>
          <a:bodyPr wrap="square" lIns="0" tIns="0" rIns="0" bIns="0" rtlCol="0" anchor="ctr"/>
          <a:lstStyle/>
          <a:p>
            <a:pPr indent="0" marL="0">
              <a:lnSpc>
                <a:spcPct val="106000"/>
              </a:lnSpc>
              <a:buNone/>
            </a:pPr>
            <a:r>
              <a:rPr lang="en-US" sz="2000" b="1" dirty="0">
                <a:solidFill>
                  <a:schemeClr val="bg1"/>
                </a:solidFill>
                <a:latin typeface="+mn-lt" pitchFamily="34" charset="0"/>
                <a:ea typeface="+mn-lt" pitchFamily="34" charset="-122"/>
                <a:cs typeface="+mn-lt" pitchFamily="34" charset="-120"/>
              </a:rPr>
              <a:t>Truyền thống / cục bộ</a:t>
            </a:r>
            <a:endParaRPr lang="en-US" sz="2000" dirty="0"/>
          </a:p>
        </p:txBody>
      </p:sp>
      <p:sp>
        <p:nvSpPr>
          <p:cNvPr id="10" name="Content panel 55"/>
          <p:cNvSpPr/>
          <p:nvPr/>
        </p:nvSpPr>
        <p:spPr>
          <a:xfrm>
            <a:off x="6972300" y="2171700"/>
            <a:ext cx="4686300" cy="571500"/>
          </a:xfrm>
          <a:prstGeom prst="roundRect">
            <a:avLst>
              <a:gd name="adj" fmla="val 25600"/>
            </a:avLst>
          </a:prstGeom>
          <a:solidFill>
            <a:schemeClr val="accent1"/>
          </a:solidFill>
          <a:ln w="10160">
            <a:solidFill>
              <a:schemeClr val="accent1"/>
            </a:solidFill>
            <a:prstDash val="solid"/>
          </a:ln>
        </p:spPr>
      </p:sp>
      <p:sp>
        <p:nvSpPr>
          <p:cNvPr id="11" name="Text 56: Sau tích hợp Firebase"/>
          <p:cNvSpPr txBox="1"/>
          <p:nvPr/>
        </p:nvSpPr>
        <p:spPr>
          <a:xfrm>
            <a:off x="7086600" y="2286000"/>
            <a:ext cx="4457700" cy="342900"/>
          </a:xfrm>
          <a:prstGeom prst="rect">
            <a:avLst/>
          </a:prstGeom>
          <a:noFill/>
          <a:ln/>
        </p:spPr>
        <p:txBody>
          <a:bodyPr wrap="square" lIns="0" tIns="0" rIns="0" bIns="0" rtlCol="0" anchor="ctr"/>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Sau tích hợp Firebase</a:t>
            </a:r>
            <a:endParaRPr lang="en-US" sz="2000" dirty="0"/>
          </a:p>
        </p:txBody>
      </p:sp>
      <p:sp>
        <p:nvSpPr>
          <p:cNvPr id="12" name="Content panel 57"/>
          <p:cNvSpPr/>
          <p:nvPr/>
        </p:nvSpPr>
        <p:spPr>
          <a:xfrm>
            <a:off x="571500" y="2857500"/>
            <a:ext cx="2514600" cy="628650"/>
          </a:xfrm>
          <a:prstGeom prst="roundRect">
            <a:avLst>
              <a:gd name="adj" fmla="val 23273"/>
            </a:avLst>
          </a:prstGeom>
          <a:solidFill>
            <a:schemeClr val="bg2"/>
          </a:solidFill>
          <a:ln w="10160">
            <a:solidFill>
              <a:schemeClr val="accent6"/>
            </a:solidFill>
            <a:prstDash val="solid"/>
          </a:ln>
        </p:spPr>
      </p:sp>
      <p:sp>
        <p:nvSpPr>
          <p:cNvPr id="13" name="Text 58: Danh tính"/>
          <p:cNvSpPr txBox="1"/>
          <p:nvPr/>
        </p:nvSpPr>
        <p:spPr>
          <a:xfrm>
            <a:off x="685800" y="2914650"/>
            <a:ext cx="2286000" cy="514350"/>
          </a:xfrm>
          <a:prstGeom prst="rect">
            <a:avLst/>
          </a:prstGeom>
          <a:noFill/>
          <a:ln/>
        </p:spPr>
        <p:txBody>
          <a:bodyPr wrap="square" lIns="0" tIns="0" rIns="0" bIns="0" rtlCol="0" anchor="ctr"/>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Danh tính</a:t>
            </a:r>
            <a:endParaRPr lang="en-US" sz="1800" dirty="0"/>
          </a:p>
        </p:txBody>
      </p:sp>
      <p:sp>
        <p:nvSpPr>
          <p:cNvPr id="14" name="Content panel 59"/>
          <p:cNvSpPr/>
          <p:nvPr/>
        </p:nvSpPr>
        <p:spPr>
          <a:xfrm>
            <a:off x="3086100" y="2857500"/>
            <a:ext cx="3886200" cy="628650"/>
          </a:xfrm>
          <a:prstGeom prst="roundRect">
            <a:avLst>
              <a:gd name="adj" fmla="val 23273"/>
            </a:avLst>
          </a:prstGeom>
          <a:solidFill>
            <a:schemeClr val="bg2"/>
          </a:solidFill>
          <a:ln w="10160">
            <a:solidFill>
              <a:schemeClr val="accent6"/>
            </a:solidFill>
            <a:prstDash val="solid"/>
          </a:ln>
        </p:spPr>
      </p:sp>
      <p:sp>
        <p:nvSpPr>
          <p:cNvPr id="15" name="Text 60: Không có tài khoản Cloud"/>
          <p:cNvSpPr txBox="1"/>
          <p:nvPr/>
        </p:nvSpPr>
        <p:spPr>
          <a:xfrm>
            <a:off x="3200400" y="2914650"/>
            <a:ext cx="36576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Không có tài khoản Cloud</a:t>
            </a:r>
            <a:endParaRPr lang="en-US" sz="1800" dirty="0"/>
          </a:p>
        </p:txBody>
      </p:sp>
      <p:sp>
        <p:nvSpPr>
          <p:cNvPr id="16" name="Content panel 61"/>
          <p:cNvSpPr/>
          <p:nvPr/>
        </p:nvSpPr>
        <p:spPr>
          <a:xfrm>
            <a:off x="6972300" y="2857500"/>
            <a:ext cx="4686300" cy="628650"/>
          </a:xfrm>
          <a:prstGeom prst="roundRect">
            <a:avLst>
              <a:gd name="adj" fmla="val 23273"/>
            </a:avLst>
          </a:prstGeom>
          <a:solidFill>
            <a:schemeClr val="bg2"/>
          </a:solidFill>
          <a:ln w="10160">
            <a:solidFill>
              <a:schemeClr val="accent6"/>
            </a:solidFill>
            <a:prstDash val="solid"/>
          </a:ln>
        </p:spPr>
      </p:sp>
      <p:sp>
        <p:nvSpPr>
          <p:cNvPr id="17" name="Text 62: Google Auth → UID riêng"/>
          <p:cNvSpPr txBox="1"/>
          <p:nvPr/>
        </p:nvSpPr>
        <p:spPr>
          <a:xfrm>
            <a:off x="7086600" y="2914650"/>
            <a:ext cx="44577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Google Auth → UID riêng</a:t>
            </a:r>
            <a:endParaRPr lang="en-US" sz="1800" dirty="0"/>
          </a:p>
        </p:txBody>
      </p:sp>
      <p:sp>
        <p:nvSpPr>
          <p:cNvPr id="18" name="Content panel 63"/>
          <p:cNvSpPr/>
          <p:nvPr/>
        </p:nvSpPr>
        <p:spPr>
          <a:xfrm>
            <a:off x="571500" y="3543300"/>
            <a:ext cx="2514600" cy="628650"/>
          </a:xfrm>
          <a:prstGeom prst="roundRect">
            <a:avLst>
              <a:gd name="adj" fmla="val 23273"/>
            </a:avLst>
          </a:prstGeom>
          <a:solidFill>
            <a:schemeClr val="bg1"/>
          </a:solidFill>
          <a:ln w="10160">
            <a:solidFill>
              <a:schemeClr val="accent6"/>
            </a:solidFill>
            <a:prstDash val="solid"/>
          </a:ln>
        </p:spPr>
      </p:sp>
      <p:sp>
        <p:nvSpPr>
          <p:cNvPr id="19" name="Text 64: Metadata"/>
          <p:cNvSpPr txBox="1"/>
          <p:nvPr/>
        </p:nvSpPr>
        <p:spPr>
          <a:xfrm>
            <a:off x="685800" y="3600450"/>
            <a:ext cx="2286000" cy="514350"/>
          </a:xfrm>
          <a:prstGeom prst="rect">
            <a:avLst/>
          </a:prstGeom>
          <a:noFill/>
          <a:ln/>
        </p:spPr>
        <p:txBody>
          <a:bodyPr wrap="square" lIns="0" tIns="0" rIns="0" bIns="0" rtlCol="0" anchor="ctr"/>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Metadata</a:t>
            </a:r>
            <a:endParaRPr lang="en-US" sz="1800" dirty="0"/>
          </a:p>
        </p:txBody>
      </p:sp>
      <p:sp>
        <p:nvSpPr>
          <p:cNvPr id="20" name="Content panel 65"/>
          <p:cNvSpPr/>
          <p:nvPr/>
        </p:nvSpPr>
        <p:spPr>
          <a:xfrm>
            <a:off x="3086100" y="3543300"/>
            <a:ext cx="3886200" cy="628650"/>
          </a:xfrm>
          <a:prstGeom prst="roundRect">
            <a:avLst>
              <a:gd name="adj" fmla="val 23273"/>
            </a:avLst>
          </a:prstGeom>
          <a:solidFill>
            <a:schemeClr val="bg1"/>
          </a:solidFill>
          <a:ln w="10160">
            <a:solidFill>
              <a:schemeClr val="accent6"/>
            </a:solidFill>
            <a:prstDash val="solid"/>
          </a:ln>
        </p:spPr>
      </p:sp>
      <p:sp>
        <p:nvSpPr>
          <p:cNvPr id="21" name="Text 66: SQLite trên thiết bị"/>
          <p:cNvSpPr txBox="1"/>
          <p:nvPr/>
        </p:nvSpPr>
        <p:spPr>
          <a:xfrm>
            <a:off x="3200400" y="3600450"/>
            <a:ext cx="36576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SQLite trên thiết bị</a:t>
            </a:r>
            <a:endParaRPr lang="en-US" sz="1800" dirty="0"/>
          </a:p>
        </p:txBody>
      </p:sp>
      <p:sp>
        <p:nvSpPr>
          <p:cNvPr id="22" name="Content panel 67"/>
          <p:cNvSpPr/>
          <p:nvPr/>
        </p:nvSpPr>
        <p:spPr>
          <a:xfrm>
            <a:off x="6972300" y="3543300"/>
            <a:ext cx="4686300" cy="628650"/>
          </a:xfrm>
          <a:prstGeom prst="roundRect">
            <a:avLst>
              <a:gd name="adj" fmla="val 23273"/>
            </a:avLst>
          </a:prstGeom>
          <a:solidFill>
            <a:schemeClr val="bg1"/>
          </a:solidFill>
          <a:ln w="10160">
            <a:solidFill>
              <a:schemeClr val="accent6"/>
            </a:solidFill>
            <a:prstDash val="solid"/>
          </a:ln>
        </p:spPr>
      </p:sp>
      <p:sp>
        <p:nvSpPr>
          <p:cNvPr id="23" name="Text 68: Firestore theo UID; SQLite giữ độc lập"/>
          <p:cNvSpPr txBox="1"/>
          <p:nvPr/>
        </p:nvSpPr>
        <p:spPr>
          <a:xfrm>
            <a:off x="7086600" y="3600450"/>
            <a:ext cx="44577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Firestore theo UID;</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SQLite giữ độc lập</a:t>
            </a:r>
            <a:endParaRPr lang="en-US" sz="1800" dirty="0"/>
          </a:p>
        </p:txBody>
      </p:sp>
      <p:sp>
        <p:nvSpPr>
          <p:cNvPr id="24" name="Content panel 69"/>
          <p:cNvSpPr/>
          <p:nvPr/>
        </p:nvSpPr>
        <p:spPr>
          <a:xfrm>
            <a:off x="571500" y="4229100"/>
            <a:ext cx="2514600" cy="628650"/>
          </a:xfrm>
          <a:prstGeom prst="roundRect">
            <a:avLst>
              <a:gd name="adj" fmla="val 23273"/>
            </a:avLst>
          </a:prstGeom>
          <a:solidFill>
            <a:schemeClr val="bg2"/>
          </a:solidFill>
          <a:ln w="10160">
            <a:solidFill>
              <a:schemeClr val="accent6"/>
            </a:solidFill>
            <a:prstDash val="solid"/>
          </a:ln>
        </p:spPr>
      </p:sp>
      <p:sp>
        <p:nvSpPr>
          <p:cNvPr id="25" name="Text 70: Tệp tài liệu"/>
          <p:cNvSpPr txBox="1"/>
          <p:nvPr/>
        </p:nvSpPr>
        <p:spPr>
          <a:xfrm>
            <a:off x="685800" y="4286250"/>
            <a:ext cx="2286000" cy="514350"/>
          </a:xfrm>
          <a:prstGeom prst="rect">
            <a:avLst/>
          </a:prstGeom>
          <a:noFill/>
          <a:ln/>
        </p:spPr>
        <p:txBody>
          <a:bodyPr wrap="square" lIns="0" tIns="0" rIns="0" bIns="0" rtlCol="0" anchor="ctr"/>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Tệp tài liệu</a:t>
            </a:r>
            <a:endParaRPr lang="en-US" sz="1800" dirty="0"/>
          </a:p>
        </p:txBody>
      </p:sp>
      <p:sp>
        <p:nvSpPr>
          <p:cNvPr id="26" name="Content panel 71"/>
          <p:cNvSpPr/>
          <p:nvPr/>
        </p:nvSpPr>
        <p:spPr>
          <a:xfrm>
            <a:off x="3086100" y="4229100"/>
            <a:ext cx="3886200" cy="628650"/>
          </a:xfrm>
          <a:prstGeom prst="roundRect">
            <a:avLst>
              <a:gd name="adj" fmla="val 23273"/>
            </a:avLst>
          </a:prstGeom>
          <a:solidFill>
            <a:schemeClr val="bg2"/>
          </a:solidFill>
          <a:ln w="10160">
            <a:solidFill>
              <a:schemeClr val="accent6"/>
            </a:solidFill>
            <a:prstDash val="solid"/>
          </a:ln>
        </p:spPr>
      </p:sp>
      <p:sp>
        <p:nvSpPr>
          <p:cNvPr id="27" name="Text 72: fileUrl / liên kết nhập tay"/>
          <p:cNvSpPr txBox="1"/>
          <p:nvPr/>
        </p:nvSpPr>
        <p:spPr>
          <a:xfrm>
            <a:off x="3200400" y="4286250"/>
            <a:ext cx="36576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fileUrl / liên kết nhập tay</a:t>
            </a:r>
            <a:endParaRPr lang="en-US" sz="1800" dirty="0"/>
          </a:p>
        </p:txBody>
      </p:sp>
      <p:sp>
        <p:nvSpPr>
          <p:cNvPr id="28" name="Content panel 73"/>
          <p:cNvSpPr/>
          <p:nvPr/>
        </p:nvSpPr>
        <p:spPr>
          <a:xfrm>
            <a:off x="6972300" y="4229100"/>
            <a:ext cx="4686300" cy="628650"/>
          </a:xfrm>
          <a:prstGeom prst="roundRect">
            <a:avLst>
              <a:gd name="adj" fmla="val 23273"/>
            </a:avLst>
          </a:prstGeom>
          <a:solidFill>
            <a:schemeClr val="bg2"/>
          </a:solidFill>
          <a:ln w="10160">
            <a:solidFill>
              <a:schemeClr val="accent6"/>
            </a:solidFill>
            <a:prstDash val="solid"/>
          </a:ln>
        </p:spPr>
      </p:sp>
      <p:sp>
        <p:nvSpPr>
          <p:cNvPr id="29" name="Text 74: Storage chứa binary; tải bằng SDK có xác thực"/>
          <p:cNvSpPr txBox="1"/>
          <p:nvPr/>
        </p:nvSpPr>
        <p:spPr>
          <a:xfrm>
            <a:off x="7086600" y="4286250"/>
            <a:ext cx="44577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Storage chứa binary;</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tải bằng SDK có xác thực</a:t>
            </a:r>
            <a:endParaRPr lang="en-US" sz="1800" dirty="0"/>
          </a:p>
        </p:txBody>
      </p:sp>
      <p:sp>
        <p:nvSpPr>
          <p:cNvPr id="30" name="Content panel 75"/>
          <p:cNvSpPr/>
          <p:nvPr/>
        </p:nvSpPr>
        <p:spPr>
          <a:xfrm>
            <a:off x="571500" y="4914900"/>
            <a:ext cx="2514600" cy="628650"/>
          </a:xfrm>
          <a:prstGeom prst="roundRect">
            <a:avLst>
              <a:gd name="adj" fmla="val 23273"/>
            </a:avLst>
          </a:prstGeom>
          <a:solidFill>
            <a:schemeClr val="bg1"/>
          </a:solidFill>
          <a:ln w="10160">
            <a:solidFill>
              <a:schemeClr val="accent6"/>
            </a:solidFill>
            <a:prstDash val="solid"/>
          </a:ln>
        </p:spPr>
      </p:sp>
      <p:sp>
        <p:nvSpPr>
          <p:cNvPr id="31" name="Text 76: Truy cập"/>
          <p:cNvSpPr txBox="1"/>
          <p:nvPr/>
        </p:nvSpPr>
        <p:spPr>
          <a:xfrm>
            <a:off x="685800" y="4972050"/>
            <a:ext cx="2286000" cy="514350"/>
          </a:xfrm>
          <a:prstGeom prst="rect">
            <a:avLst/>
          </a:prstGeom>
          <a:noFill/>
          <a:ln/>
        </p:spPr>
        <p:txBody>
          <a:bodyPr wrap="square" lIns="0" tIns="0" rIns="0" bIns="0" rtlCol="0" anchor="ctr"/>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Truy cập</a:t>
            </a:r>
            <a:endParaRPr lang="en-US" sz="1800" dirty="0"/>
          </a:p>
        </p:txBody>
      </p:sp>
      <p:sp>
        <p:nvSpPr>
          <p:cNvPr id="32" name="Content panel 77"/>
          <p:cNvSpPr/>
          <p:nvPr/>
        </p:nvSpPr>
        <p:spPr>
          <a:xfrm>
            <a:off x="3086100" y="4914900"/>
            <a:ext cx="3886200" cy="628650"/>
          </a:xfrm>
          <a:prstGeom prst="roundRect">
            <a:avLst>
              <a:gd name="adj" fmla="val 23273"/>
            </a:avLst>
          </a:prstGeom>
          <a:solidFill>
            <a:schemeClr val="bg1"/>
          </a:solidFill>
          <a:ln w="10160">
            <a:solidFill>
              <a:schemeClr val="accent6"/>
            </a:solidFill>
            <a:prstDash val="solid"/>
          </a:ln>
        </p:spPr>
      </p:sp>
      <p:sp>
        <p:nvSpPr>
          <p:cNvPr id="33" name="Text 78: Local offline, từng thiết bị"/>
          <p:cNvSpPr txBox="1"/>
          <p:nvPr/>
        </p:nvSpPr>
        <p:spPr>
          <a:xfrm>
            <a:off x="3200400" y="4972050"/>
            <a:ext cx="36576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Local offline, từng thiết bị</a:t>
            </a:r>
            <a:endParaRPr lang="en-US" sz="1800" dirty="0"/>
          </a:p>
        </p:txBody>
      </p:sp>
      <p:sp>
        <p:nvSpPr>
          <p:cNvPr id="34" name="Content panel 79"/>
          <p:cNvSpPr/>
          <p:nvPr/>
        </p:nvSpPr>
        <p:spPr>
          <a:xfrm>
            <a:off x="6972300" y="4914900"/>
            <a:ext cx="4686300" cy="628650"/>
          </a:xfrm>
          <a:prstGeom prst="roundRect">
            <a:avLst>
              <a:gd name="adj" fmla="val 23273"/>
            </a:avLst>
          </a:prstGeom>
          <a:solidFill>
            <a:schemeClr val="bg1"/>
          </a:solidFill>
          <a:ln w="10160">
            <a:solidFill>
              <a:schemeClr val="accent6"/>
            </a:solidFill>
            <a:prstDash val="solid"/>
          </a:ln>
        </p:spPr>
      </p:sp>
      <p:sp>
        <p:nvSpPr>
          <p:cNvPr id="35" name="Text 80: Cloud: cùng UID, cần mạng; Local: vẫn offline"/>
          <p:cNvSpPr txBox="1"/>
          <p:nvPr/>
        </p:nvSpPr>
        <p:spPr>
          <a:xfrm>
            <a:off x="7086600" y="4972050"/>
            <a:ext cx="4457700" cy="51435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Cloud: cùng UID, cần mạng;</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Local: vẫn offline</a:t>
            </a:r>
            <a:endParaRPr lang="en-US" sz="1800" dirty="0"/>
          </a:p>
        </p:txBody>
      </p:sp>
      <p:sp>
        <p:nvSpPr>
          <p:cNvPr id="36" name="Text 81: Không có tự đồng bộ, chia sẻ nhóm hoặc backup tự động trong phạm "/>
          <p:cNvSpPr txBox="1"/>
          <p:nvPr/>
        </p:nvSpPr>
        <p:spPr>
          <a:xfrm>
            <a:off x="571500" y="5829300"/>
            <a:ext cx="11087100" cy="342900"/>
          </a:xfrm>
          <a:prstGeom prst="rect">
            <a:avLst/>
          </a:prstGeom>
          <a:noFill/>
          <a:ln/>
        </p:spPr>
        <p:txBody>
          <a:bodyPr wrap="square" lIns="0" tIns="0" rIns="0" bIns="0" rtlCol="0" anchor="t"/>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Không có tự đồng bộ, chia sẻ nhóm hoặc backup tự động trong phạm vi hiện tại.</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Chọn Public Cloud, không gọi nhầm Hybrid</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02 | THIẾT KẾ TÍCH HỢP</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“Thư viện riêng tư” là quyền truy cập ứng dụng, không phải mô hình Private Cloud</a:t>
            </a:r>
            <a:endParaRPr lang="en-US" sz="1800" dirty="0"/>
          </a:p>
        </p:txBody>
      </p:sp>
      <p:sp>
        <p:nvSpPr>
          <p:cNvPr id="5" name="Text 82: Nguồn: F8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F8 | URL đầy đủ trong ghi chú và slide 18</a:t>
            </a:r>
            <a:endParaRPr lang="en-US" sz="1200" dirty="0"/>
          </a:p>
        </p:txBody>
      </p:sp>
      <p:sp>
        <p:nvSpPr>
          <p:cNvPr id="7" name="Content panel 83"/>
          <p:cNvSpPr/>
          <p:nvPr/>
        </p:nvSpPr>
        <p:spPr>
          <a:xfrm>
            <a:off x="571500" y="2171700"/>
            <a:ext cx="3543300" cy="3086100"/>
          </a:xfrm>
          <a:prstGeom prst="roundRect">
            <a:avLst>
              <a:gd name="adj" fmla="val 4741"/>
            </a:avLst>
          </a:prstGeom>
          <a:solidFill>
            <a:schemeClr val="accent1"/>
          </a:solidFill>
          <a:ln w="10160">
            <a:solidFill>
              <a:schemeClr val="accent1"/>
            </a:solidFill>
            <a:prstDash val="solid"/>
          </a:ln>
        </p:spPr>
      </p:sp>
      <p:sp>
        <p:nvSpPr>
          <p:cNvPr id="8" name="Text 84: Public Cloud"/>
          <p:cNvSpPr txBox="1"/>
          <p:nvPr/>
        </p:nvSpPr>
        <p:spPr>
          <a:xfrm>
            <a:off x="800100" y="2400300"/>
            <a:ext cx="30861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Public Cloud</a:t>
            </a:r>
            <a:endParaRPr lang="en-US" sz="2200" dirty="0"/>
          </a:p>
        </p:txBody>
      </p:sp>
      <p:sp>
        <p:nvSpPr>
          <p:cNvPr id="9" name="Text 85: Firebase do Google vận hành.  Đáp ứng yêu cầu giảng viên; không t"/>
          <p:cNvSpPr txBox="1"/>
          <p:nvPr/>
        </p:nvSpPr>
        <p:spPr>
          <a:xfrm>
            <a:off x="800100" y="3086100"/>
            <a:ext cx="3086100" cy="2057400"/>
          </a:xfrm>
          <a:prstGeom prst="rect">
            <a:avLst/>
          </a:prstGeom>
          <a:noFill/>
          <a:ln/>
        </p:spPr>
        <p:txBody>
          <a:bodyPr wrap="square" lIns="0" tIns="0" rIns="0" bIns="0" rtlCol="0" anchor="t"/>
          <a:lstStyle/>
          <a:p>
            <a:pPr indent="0" marL="0">
              <a:lnSpc>
                <a:spcPct val="106000"/>
              </a:lnSpc>
              <a:buNone/>
            </a:pPr>
            <a:r>
              <a:rPr lang="en-US" sz="2000" dirty="0">
                <a:solidFill>
                  <a:schemeClr val="tx1"/>
                </a:solidFill>
                <a:latin typeface="+mn-lt" pitchFamily="34" charset="0"/>
                <a:ea typeface="+mn-lt" pitchFamily="34" charset="-122"/>
                <a:cs typeface="+mn-lt" pitchFamily="34" charset="-120"/>
              </a:rPr>
              <a:t>Firebase do Google vận hành.</a:t>
            </a:r>
            <a:endParaRPr lang="en-US" sz="2000" dirty="0"/>
          </a:p>
          <a:p>
            <a:pPr indent="0" marL="0">
              <a:lnSpc>
                <a:spcPct val="106000"/>
              </a:lnSpc>
              <a:buNone/>
            </a:pP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Đáp ứng yêu cầu giảng viên;</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không tự quản trị máy chủ.</a:t>
            </a:r>
            <a:endParaRPr lang="en-US" sz="2000" dirty="0"/>
          </a:p>
        </p:txBody>
      </p:sp>
      <p:sp>
        <p:nvSpPr>
          <p:cNvPr id="10" name="Content panel 86"/>
          <p:cNvSpPr/>
          <p:nvPr/>
        </p:nvSpPr>
        <p:spPr>
          <a:xfrm>
            <a:off x="4343400" y="2171700"/>
            <a:ext cx="3543300" cy="3086100"/>
          </a:xfrm>
          <a:prstGeom prst="roundRect">
            <a:avLst>
              <a:gd name="adj" fmla="val 4741"/>
            </a:avLst>
          </a:prstGeom>
          <a:solidFill>
            <a:schemeClr val="bg2"/>
          </a:solidFill>
          <a:ln w="10160">
            <a:solidFill>
              <a:schemeClr val="bg2"/>
            </a:solidFill>
            <a:prstDash val="solid"/>
          </a:ln>
        </p:spPr>
      </p:sp>
      <p:sp>
        <p:nvSpPr>
          <p:cNvPr id="11" name="Text 87: Private Cloud"/>
          <p:cNvSpPr txBox="1"/>
          <p:nvPr/>
        </p:nvSpPr>
        <p:spPr>
          <a:xfrm>
            <a:off x="4572000" y="2400300"/>
            <a:ext cx="30861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Private Cloud</a:t>
            </a:r>
            <a:endParaRPr lang="en-US" sz="2200" dirty="0"/>
          </a:p>
        </p:txBody>
      </p:sp>
      <p:sp>
        <p:nvSpPr>
          <p:cNvPr id="12" name="Text 88: Hạ tầng cloud dành riêng cho một tổ chức.  Không được triển khai "/>
          <p:cNvSpPr txBox="1"/>
          <p:nvPr/>
        </p:nvSpPr>
        <p:spPr>
          <a:xfrm>
            <a:off x="4572000" y="3086100"/>
            <a:ext cx="3086100" cy="2057400"/>
          </a:xfrm>
          <a:prstGeom prst="rect">
            <a:avLst/>
          </a:prstGeom>
          <a:noFill/>
          <a:ln/>
        </p:spPr>
        <p:txBody>
          <a:bodyPr wrap="square" lIns="0" tIns="0" rIns="0" bIns="0" rtlCol="0" anchor="t"/>
          <a:lstStyle/>
          <a:p>
            <a:pPr indent="0" marL="0">
              <a:lnSpc>
                <a:spcPct val="106000"/>
              </a:lnSpc>
              <a:buNone/>
            </a:pPr>
            <a:r>
              <a:rPr lang="en-US" sz="2000" dirty="0">
                <a:solidFill>
                  <a:schemeClr val="tx1"/>
                </a:solidFill>
                <a:latin typeface="+mn-lt" pitchFamily="34" charset="0"/>
                <a:ea typeface="+mn-lt" pitchFamily="34" charset="-122"/>
                <a:cs typeface="+mn-lt" pitchFamily="34" charset="-120"/>
              </a:rPr>
              <a:t>Hạ tầng cloud dành riêng</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cho một tổ chức.</a:t>
            </a:r>
            <a:endParaRPr lang="en-US" sz="2000" dirty="0"/>
          </a:p>
          <a:p>
            <a:pPr indent="0" marL="0">
              <a:lnSpc>
                <a:spcPct val="106000"/>
              </a:lnSpc>
              <a:buNone/>
            </a:pP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Không được triển khai</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trong bài tập này.</a:t>
            </a:r>
            <a:endParaRPr lang="en-US" sz="2000" dirty="0"/>
          </a:p>
        </p:txBody>
      </p:sp>
      <p:sp>
        <p:nvSpPr>
          <p:cNvPr id="13" name="Content panel 89"/>
          <p:cNvSpPr/>
          <p:nvPr/>
        </p:nvSpPr>
        <p:spPr>
          <a:xfrm>
            <a:off x="8115300" y="2171700"/>
            <a:ext cx="3543300" cy="3086100"/>
          </a:xfrm>
          <a:prstGeom prst="roundRect">
            <a:avLst>
              <a:gd name="adj" fmla="val 4741"/>
            </a:avLst>
          </a:prstGeom>
          <a:solidFill>
            <a:schemeClr val="bg2"/>
          </a:solidFill>
          <a:ln w="10160">
            <a:solidFill>
              <a:schemeClr val="bg2"/>
            </a:solidFill>
            <a:prstDash val="solid"/>
          </a:ln>
        </p:spPr>
      </p:sp>
      <p:sp>
        <p:nvSpPr>
          <p:cNvPr id="14" name="Text 90: Hybrid Cloud"/>
          <p:cNvSpPr txBox="1"/>
          <p:nvPr/>
        </p:nvSpPr>
        <p:spPr>
          <a:xfrm>
            <a:off x="8343900" y="2400300"/>
            <a:ext cx="30861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Hybrid Cloud</a:t>
            </a:r>
            <a:endParaRPr lang="en-US" sz="2200" dirty="0"/>
          </a:p>
        </p:txBody>
      </p:sp>
      <p:sp>
        <p:nvSpPr>
          <p:cNvPr id="15" name="Text 91: Kết hợp nhiều hạ tầng cloud có công nghệ liên kết.  Không phải Fi"/>
          <p:cNvSpPr txBox="1"/>
          <p:nvPr/>
        </p:nvSpPr>
        <p:spPr>
          <a:xfrm>
            <a:off x="8343900" y="3086100"/>
            <a:ext cx="3086100" cy="2057400"/>
          </a:xfrm>
          <a:prstGeom prst="rect">
            <a:avLst/>
          </a:prstGeom>
          <a:noFill/>
          <a:ln/>
        </p:spPr>
        <p:txBody>
          <a:bodyPr wrap="square" lIns="0" tIns="0" rIns="0" bIns="0" rtlCol="0" anchor="t"/>
          <a:lstStyle/>
          <a:p>
            <a:pPr indent="0" marL="0">
              <a:lnSpc>
                <a:spcPct val="106000"/>
              </a:lnSpc>
              <a:buNone/>
            </a:pPr>
            <a:r>
              <a:rPr lang="en-US" sz="2000" dirty="0">
                <a:solidFill>
                  <a:schemeClr val="tx1"/>
                </a:solidFill>
                <a:latin typeface="+mn-lt" pitchFamily="34" charset="0"/>
                <a:ea typeface="+mn-lt" pitchFamily="34" charset="-122"/>
                <a:cs typeface="+mn-lt" pitchFamily="34" charset="-120"/>
              </a:rPr>
              <a:t>Kết hợp nhiều hạ tầng cloud</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có công nghệ liên kết.</a:t>
            </a:r>
            <a:endParaRPr lang="en-US" sz="2000" dirty="0"/>
          </a:p>
          <a:p>
            <a:pPr indent="0" marL="0">
              <a:lnSpc>
                <a:spcPct val="106000"/>
              </a:lnSpc>
              <a:buNone/>
            </a:pP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Không phải Firebase</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cộng với SQLite local.</a:t>
            </a:r>
            <a:endParaRPr lang="en-US" sz="2000" dirty="0"/>
          </a:p>
        </p:txBody>
      </p:sp>
      <p:sp>
        <p:nvSpPr>
          <p:cNvPr id="16" name="Content panel 92"/>
          <p:cNvSpPr/>
          <p:nvPr/>
        </p:nvSpPr>
        <p:spPr>
          <a:xfrm>
            <a:off x="800100" y="4572000"/>
            <a:ext cx="1600200" cy="457200"/>
          </a:xfrm>
          <a:prstGeom prst="roundRect">
            <a:avLst>
              <a:gd name="adj" fmla="val 32000"/>
            </a:avLst>
          </a:prstGeom>
          <a:solidFill>
            <a:schemeClr val="tx1"/>
          </a:solidFill>
          <a:ln w="10160">
            <a:solidFill>
              <a:schemeClr val="tx1"/>
            </a:solidFill>
            <a:prstDash val="solid"/>
          </a:ln>
        </p:spPr>
      </p:sp>
      <p:sp>
        <p:nvSpPr>
          <p:cNvPr id="17" name="Text 93: ĐÃ CHỌN"/>
          <p:cNvSpPr txBox="1"/>
          <p:nvPr/>
        </p:nvSpPr>
        <p:spPr>
          <a:xfrm>
            <a:off x="800100" y="4572000"/>
            <a:ext cx="1600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ĐÃ CHỌN</a:t>
            </a:r>
            <a:endParaRPr lang="en-US" sz="1800" dirty="0"/>
          </a:p>
        </p:txBody>
      </p:sp>
      <p:sp>
        <p:nvSpPr>
          <p:cNvPr id="18" name="Content panel 94"/>
          <p:cNvSpPr/>
          <p:nvPr/>
        </p:nvSpPr>
        <p:spPr>
          <a:xfrm>
            <a:off x="571500" y="5486400"/>
            <a:ext cx="11087100" cy="342900"/>
          </a:xfrm>
          <a:prstGeom prst="roundRect">
            <a:avLst>
              <a:gd name="adj" fmla="val 42667"/>
            </a:avLst>
          </a:prstGeom>
          <a:solidFill>
            <a:schemeClr val="bg2"/>
          </a:solidFill>
          <a:ln w="10160">
            <a:solidFill>
              <a:schemeClr val="bg2"/>
            </a:solidFill>
            <a:prstDash val="solid"/>
          </a:ln>
        </p:spPr>
      </p:sp>
      <p:sp>
        <p:nvSpPr>
          <p:cNvPr id="19" name="Text 95: SQLite local / cache ≠ Private Cloud; Local + Public Cloud không "/>
          <p:cNvSpPr txBox="1"/>
          <p:nvPr/>
        </p:nvSpPr>
        <p:spPr>
          <a:xfrm>
            <a:off x="800100" y="5600700"/>
            <a:ext cx="10629900" cy="11430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SQLite local / cache ≠ Private Cloud; Local + Public Cloud không tự động là Hybrid Cloud.</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Firebase: BaaS và bộ dịch vụ được chọn</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02 | THIẾT KẾ TÍCH HỢP</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Ứng dụng gọi Firebase SDK; nhóm vẫn chịu trách nhiệm Rules, cấu hình, chi phí và kiểm thử</a:t>
            </a:r>
            <a:endParaRPr lang="en-US" sz="1800" dirty="0"/>
          </a:p>
        </p:txBody>
      </p:sp>
      <p:sp>
        <p:nvSpPr>
          <p:cNvPr id="5" name="Text 96: Nguồn: F1 · F2 · F3 · F5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F1 · F2 · F3 · F5 | URL đầy đủ trong ghi chú và slide 18</a:t>
            </a:r>
            <a:endParaRPr lang="en-US" sz="1200" dirty="0"/>
          </a:p>
        </p:txBody>
      </p:sp>
      <p:sp>
        <p:nvSpPr>
          <p:cNvPr id="7" name="Content panel 97"/>
          <p:cNvSpPr/>
          <p:nvPr/>
        </p:nvSpPr>
        <p:spPr>
          <a:xfrm>
            <a:off x="571500" y="2171700"/>
            <a:ext cx="3543300" cy="3543300"/>
          </a:xfrm>
          <a:prstGeom prst="roundRect">
            <a:avLst>
              <a:gd name="adj" fmla="val 4129"/>
            </a:avLst>
          </a:prstGeom>
          <a:solidFill>
            <a:schemeClr val="tx1"/>
          </a:solidFill>
          <a:ln w="10160">
            <a:solidFill>
              <a:schemeClr val="tx1"/>
            </a:solidFill>
            <a:prstDash val="solid"/>
          </a:ln>
        </p:spPr>
      </p:sp>
      <p:sp>
        <p:nvSpPr>
          <p:cNvPr id="8" name="Text 98: BaaS"/>
          <p:cNvSpPr txBox="1"/>
          <p:nvPr/>
        </p:nvSpPr>
        <p:spPr>
          <a:xfrm>
            <a:off x="800100" y="2514600"/>
            <a:ext cx="3086100" cy="1028700"/>
          </a:xfrm>
          <a:prstGeom prst="rect">
            <a:avLst/>
          </a:prstGeom>
          <a:noFill/>
          <a:ln/>
        </p:spPr>
        <p:txBody>
          <a:bodyPr wrap="square" lIns="0" tIns="0" rIns="0" bIns="0" rtlCol="0" anchor="t"/>
          <a:lstStyle/>
          <a:p>
            <a:pPr indent="0" marL="0">
              <a:lnSpc>
                <a:spcPct val="106000"/>
              </a:lnSpc>
              <a:buNone/>
            </a:pPr>
            <a:r>
              <a:rPr lang="en-US" sz="6000" b="1" dirty="0">
                <a:solidFill>
                  <a:schemeClr val="accent1"/>
                </a:solidFill>
                <a:latin typeface="+mn-lt" pitchFamily="34" charset="0"/>
                <a:ea typeface="+mn-lt" pitchFamily="34" charset="-122"/>
                <a:cs typeface="+mn-lt" pitchFamily="34" charset="-120"/>
              </a:rPr>
              <a:t>BaaS</a:t>
            </a:r>
            <a:endParaRPr lang="en-US" sz="6000" dirty="0"/>
          </a:p>
        </p:txBody>
      </p:sp>
      <p:sp>
        <p:nvSpPr>
          <p:cNvPr id="9" name="Text 99: Backend-as-a-Service"/>
          <p:cNvSpPr txBox="1"/>
          <p:nvPr/>
        </p:nvSpPr>
        <p:spPr>
          <a:xfrm>
            <a:off x="800100" y="3657600"/>
            <a:ext cx="3086100" cy="457200"/>
          </a:xfrm>
          <a:prstGeom prst="rect">
            <a:avLst/>
          </a:prstGeom>
          <a:noFill/>
          <a:ln/>
        </p:spPr>
        <p:txBody>
          <a:bodyPr wrap="square" lIns="0" tIns="0" rIns="0" bIns="0" rtlCol="0" anchor="t"/>
          <a:lstStyle/>
          <a:p>
            <a:pPr indent="0" marL="0">
              <a:lnSpc>
                <a:spcPct val="106000"/>
              </a:lnSpc>
              <a:buNone/>
            </a:pPr>
            <a:r>
              <a:rPr lang="en-US" sz="1800" dirty="0">
                <a:solidFill>
                  <a:schemeClr val="bg1"/>
                </a:solidFill>
                <a:latin typeface="+mn-lt" pitchFamily="34" charset="0"/>
                <a:ea typeface="+mn-lt" pitchFamily="34" charset="-122"/>
                <a:cs typeface="+mn-lt" pitchFamily="34" charset="-120"/>
              </a:rPr>
              <a:t>Backend-as-a-Service</a:t>
            </a:r>
            <a:endParaRPr lang="en-US" sz="1800" dirty="0"/>
          </a:p>
        </p:txBody>
      </p:sp>
      <p:sp>
        <p:nvSpPr>
          <p:cNvPr id="10" name="Text 100: SDK phía client + dịch vụ quản lý + Security Rules"/>
          <p:cNvSpPr txBox="1"/>
          <p:nvPr/>
        </p:nvSpPr>
        <p:spPr>
          <a:xfrm>
            <a:off x="800100" y="4457700"/>
            <a:ext cx="3086100" cy="1028700"/>
          </a:xfrm>
          <a:prstGeom prst="rect">
            <a:avLst/>
          </a:prstGeom>
          <a:noFill/>
          <a:ln/>
        </p:spPr>
        <p:txBody>
          <a:bodyPr wrap="square" lIns="0" tIns="0" rIns="0" bIns="0" rtlCol="0" anchor="t"/>
          <a:lstStyle/>
          <a:p>
            <a:pPr indent="0" marL="0">
              <a:lnSpc>
                <a:spcPct val="106000"/>
              </a:lnSpc>
              <a:buNone/>
            </a:pPr>
            <a:r>
              <a:rPr lang="en-US" sz="2200" dirty="0">
                <a:solidFill>
                  <a:schemeClr val="bg1"/>
                </a:solidFill>
                <a:latin typeface="+mn-lt" pitchFamily="34" charset="0"/>
                <a:ea typeface="+mn-lt" pitchFamily="34" charset="-122"/>
                <a:cs typeface="+mn-lt" pitchFamily="34" charset="-120"/>
              </a:rPr>
              <a:t>SDK phía client</a:t>
            </a:r>
            <a:endParaRPr lang="en-US" sz="2200" dirty="0"/>
          </a:p>
          <a:p>
            <a:pPr indent="0" marL="0">
              <a:lnSpc>
                <a:spcPct val="106000"/>
              </a:lnSpc>
              <a:buNone/>
            </a:pPr>
            <a:r>
              <a:rPr lang="en-US" sz="2200" dirty="0">
                <a:solidFill>
                  <a:schemeClr val="bg1"/>
                </a:solidFill>
                <a:latin typeface="+mn-lt" pitchFamily="34" charset="0"/>
                <a:ea typeface="+mn-lt" pitchFamily="34" charset="-122"/>
                <a:cs typeface="+mn-lt" pitchFamily="34" charset="-120"/>
              </a:rPr>
              <a:t>+ dịch vụ quản lý</a:t>
            </a:r>
            <a:endParaRPr lang="en-US" sz="2200" dirty="0"/>
          </a:p>
          <a:p>
            <a:pPr indent="0" marL="0">
              <a:lnSpc>
                <a:spcPct val="106000"/>
              </a:lnSpc>
              <a:buNone/>
            </a:pPr>
            <a:r>
              <a:rPr lang="en-US" sz="2200" dirty="0">
                <a:solidFill>
                  <a:schemeClr val="bg1"/>
                </a:solidFill>
                <a:latin typeface="+mn-lt" pitchFamily="34" charset="0"/>
                <a:ea typeface="+mn-lt" pitchFamily="34" charset="-122"/>
                <a:cs typeface="+mn-lt" pitchFamily="34" charset="-120"/>
              </a:rPr>
              <a:t>+ Security Rules</a:t>
            </a:r>
            <a:endParaRPr lang="en-US" sz="2200" dirty="0"/>
          </a:p>
        </p:txBody>
      </p:sp>
      <p:sp>
        <p:nvSpPr>
          <p:cNvPr id="11" name="Content panel 101"/>
          <p:cNvSpPr/>
          <p:nvPr/>
        </p:nvSpPr>
        <p:spPr>
          <a:xfrm>
            <a:off x="4572000" y="2171700"/>
            <a:ext cx="3429000" cy="1600200"/>
          </a:xfrm>
          <a:prstGeom prst="roundRect">
            <a:avLst>
              <a:gd name="adj" fmla="val 9143"/>
            </a:avLst>
          </a:prstGeom>
          <a:solidFill>
            <a:schemeClr val="bg2"/>
          </a:solidFill>
          <a:ln w="10160">
            <a:solidFill>
              <a:schemeClr val="bg2"/>
            </a:solidFill>
            <a:prstDash val="solid"/>
          </a:ln>
        </p:spPr>
      </p:sp>
      <p:sp>
        <p:nvSpPr>
          <p:cNvPr id="12" name="Text 102: Firebase Auth"/>
          <p:cNvSpPr txBox="1"/>
          <p:nvPr/>
        </p:nvSpPr>
        <p:spPr>
          <a:xfrm>
            <a:off x="4800600" y="2400300"/>
            <a:ext cx="29718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Firebase Auth</a:t>
            </a:r>
            <a:endParaRPr lang="en-US" sz="2200" dirty="0"/>
          </a:p>
        </p:txBody>
      </p:sp>
      <p:sp>
        <p:nvSpPr>
          <p:cNvPr id="13" name="Text 103: Google → UID Danh tính người dùng"/>
          <p:cNvSpPr txBox="1"/>
          <p:nvPr/>
        </p:nvSpPr>
        <p:spPr>
          <a:xfrm>
            <a:off x="4800600" y="3086100"/>
            <a:ext cx="29718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Google → UID</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Danh tính người dùng</a:t>
            </a:r>
            <a:endParaRPr lang="en-US" sz="1800" dirty="0"/>
          </a:p>
        </p:txBody>
      </p:sp>
      <p:sp>
        <p:nvSpPr>
          <p:cNvPr id="14" name="Content panel 104"/>
          <p:cNvSpPr/>
          <p:nvPr/>
        </p:nvSpPr>
        <p:spPr>
          <a:xfrm>
            <a:off x="8343900" y="2171700"/>
            <a:ext cx="3314700" cy="1600200"/>
          </a:xfrm>
          <a:prstGeom prst="roundRect">
            <a:avLst>
              <a:gd name="adj" fmla="val 9143"/>
            </a:avLst>
          </a:prstGeom>
          <a:solidFill>
            <a:schemeClr val="bg2"/>
          </a:solidFill>
          <a:ln w="10160">
            <a:solidFill>
              <a:schemeClr val="bg2"/>
            </a:solidFill>
            <a:prstDash val="solid"/>
          </a:ln>
        </p:spPr>
      </p:sp>
      <p:sp>
        <p:nvSpPr>
          <p:cNvPr id="15" name="Text 105: Cloud Firestore"/>
          <p:cNvSpPr txBox="1"/>
          <p:nvPr/>
        </p:nvSpPr>
        <p:spPr>
          <a:xfrm>
            <a:off x="8572500" y="2400300"/>
            <a:ext cx="28575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Cloud Firestore</a:t>
            </a:r>
            <a:endParaRPr lang="en-US" sz="2200" dirty="0"/>
          </a:p>
        </p:txBody>
      </p:sp>
      <p:sp>
        <p:nvSpPr>
          <p:cNvPr id="16" name="Text 106: Metadata theo UID Danh sách qua snapshots()"/>
          <p:cNvSpPr txBox="1"/>
          <p:nvPr/>
        </p:nvSpPr>
        <p:spPr>
          <a:xfrm>
            <a:off x="8572500" y="3086100"/>
            <a:ext cx="28575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Metadata theo UID</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Danh sách qua snapshots()</a:t>
            </a:r>
            <a:endParaRPr lang="en-US" sz="1800" dirty="0"/>
          </a:p>
        </p:txBody>
      </p:sp>
      <p:sp>
        <p:nvSpPr>
          <p:cNvPr id="17" name="Content panel 107"/>
          <p:cNvSpPr/>
          <p:nvPr/>
        </p:nvSpPr>
        <p:spPr>
          <a:xfrm>
            <a:off x="4572000" y="4114800"/>
            <a:ext cx="3429000" cy="1600200"/>
          </a:xfrm>
          <a:prstGeom prst="roundRect">
            <a:avLst>
              <a:gd name="adj" fmla="val 9143"/>
            </a:avLst>
          </a:prstGeom>
          <a:solidFill>
            <a:schemeClr val="bg2"/>
          </a:solidFill>
          <a:ln w="10160">
            <a:solidFill>
              <a:schemeClr val="bg2"/>
            </a:solidFill>
            <a:prstDash val="solid"/>
          </a:ln>
        </p:spPr>
      </p:sp>
      <p:sp>
        <p:nvSpPr>
          <p:cNvPr id="18" name="Text 108: Cloud Storage"/>
          <p:cNvSpPr txBox="1"/>
          <p:nvPr/>
        </p:nvSpPr>
        <p:spPr>
          <a:xfrm>
            <a:off x="4800600" y="4343400"/>
            <a:ext cx="29718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Cloud Storage</a:t>
            </a:r>
            <a:endParaRPr lang="en-US" sz="2200" dirty="0"/>
          </a:p>
        </p:txBody>
      </p:sp>
      <p:sp>
        <p:nvSpPr>
          <p:cNvPr id="19" name="Text 109: Binary thực của tài liệu putData() / getData()"/>
          <p:cNvSpPr txBox="1"/>
          <p:nvPr/>
        </p:nvSpPr>
        <p:spPr>
          <a:xfrm>
            <a:off x="4800600" y="5029200"/>
            <a:ext cx="29718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Binary thực của tài liệu</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putData() / getData()</a:t>
            </a:r>
            <a:endParaRPr lang="en-US" sz="1800" dirty="0"/>
          </a:p>
        </p:txBody>
      </p:sp>
      <p:sp>
        <p:nvSpPr>
          <p:cNvPr id="20" name="Content panel 110"/>
          <p:cNvSpPr/>
          <p:nvPr/>
        </p:nvSpPr>
        <p:spPr>
          <a:xfrm>
            <a:off x="8343900" y="4114800"/>
            <a:ext cx="3314700" cy="1600200"/>
          </a:xfrm>
          <a:prstGeom prst="roundRect">
            <a:avLst>
              <a:gd name="adj" fmla="val 9143"/>
            </a:avLst>
          </a:prstGeom>
          <a:solidFill>
            <a:schemeClr val="bg2"/>
          </a:solidFill>
          <a:ln w="10160">
            <a:solidFill>
              <a:schemeClr val="bg2"/>
            </a:solidFill>
            <a:prstDash val="solid"/>
          </a:ln>
        </p:spPr>
      </p:sp>
      <p:sp>
        <p:nvSpPr>
          <p:cNvPr id="21" name="Text 111: Hosting tùy chọn"/>
          <p:cNvSpPr txBox="1"/>
          <p:nvPr/>
        </p:nvSpPr>
        <p:spPr>
          <a:xfrm>
            <a:off x="8572500" y="4343400"/>
            <a:ext cx="2857500" cy="5715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Hosting tùy chọn</a:t>
            </a:r>
            <a:endParaRPr lang="en-US" sz="2200" dirty="0"/>
          </a:p>
        </p:txBody>
      </p:sp>
      <p:sp>
        <p:nvSpPr>
          <p:cNvPr id="22" name="Text 112: Flutter Web tĩnh / SPA Không chứa file riêng tư"/>
          <p:cNvSpPr txBox="1"/>
          <p:nvPr/>
        </p:nvSpPr>
        <p:spPr>
          <a:xfrm>
            <a:off x="8572500" y="5029200"/>
            <a:ext cx="28575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Flutter Web tĩnh / SPA</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Không chứa file riêng tư</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Kiến trúc: hai kho, hai trách nhiệm</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02 | THIẾT KẾ TÍCH HỢP</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Sơ đồ native PowerPoint: tất cả khối và mũi tên có thể chỉnh sửa</a:t>
            </a:r>
            <a:endParaRPr lang="en-US" sz="1800" dirty="0"/>
          </a:p>
        </p:txBody>
      </p:sp>
      <p:sp>
        <p:nvSpPr>
          <p:cNvPr id="5" name="Text 113: Nguồn: F1 · F2 · F3 · F5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F1 · F2 · F3 · F5 | URL đầy đủ trong ghi chú và slide 18</a:t>
            </a:r>
            <a:endParaRPr lang="en-US" sz="1200" dirty="0"/>
          </a:p>
        </p:txBody>
      </p:sp>
      <p:sp>
        <p:nvSpPr>
          <p:cNvPr id="7" name="Content panel 114"/>
          <p:cNvSpPr/>
          <p:nvPr/>
        </p:nvSpPr>
        <p:spPr>
          <a:xfrm>
            <a:off x="571500" y="2171700"/>
            <a:ext cx="3429000" cy="3543300"/>
          </a:xfrm>
          <a:prstGeom prst="roundRect">
            <a:avLst>
              <a:gd name="adj" fmla="val 4267"/>
            </a:avLst>
          </a:prstGeom>
          <a:solidFill>
            <a:schemeClr val="bg2"/>
          </a:solidFill>
          <a:ln w="10160">
            <a:solidFill>
              <a:schemeClr val="bg2"/>
            </a:solidFill>
            <a:prstDash val="solid"/>
          </a:ln>
        </p:spPr>
      </p:sp>
      <p:sp>
        <p:nvSpPr>
          <p:cNvPr id="8" name="Content panel 115"/>
          <p:cNvSpPr/>
          <p:nvPr/>
        </p:nvSpPr>
        <p:spPr>
          <a:xfrm>
            <a:off x="5257800" y="2171700"/>
            <a:ext cx="6400800" cy="3543300"/>
          </a:xfrm>
          <a:prstGeom prst="roundRect">
            <a:avLst>
              <a:gd name="adj" fmla="val 4129"/>
            </a:avLst>
          </a:prstGeom>
          <a:solidFill>
            <a:schemeClr val="bg2"/>
          </a:solidFill>
          <a:ln w="10160">
            <a:solidFill>
              <a:schemeClr val="bg2"/>
            </a:solidFill>
            <a:prstDash val="solid"/>
          </a:ln>
        </p:spPr>
      </p:sp>
      <p:sp>
        <p:nvSpPr>
          <p:cNvPr id="9" name="Text 116: Ứng dụng Flutter"/>
          <p:cNvSpPr txBox="1"/>
          <p:nvPr/>
        </p:nvSpPr>
        <p:spPr>
          <a:xfrm>
            <a:off x="800100" y="2400300"/>
            <a:ext cx="2971800" cy="4572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Ứng dụng Flutter</a:t>
            </a:r>
            <a:endParaRPr lang="en-US" sz="2200" dirty="0"/>
          </a:p>
        </p:txBody>
      </p:sp>
      <p:sp>
        <p:nvSpPr>
          <p:cNvPr id="10" name="Text 117: Firebase | Public Cloud"/>
          <p:cNvSpPr txBox="1"/>
          <p:nvPr/>
        </p:nvSpPr>
        <p:spPr>
          <a:xfrm>
            <a:off x="5600700" y="2400300"/>
            <a:ext cx="5715000" cy="457200"/>
          </a:xfrm>
          <a:prstGeom prst="rect">
            <a:avLst/>
          </a:prstGeom>
          <a:noFill/>
          <a:ln/>
        </p:spPr>
        <p:txBody>
          <a:bodyPr wrap="square" lIns="0" tIns="0" rIns="0" bIns="0" rtlCol="0" anchor="t"/>
          <a:lstStyle/>
          <a:p>
            <a:pPr indent="0" marL="0">
              <a:lnSpc>
                <a:spcPct val="106000"/>
              </a:lnSpc>
              <a:buNone/>
            </a:pPr>
            <a:r>
              <a:rPr lang="en-US" sz="2400" b="1" dirty="0">
                <a:solidFill>
                  <a:schemeClr val="tx1"/>
                </a:solidFill>
                <a:latin typeface="+mn-lt" pitchFamily="34" charset="0"/>
                <a:ea typeface="+mn-lt" pitchFamily="34" charset="-122"/>
                <a:cs typeface="+mn-lt" pitchFamily="34" charset="-120"/>
              </a:rPr>
              <a:t>Firebase | Public Cloud</a:t>
            </a:r>
            <a:endParaRPr lang="en-US" sz="2400" dirty="0"/>
          </a:p>
        </p:txBody>
      </p:sp>
      <p:sp>
        <p:nvSpPr>
          <p:cNvPr id="11" name="Content panel 118"/>
          <p:cNvSpPr/>
          <p:nvPr/>
        </p:nvSpPr>
        <p:spPr>
          <a:xfrm>
            <a:off x="800100" y="3086100"/>
            <a:ext cx="2971800" cy="1143000"/>
          </a:xfrm>
          <a:prstGeom prst="roundRect">
            <a:avLst>
              <a:gd name="adj" fmla="val 12800"/>
            </a:avLst>
          </a:prstGeom>
          <a:solidFill>
            <a:schemeClr val="tx1"/>
          </a:solidFill>
          <a:ln w="10160">
            <a:solidFill>
              <a:schemeClr val="tx1"/>
            </a:solidFill>
            <a:prstDash val="solid"/>
          </a:ln>
        </p:spPr>
      </p:sp>
      <p:sp>
        <p:nvSpPr>
          <p:cNvPr id="12" name="Text 119: Cloud UI + SDK"/>
          <p:cNvSpPr txBox="1"/>
          <p:nvPr/>
        </p:nvSpPr>
        <p:spPr>
          <a:xfrm>
            <a:off x="914400" y="3200400"/>
            <a:ext cx="2743200" cy="457200"/>
          </a:xfrm>
          <a:prstGeom prst="rect">
            <a:avLst/>
          </a:prstGeom>
          <a:noFill/>
          <a:ln/>
        </p:spPr>
        <p:txBody>
          <a:bodyPr wrap="square" lIns="0" tIns="0" rIns="0" bIns="0" rtlCol="0" anchor="ctr"/>
          <a:lstStyle/>
          <a:p>
            <a:pPr algn="ctr" indent="0" marL="0">
              <a:lnSpc>
                <a:spcPct val="106000"/>
              </a:lnSpc>
              <a:buNone/>
            </a:pPr>
            <a:r>
              <a:rPr lang="en-US" sz="2200" b="1" dirty="0">
                <a:solidFill>
                  <a:schemeClr val="bg1"/>
                </a:solidFill>
                <a:latin typeface="+mn-lt" pitchFamily="34" charset="0"/>
                <a:ea typeface="+mn-lt" pitchFamily="34" charset="-122"/>
                <a:cs typeface="+mn-lt" pitchFamily="34" charset="-120"/>
              </a:rPr>
              <a:t>Cloud UI + SDK</a:t>
            </a:r>
            <a:endParaRPr lang="en-US" sz="2200" dirty="0"/>
          </a:p>
        </p:txBody>
      </p:sp>
      <p:sp>
        <p:nvSpPr>
          <p:cNvPr id="13" name="Text 120: CloudDocumentService"/>
          <p:cNvSpPr txBox="1"/>
          <p:nvPr/>
        </p:nvSpPr>
        <p:spPr>
          <a:xfrm>
            <a:off x="914400" y="3657600"/>
            <a:ext cx="2743200" cy="457200"/>
          </a:xfrm>
          <a:prstGeom prst="rect">
            <a:avLst/>
          </a:prstGeom>
          <a:noFill/>
          <a:ln/>
        </p:spPr>
        <p:txBody>
          <a:bodyPr wrap="square" lIns="0" tIns="0" rIns="0" bIns="0" rtlCol="0" anchor="ctr"/>
          <a:lstStyle/>
          <a:p>
            <a:pPr algn="ctr" indent="0" marL="0">
              <a:lnSpc>
                <a:spcPct val="106000"/>
              </a:lnSpc>
              <a:buNone/>
            </a:pPr>
            <a:r>
              <a:rPr lang="en-US" sz="1800" dirty="0">
                <a:solidFill>
                  <a:schemeClr val="accent6"/>
                </a:solidFill>
                <a:latin typeface="+mn-lt" pitchFamily="34" charset="0"/>
                <a:ea typeface="+mn-lt" pitchFamily="34" charset="-122"/>
                <a:cs typeface="+mn-lt" pitchFamily="34" charset="-120"/>
              </a:rPr>
              <a:t>CloudDocumentService</a:t>
            </a:r>
            <a:endParaRPr lang="en-US" sz="1800" dirty="0"/>
          </a:p>
        </p:txBody>
      </p:sp>
      <p:sp>
        <p:nvSpPr>
          <p:cNvPr id="14" name="Content panel 121"/>
          <p:cNvSpPr/>
          <p:nvPr/>
        </p:nvSpPr>
        <p:spPr>
          <a:xfrm>
            <a:off x="800100" y="4572000"/>
            <a:ext cx="2971800" cy="1028700"/>
          </a:xfrm>
          <a:prstGeom prst="roundRect">
            <a:avLst>
              <a:gd name="adj" fmla="val 14222"/>
            </a:avLst>
          </a:prstGeom>
          <a:solidFill>
            <a:schemeClr val="bg1"/>
          </a:solidFill>
          <a:ln w="10160">
            <a:solidFill>
              <a:schemeClr val="accent6"/>
            </a:solidFill>
            <a:prstDash val="solid"/>
          </a:ln>
        </p:spPr>
      </p:sp>
      <p:sp>
        <p:nvSpPr>
          <p:cNvPr id="15" name="Text 122: SQLite offline"/>
          <p:cNvSpPr txBox="1"/>
          <p:nvPr/>
        </p:nvSpPr>
        <p:spPr>
          <a:xfrm>
            <a:off x="914400" y="4686300"/>
            <a:ext cx="2743200" cy="457200"/>
          </a:xfrm>
          <a:prstGeom prst="rect">
            <a:avLst/>
          </a:prstGeom>
          <a:noFill/>
          <a:ln/>
        </p:spPr>
        <p:txBody>
          <a:bodyPr wrap="square" lIns="0" tIns="0" rIns="0" bIns="0" rtlCol="0" anchor="ctr"/>
          <a:lstStyle/>
          <a:p>
            <a:pPr algn="ctr" indent="0" marL="0">
              <a:lnSpc>
                <a:spcPct val="106000"/>
              </a:lnSpc>
              <a:buNone/>
            </a:pPr>
            <a:r>
              <a:rPr lang="en-US" sz="2200" b="1" dirty="0">
                <a:solidFill>
                  <a:schemeClr val="tx1"/>
                </a:solidFill>
                <a:latin typeface="+mn-lt" pitchFamily="34" charset="0"/>
                <a:ea typeface="+mn-lt" pitchFamily="34" charset="-122"/>
                <a:cs typeface="+mn-lt" pitchFamily="34" charset="-120"/>
              </a:rPr>
              <a:t>SQLite offline</a:t>
            </a:r>
            <a:endParaRPr lang="en-US" sz="2200" dirty="0"/>
          </a:p>
        </p:txBody>
      </p:sp>
      <p:sp>
        <p:nvSpPr>
          <p:cNvPr id="16" name="Text 123: Độc lập, không tự sync"/>
          <p:cNvSpPr txBox="1"/>
          <p:nvPr/>
        </p:nvSpPr>
        <p:spPr>
          <a:xfrm>
            <a:off x="914400" y="5143500"/>
            <a:ext cx="2743200" cy="342900"/>
          </a:xfrm>
          <a:prstGeom prst="rect">
            <a:avLst/>
          </a:prstGeom>
          <a:noFill/>
          <a:ln/>
        </p:spPr>
        <p:txBody>
          <a:bodyPr wrap="square" lIns="0" tIns="0" rIns="0" bIns="0" rtlCol="0" anchor="ctr"/>
          <a:lstStyle/>
          <a:p>
            <a:pPr algn="ctr" indent="0" marL="0">
              <a:lnSpc>
                <a:spcPct val="106000"/>
              </a:lnSpc>
              <a:buNone/>
            </a:pPr>
            <a:r>
              <a:rPr lang="en-US" sz="1800" dirty="0">
                <a:solidFill>
                  <a:schemeClr val="tx2"/>
                </a:solidFill>
                <a:latin typeface="+mn-lt" pitchFamily="34" charset="0"/>
                <a:ea typeface="+mn-lt" pitchFamily="34" charset="-122"/>
                <a:cs typeface="+mn-lt" pitchFamily="34" charset="-120"/>
              </a:rPr>
              <a:t>Độc lập, không tự sync</a:t>
            </a:r>
            <a:endParaRPr lang="en-US" sz="1800" dirty="0"/>
          </a:p>
        </p:txBody>
      </p:sp>
      <p:sp>
        <p:nvSpPr>
          <p:cNvPr id="17" name="Content panel 124"/>
          <p:cNvSpPr/>
          <p:nvPr/>
        </p:nvSpPr>
        <p:spPr>
          <a:xfrm>
            <a:off x="5715000" y="2971800"/>
            <a:ext cx="5600700" cy="1028700"/>
          </a:xfrm>
          <a:prstGeom prst="roundRect">
            <a:avLst>
              <a:gd name="adj" fmla="val 14222"/>
            </a:avLst>
          </a:prstGeom>
          <a:solidFill>
            <a:schemeClr val="tx1"/>
          </a:solidFill>
          <a:ln w="10160">
            <a:solidFill>
              <a:schemeClr val="tx1"/>
            </a:solidFill>
            <a:prstDash val="solid"/>
          </a:ln>
        </p:spPr>
      </p:sp>
      <p:sp>
        <p:nvSpPr>
          <p:cNvPr id="18" name="Text 125: Auth + Google"/>
          <p:cNvSpPr txBox="1"/>
          <p:nvPr/>
        </p:nvSpPr>
        <p:spPr>
          <a:xfrm>
            <a:off x="5829300" y="3086100"/>
            <a:ext cx="5372100" cy="457200"/>
          </a:xfrm>
          <a:prstGeom prst="rect">
            <a:avLst/>
          </a:prstGeom>
          <a:noFill/>
          <a:ln/>
        </p:spPr>
        <p:txBody>
          <a:bodyPr wrap="square" lIns="0" tIns="0" rIns="0" bIns="0" rtlCol="0" anchor="ctr"/>
          <a:lstStyle/>
          <a:p>
            <a:pPr algn="ctr" indent="0" marL="0">
              <a:lnSpc>
                <a:spcPct val="106000"/>
              </a:lnSpc>
              <a:buNone/>
            </a:pPr>
            <a:r>
              <a:rPr lang="en-US" sz="2200" b="1" dirty="0">
                <a:solidFill>
                  <a:schemeClr val="bg1"/>
                </a:solidFill>
                <a:latin typeface="+mn-lt" pitchFamily="34" charset="0"/>
                <a:ea typeface="+mn-lt" pitchFamily="34" charset="-122"/>
                <a:cs typeface="+mn-lt" pitchFamily="34" charset="-120"/>
              </a:rPr>
              <a:t>Auth + Google</a:t>
            </a:r>
            <a:endParaRPr lang="en-US" sz="2200" dirty="0"/>
          </a:p>
        </p:txBody>
      </p:sp>
      <p:sp>
        <p:nvSpPr>
          <p:cNvPr id="19" name="Text 126: UID của người dùng"/>
          <p:cNvSpPr txBox="1"/>
          <p:nvPr/>
        </p:nvSpPr>
        <p:spPr>
          <a:xfrm>
            <a:off x="5829300" y="3543300"/>
            <a:ext cx="5372100" cy="342900"/>
          </a:xfrm>
          <a:prstGeom prst="rect">
            <a:avLst/>
          </a:prstGeom>
          <a:noFill/>
          <a:ln/>
        </p:spPr>
        <p:txBody>
          <a:bodyPr wrap="square" lIns="0" tIns="0" rIns="0" bIns="0" rtlCol="0" anchor="ctr"/>
          <a:lstStyle/>
          <a:p>
            <a:pPr algn="ctr" indent="0" marL="0">
              <a:lnSpc>
                <a:spcPct val="106000"/>
              </a:lnSpc>
              <a:buNone/>
            </a:pPr>
            <a:r>
              <a:rPr lang="en-US" sz="1800" dirty="0">
                <a:solidFill>
                  <a:schemeClr val="accent6"/>
                </a:solidFill>
                <a:latin typeface="+mn-lt" pitchFamily="34" charset="0"/>
                <a:ea typeface="+mn-lt" pitchFamily="34" charset="-122"/>
                <a:cs typeface="+mn-lt" pitchFamily="34" charset="-120"/>
              </a:rPr>
              <a:t>UID của người dùng</a:t>
            </a:r>
            <a:endParaRPr lang="en-US" sz="1800" dirty="0"/>
          </a:p>
        </p:txBody>
      </p:sp>
      <p:sp>
        <p:nvSpPr>
          <p:cNvPr id="20" name="Content panel 127"/>
          <p:cNvSpPr/>
          <p:nvPr/>
        </p:nvSpPr>
        <p:spPr>
          <a:xfrm>
            <a:off x="5715000" y="4457700"/>
            <a:ext cx="2628900" cy="1143000"/>
          </a:xfrm>
          <a:prstGeom prst="roundRect">
            <a:avLst>
              <a:gd name="adj" fmla="val 12800"/>
            </a:avLst>
          </a:prstGeom>
          <a:solidFill>
            <a:schemeClr val="bg1"/>
          </a:solidFill>
          <a:ln w="10160">
            <a:solidFill>
              <a:schemeClr val="accent6"/>
            </a:solidFill>
            <a:prstDash val="solid"/>
          </a:ln>
        </p:spPr>
      </p:sp>
      <p:sp>
        <p:nvSpPr>
          <p:cNvPr id="21" name="Text 128: Firestore"/>
          <p:cNvSpPr txBox="1"/>
          <p:nvPr/>
        </p:nvSpPr>
        <p:spPr>
          <a:xfrm>
            <a:off x="5829300" y="4572000"/>
            <a:ext cx="2400300" cy="457200"/>
          </a:xfrm>
          <a:prstGeom prst="rect">
            <a:avLst/>
          </a:prstGeom>
          <a:noFill/>
          <a:ln/>
        </p:spPr>
        <p:txBody>
          <a:bodyPr wrap="square" lIns="0" tIns="0" rIns="0" bIns="0" rtlCol="0" anchor="ctr"/>
          <a:lstStyle/>
          <a:p>
            <a:pPr algn="ctr" indent="0" marL="0">
              <a:lnSpc>
                <a:spcPct val="106000"/>
              </a:lnSpc>
              <a:buNone/>
            </a:pPr>
            <a:r>
              <a:rPr lang="en-US" sz="2200" b="1" dirty="0">
                <a:solidFill>
                  <a:schemeClr val="tx1"/>
                </a:solidFill>
                <a:latin typeface="+mn-lt" pitchFamily="34" charset="0"/>
                <a:ea typeface="+mn-lt" pitchFamily="34" charset="-122"/>
                <a:cs typeface="+mn-lt" pitchFamily="34" charset="-120"/>
              </a:rPr>
              <a:t>Firestore</a:t>
            </a:r>
            <a:endParaRPr lang="en-US" sz="2200" dirty="0"/>
          </a:p>
        </p:txBody>
      </p:sp>
      <p:sp>
        <p:nvSpPr>
          <p:cNvPr id="22" name="Text 129: Metadata theo UID"/>
          <p:cNvSpPr txBox="1"/>
          <p:nvPr/>
        </p:nvSpPr>
        <p:spPr>
          <a:xfrm>
            <a:off x="5829300" y="5029200"/>
            <a:ext cx="2400300" cy="457200"/>
          </a:xfrm>
          <a:prstGeom prst="rect">
            <a:avLst/>
          </a:prstGeom>
          <a:noFill/>
          <a:ln/>
        </p:spPr>
        <p:txBody>
          <a:bodyPr wrap="square" lIns="0" tIns="0" rIns="0" bIns="0" rtlCol="0" anchor="ctr"/>
          <a:lstStyle/>
          <a:p>
            <a:pPr algn="ctr" indent="0" marL="0">
              <a:lnSpc>
                <a:spcPct val="106000"/>
              </a:lnSpc>
              <a:buNone/>
            </a:pPr>
            <a:r>
              <a:rPr lang="en-US" sz="1800" dirty="0">
                <a:solidFill>
                  <a:schemeClr val="tx2"/>
                </a:solidFill>
                <a:latin typeface="+mn-lt" pitchFamily="34" charset="0"/>
                <a:ea typeface="+mn-lt" pitchFamily="34" charset="-122"/>
                <a:cs typeface="+mn-lt" pitchFamily="34" charset="-120"/>
              </a:rPr>
              <a:t>Metadata</a:t>
            </a:r>
            <a:endParaRPr lang="en-US" sz="1800" dirty="0"/>
          </a:p>
          <a:p>
            <a:pPr algn="ctr" indent="0" marL="0">
              <a:lnSpc>
                <a:spcPct val="106000"/>
              </a:lnSpc>
              <a:buNone/>
            </a:pPr>
            <a:r>
              <a:rPr lang="en-US" sz="1800" dirty="0">
                <a:solidFill>
                  <a:schemeClr val="tx2"/>
                </a:solidFill>
                <a:latin typeface="+mn-lt" pitchFamily="34" charset="0"/>
                <a:ea typeface="+mn-lt" pitchFamily="34" charset="-122"/>
                <a:cs typeface="+mn-lt" pitchFamily="34" charset="-120"/>
              </a:rPr>
              <a:t>theo UID</a:t>
            </a:r>
            <a:endParaRPr lang="en-US" sz="1800" dirty="0"/>
          </a:p>
        </p:txBody>
      </p:sp>
      <p:sp>
        <p:nvSpPr>
          <p:cNvPr id="23" name="Content panel 130"/>
          <p:cNvSpPr/>
          <p:nvPr/>
        </p:nvSpPr>
        <p:spPr>
          <a:xfrm>
            <a:off x="8686800" y="4457700"/>
            <a:ext cx="2628900" cy="1143000"/>
          </a:xfrm>
          <a:prstGeom prst="roundRect">
            <a:avLst>
              <a:gd name="adj" fmla="val 12800"/>
            </a:avLst>
          </a:prstGeom>
          <a:solidFill>
            <a:schemeClr val="bg1"/>
          </a:solidFill>
          <a:ln w="10160">
            <a:solidFill>
              <a:schemeClr val="accent6"/>
            </a:solidFill>
            <a:prstDash val="solid"/>
          </a:ln>
        </p:spPr>
      </p:sp>
      <p:sp>
        <p:nvSpPr>
          <p:cNvPr id="24" name="Text 131: Storage"/>
          <p:cNvSpPr txBox="1"/>
          <p:nvPr/>
        </p:nvSpPr>
        <p:spPr>
          <a:xfrm>
            <a:off x="8801100" y="4572000"/>
            <a:ext cx="2400300" cy="457200"/>
          </a:xfrm>
          <a:prstGeom prst="rect">
            <a:avLst/>
          </a:prstGeom>
          <a:noFill/>
          <a:ln/>
        </p:spPr>
        <p:txBody>
          <a:bodyPr wrap="square" lIns="0" tIns="0" rIns="0" bIns="0" rtlCol="0" anchor="ctr"/>
          <a:lstStyle/>
          <a:p>
            <a:pPr algn="ctr" indent="0" marL="0">
              <a:lnSpc>
                <a:spcPct val="106000"/>
              </a:lnSpc>
              <a:buNone/>
            </a:pPr>
            <a:r>
              <a:rPr lang="en-US" sz="2200" b="1" dirty="0">
                <a:solidFill>
                  <a:schemeClr val="tx1"/>
                </a:solidFill>
                <a:latin typeface="+mn-lt" pitchFamily="34" charset="0"/>
                <a:ea typeface="+mn-lt" pitchFamily="34" charset="-122"/>
                <a:cs typeface="+mn-lt" pitchFamily="34" charset="-120"/>
              </a:rPr>
              <a:t>Storage</a:t>
            </a:r>
            <a:endParaRPr lang="en-US" sz="2200" dirty="0"/>
          </a:p>
        </p:txBody>
      </p:sp>
      <p:sp>
        <p:nvSpPr>
          <p:cNvPr id="25" name="Text 132: Binary theo UID"/>
          <p:cNvSpPr txBox="1"/>
          <p:nvPr/>
        </p:nvSpPr>
        <p:spPr>
          <a:xfrm>
            <a:off x="8801100" y="5029200"/>
            <a:ext cx="2400300" cy="457200"/>
          </a:xfrm>
          <a:prstGeom prst="rect">
            <a:avLst/>
          </a:prstGeom>
          <a:noFill/>
          <a:ln/>
        </p:spPr>
        <p:txBody>
          <a:bodyPr wrap="square" lIns="0" tIns="0" rIns="0" bIns="0" rtlCol="0" anchor="ctr"/>
          <a:lstStyle/>
          <a:p>
            <a:pPr algn="ctr" indent="0" marL="0">
              <a:lnSpc>
                <a:spcPct val="106000"/>
              </a:lnSpc>
              <a:buNone/>
            </a:pPr>
            <a:r>
              <a:rPr lang="en-US" sz="1800" dirty="0">
                <a:solidFill>
                  <a:schemeClr val="tx2"/>
                </a:solidFill>
                <a:latin typeface="+mn-lt" pitchFamily="34" charset="0"/>
                <a:ea typeface="+mn-lt" pitchFamily="34" charset="-122"/>
                <a:cs typeface="+mn-lt" pitchFamily="34" charset="-120"/>
              </a:rPr>
              <a:t>Binary</a:t>
            </a:r>
            <a:endParaRPr lang="en-US" sz="1800" dirty="0"/>
          </a:p>
          <a:p>
            <a:pPr algn="ctr" indent="0" marL="0">
              <a:lnSpc>
                <a:spcPct val="106000"/>
              </a:lnSpc>
              <a:buNone/>
            </a:pPr>
            <a:r>
              <a:rPr lang="en-US" sz="1800" dirty="0">
                <a:solidFill>
                  <a:schemeClr val="tx2"/>
                </a:solidFill>
                <a:latin typeface="+mn-lt" pitchFamily="34" charset="0"/>
                <a:ea typeface="+mn-lt" pitchFamily="34" charset="-122"/>
                <a:cs typeface="+mn-lt" pitchFamily="34" charset="-120"/>
              </a:rPr>
              <a:t>theo UID</a:t>
            </a:r>
            <a:endParaRPr lang="en-US" sz="1800" dirty="0"/>
          </a:p>
        </p:txBody>
      </p:sp>
      <p:sp>
        <p:nvSpPr>
          <p:cNvPr id="26" name="Data flow 133"/>
          <p:cNvSpPr/>
          <p:nvPr/>
        </p:nvSpPr>
        <p:spPr>
          <a:xfrm>
            <a:off x="3771900" y="3657600"/>
            <a:ext cx="800100" cy="0"/>
          </a:xfrm>
          <a:prstGeom prst="line">
            <a:avLst/>
          </a:prstGeom>
          <a:noFill/>
          <a:ln w="22860">
            <a:solidFill>
              <a:schemeClr val="accent1"/>
            </a:solidFill>
            <a:prstDash val="solid"/>
            <a:tailEnd type="triangle"/>
          </a:ln>
        </p:spPr>
      </p:sp>
      <p:sp>
        <p:nvSpPr>
          <p:cNvPr id="27" name="Data flow 134"/>
          <p:cNvSpPr/>
          <p:nvPr/>
        </p:nvSpPr>
        <p:spPr>
          <a:xfrm>
            <a:off x="4572000" y="3314700"/>
            <a:ext cx="0" cy="1714500"/>
          </a:xfrm>
          <a:prstGeom prst="line">
            <a:avLst/>
          </a:prstGeom>
          <a:noFill/>
          <a:ln w="22860">
            <a:solidFill>
              <a:schemeClr val="accent1"/>
            </a:solidFill>
            <a:prstDash val="solid"/>
            <a:tailEnd type="triangle"/>
          </a:ln>
        </p:spPr>
      </p:sp>
      <p:sp>
        <p:nvSpPr>
          <p:cNvPr id="28" name="Data flow 135"/>
          <p:cNvSpPr/>
          <p:nvPr/>
        </p:nvSpPr>
        <p:spPr>
          <a:xfrm>
            <a:off x="4572000" y="3314700"/>
            <a:ext cx="1143000" cy="0"/>
          </a:xfrm>
          <a:prstGeom prst="line">
            <a:avLst/>
          </a:prstGeom>
          <a:noFill/>
          <a:ln w="22860">
            <a:solidFill>
              <a:schemeClr val="accent1"/>
            </a:solidFill>
            <a:prstDash val="solid"/>
            <a:tailEnd type="triangle"/>
          </a:ln>
        </p:spPr>
      </p:sp>
      <p:sp>
        <p:nvSpPr>
          <p:cNvPr id="29" name="Data flow 136"/>
          <p:cNvSpPr/>
          <p:nvPr/>
        </p:nvSpPr>
        <p:spPr>
          <a:xfrm>
            <a:off x="4572000" y="5029200"/>
            <a:ext cx="1143000" cy="0"/>
          </a:xfrm>
          <a:prstGeom prst="line">
            <a:avLst/>
          </a:prstGeom>
          <a:noFill/>
          <a:ln w="22860">
            <a:solidFill>
              <a:schemeClr val="accent1"/>
            </a:solidFill>
            <a:prstDash val="solid"/>
            <a:tailEnd type="triangle"/>
          </a:ln>
        </p:spPr>
      </p:sp>
      <p:sp>
        <p:nvSpPr>
          <p:cNvPr id="30" name="Data flow 137"/>
          <p:cNvSpPr/>
          <p:nvPr/>
        </p:nvSpPr>
        <p:spPr>
          <a:xfrm>
            <a:off x="4572000" y="4229100"/>
            <a:ext cx="5429250" cy="0"/>
          </a:xfrm>
          <a:prstGeom prst="line">
            <a:avLst/>
          </a:prstGeom>
          <a:noFill/>
          <a:ln w="22860">
            <a:solidFill>
              <a:schemeClr val="accent1"/>
            </a:solidFill>
            <a:prstDash val="solid"/>
            <a:tailEnd type="triangle"/>
          </a:ln>
        </p:spPr>
      </p:sp>
      <p:sp>
        <p:nvSpPr>
          <p:cNvPr id="31" name="Data flow 138"/>
          <p:cNvSpPr/>
          <p:nvPr/>
        </p:nvSpPr>
        <p:spPr>
          <a:xfrm>
            <a:off x="10001250" y="4229100"/>
            <a:ext cx="0" cy="228600"/>
          </a:xfrm>
          <a:prstGeom prst="line">
            <a:avLst/>
          </a:prstGeom>
          <a:noFill/>
          <a:ln w="22860">
            <a:solidFill>
              <a:schemeClr val="accent1"/>
            </a:solidFill>
            <a:prstDash val="solid"/>
            <a:tailEnd type="triangle"/>
          </a:ln>
        </p:spPr>
      </p:sp>
      <p:sp>
        <p:nvSpPr>
          <p:cNvPr id="32" name="Text 139: SDK"/>
          <p:cNvSpPr txBox="1"/>
          <p:nvPr/>
        </p:nvSpPr>
        <p:spPr>
          <a:xfrm>
            <a:off x="4114800" y="2743200"/>
            <a:ext cx="914400" cy="342900"/>
          </a:xfrm>
          <a:prstGeom prst="rect">
            <a:avLst/>
          </a:prstGeom>
          <a:noFill/>
          <a:ln/>
        </p:spPr>
        <p:txBody>
          <a:bodyPr wrap="square" lIns="0" tIns="0" rIns="0" bIns="0" rtlCol="0" anchor="t"/>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SDK</a:t>
            </a:r>
            <a:endParaRPr lang="en-US" sz="1800" dirty="0"/>
          </a:p>
        </p:txBody>
      </p:sp>
      <p:sp>
        <p:nvSpPr>
          <p:cNvPr id="33" name="Text 140: Rules kiểm tra UID / đường dẫn / dữ liệu"/>
          <p:cNvSpPr txBox="1"/>
          <p:nvPr/>
        </p:nvSpPr>
        <p:spPr>
          <a:xfrm>
            <a:off x="5600700" y="5715000"/>
            <a:ext cx="57150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Rules kiểm tra UID / đường dẫn / dữ liệu</a:t>
            </a:r>
            <a:endParaRPr lang="en-US" sz="12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Ba luồng dữ liệu chính</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02 | THIẾT KẾ TÍCH HỢP</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Đăng nhập → danh tính; upload → binary + metadata; download → byte được xác thực</a:t>
            </a:r>
            <a:endParaRPr lang="en-US" sz="1800" dirty="0"/>
          </a:p>
        </p:txBody>
      </p:sp>
      <p:sp>
        <p:nvSpPr>
          <p:cNvPr id="5" name="Text 141: Nguồn: F2 · F4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F2 · F4 | URL đầy đủ trong ghi chú và slide 18</a:t>
            </a:r>
            <a:endParaRPr lang="en-US" sz="1200" dirty="0"/>
          </a:p>
        </p:txBody>
      </p:sp>
      <p:sp>
        <p:nvSpPr>
          <p:cNvPr id="7" name="Content panel 142"/>
          <p:cNvSpPr/>
          <p:nvPr/>
        </p:nvSpPr>
        <p:spPr>
          <a:xfrm>
            <a:off x="571500" y="2171700"/>
            <a:ext cx="11087100" cy="914400"/>
          </a:xfrm>
          <a:prstGeom prst="roundRect">
            <a:avLst>
              <a:gd name="adj" fmla="val 16000"/>
            </a:avLst>
          </a:prstGeom>
          <a:solidFill>
            <a:schemeClr val="bg2"/>
          </a:solidFill>
          <a:ln w="10160">
            <a:solidFill>
              <a:schemeClr val="bg2"/>
            </a:solidFill>
            <a:prstDash val="solid"/>
          </a:ln>
        </p:spPr>
      </p:sp>
      <p:sp>
        <p:nvSpPr>
          <p:cNvPr id="8" name="Text 143: 1  Đăng nhập"/>
          <p:cNvSpPr txBox="1"/>
          <p:nvPr/>
        </p:nvSpPr>
        <p:spPr>
          <a:xfrm>
            <a:off x="800100" y="2400300"/>
            <a:ext cx="2057400" cy="457200"/>
          </a:xfrm>
          <a:prstGeom prst="rect">
            <a:avLst/>
          </a:prstGeom>
          <a:noFill/>
          <a:ln/>
        </p:spPr>
        <p:txBody>
          <a:bodyPr wrap="square" lIns="0" tIns="0" rIns="0" bIns="0" rtlCol="0" anchor="ctr"/>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1  Đăng nhập</a:t>
            </a:r>
            <a:endParaRPr lang="en-US" sz="2000" dirty="0"/>
          </a:p>
        </p:txBody>
      </p:sp>
      <p:sp>
        <p:nvSpPr>
          <p:cNvPr id="9" name="Content panel 144"/>
          <p:cNvSpPr/>
          <p:nvPr/>
        </p:nvSpPr>
        <p:spPr>
          <a:xfrm>
            <a:off x="2971800" y="2286000"/>
            <a:ext cx="1828800" cy="685800"/>
          </a:xfrm>
          <a:prstGeom prst="roundRect">
            <a:avLst>
              <a:gd name="adj" fmla="val 21333"/>
            </a:avLst>
          </a:prstGeom>
          <a:solidFill>
            <a:schemeClr val="bg1"/>
          </a:solidFill>
          <a:ln w="10160">
            <a:solidFill>
              <a:schemeClr val="accent6"/>
            </a:solidFill>
            <a:prstDash val="solid"/>
          </a:ln>
        </p:spPr>
      </p:sp>
      <p:sp>
        <p:nvSpPr>
          <p:cNvPr id="10" name="Text 145: Google"/>
          <p:cNvSpPr txBox="1"/>
          <p:nvPr/>
        </p:nvSpPr>
        <p:spPr>
          <a:xfrm>
            <a:off x="3028950" y="2343150"/>
            <a:ext cx="17145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Google</a:t>
            </a:r>
            <a:endParaRPr lang="en-US" sz="1800" dirty="0"/>
          </a:p>
        </p:txBody>
      </p:sp>
      <p:sp>
        <p:nvSpPr>
          <p:cNvPr id="11" name="Data flow 146"/>
          <p:cNvSpPr/>
          <p:nvPr/>
        </p:nvSpPr>
        <p:spPr>
          <a:xfrm>
            <a:off x="4800600" y="2628900"/>
            <a:ext cx="457200" cy="0"/>
          </a:xfrm>
          <a:prstGeom prst="line">
            <a:avLst/>
          </a:prstGeom>
          <a:noFill/>
          <a:ln w="22860">
            <a:solidFill>
              <a:schemeClr val="tx2"/>
            </a:solidFill>
            <a:prstDash val="solid"/>
            <a:tailEnd type="triangle"/>
          </a:ln>
        </p:spPr>
      </p:sp>
      <p:sp>
        <p:nvSpPr>
          <p:cNvPr id="12" name="Content panel 147"/>
          <p:cNvSpPr/>
          <p:nvPr/>
        </p:nvSpPr>
        <p:spPr>
          <a:xfrm>
            <a:off x="5257800" y="2286000"/>
            <a:ext cx="2057400" cy="685800"/>
          </a:xfrm>
          <a:prstGeom prst="roundRect">
            <a:avLst>
              <a:gd name="adj" fmla="val 21333"/>
            </a:avLst>
          </a:prstGeom>
          <a:solidFill>
            <a:schemeClr val="bg1"/>
          </a:solidFill>
          <a:ln w="10160">
            <a:solidFill>
              <a:schemeClr val="accent6"/>
            </a:solidFill>
            <a:prstDash val="solid"/>
          </a:ln>
        </p:spPr>
      </p:sp>
      <p:sp>
        <p:nvSpPr>
          <p:cNvPr id="13" name="Text 148: Firebase Auth"/>
          <p:cNvSpPr txBox="1"/>
          <p:nvPr/>
        </p:nvSpPr>
        <p:spPr>
          <a:xfrm>
            <a:off x="5314950" y="2343150"/>
            <a:ext cx="19431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Firebase Auth</a:t>
            </a:r>
            <a:endParaRPr lang="en-US" sz="1800" dirty="0"/>
          </a:p>
        </p:txBody>
      </p:sp>
      <p:sp>
        <p:nvSpPr>
          <p:cNvPr id="14" name="Data flow 149"/>
          <p:cNvSpPr/>
          <p:nvPr/>
        </p:nvSpPr>
        <p:spPr>
          <a:xfrm>
            <a:off x="7315200" y="2628900"/>
            <a:ext cx="457200" cy="0"/>
          </a:xfrm>
          <a:prstGeom prst="line">
            <a:avLst/>
          </a:prstGeom>
          <a:noFill/>
          <a:ln w="22860">
            <a:solidFill>
              <a:schemeClr val="tx2"/>
            </a:solidFill>
            <a:prstDash val="solid"/>
            <a:tailEnd type="triangle"/>
          </a:ln>
        </p:spPr>
      </p:sp>
      <p:sp>
        <p:nvSpPr>
          <p:cNvPr id="15" name="Content panel 150"/>
          <p:cNvSpPr/>
          <p:nvPr/>
        </p:nvSpPr>
        <p:spPr>
          <a:xfrm>
            <a:off x="7772400" y="2286000"/>
            <a:ext cx="1485900" cy="685800"/>
          </a:xfrm>
          <a:prstGeom prst="roundRect">
            <a:avLst>
              <a:gd name="adj" fmla="val 21333"/>
            </a:avLst>
          </a:prstGeom>
          <a:solidFill>
            <a:schemeClr val="bg1"/>
          </a:solidFill>
          <a:ln w="10160">
            <a:solidFill>
              <a:schemeClr val="accent6"/>
            </a:solidFill>
            <a:prstDash val="solid"/>
          </a:ln>
        </p:spPr>
      </p:sp>
      <p:sp>
        <p:nvSpPr>
          <p:cNvPr id="16" name="Text 151: UID"/>
          <p:cNvSpPr txBox="1"/>
          <p:nvPr/>
        </p:nvSpPr>
        <p:spPr>
          <a:xfrm>
            <a:off x="7829550" y="2343150"/>
            <a:ext cx="13716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UID</a:t>
            </a:r>
            <a:endParaRPr lang="en-US" sz="1800" dirty="0"/>
          </a:p>
        </p:txBody>
      </p:sp>
      <p:sp>
        <p:nvSpPr>
          <p:cNvPr id="17" name="Data flow 152"/>
          <p:cNvSpPr/>
          <p:nvPr/>
        </p:nvSpPr>
        <p:spPr>
          <a:xfrm>
            <a:off x="9258300" y="2628900"/>
            <a:ext cx="457200" cy="0"/>
          </a:xfrm>
          <a:prstGeom prst="line">
            <a:avLst/>
          </a:prstGeom>
          <a:noFill/>
          <a:ln w="22860">
            <a:solidFill>
              <a:schemeClr val="tx2"/>
            </a:solidFill>
            <a:prstDash val="solid"/>
            <a:tailEnd type="triangle"/>
          </a:ln>
        </p:spPr>
      </p:sp>
      <p:sp>
        <p:nvSpPr>
          <p:cNvPr id="18" name="Content panel 153"/>
          <p:cNvSpPr/>
          <p:nvPr/>
        </p:nvSpPr>
        <p:spPr>
          <a:xfrm>
            <a:off x="9715500" y="2286000"/>
            <a:ext cx="1943100" cy="685800"/>
          </a:xfrm>
          <a:prstGeom prst="roundRect">
            <a:avLst>
              <a:gd name="adj" fmla="val 21333"/>
            </a:avLst>
          </a:prstGeom>
          <a:solidFill>
            <a:schemeClr val="accent1"/>
          </a:solidFill>
          <a:ln w="10160">
            <a:solidFill>
              <a:schemeClr val="accent1"/>
            </a:solidFill>
            <a:prstDash val="solid"/>
          </a:ln>
        </p:spPr>
      </p:sp>
      <p:sp>
        <p:nvSpPr>
          <p:cNvPr id="19" name="Text 154: Kho riêng"/>
          <p:cNvSpPr txBox="1"/>
          <p:nvPr/>
        </p:nvSpPr>
        <p:spPr>
          <a:xfrm>
            <a:off x="9772650" y="2343150"/>
            <a:ext cx="1828800" cy="571500"/>
          </a:xfrm>
          <a:prstGeom prst="rect">
            <a:avLst/>
          </a:prstGeom>
          <a:noFill/>
          <a:ln/>
        </p:spPr>
        <p:txBody>
          <a:bodyPr wrap="square" lIns="0" tIns="0" rIns="0" bIns="0" rtlCol="0" anchor="ctr"/>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Kho riêng</a:t>
            </a:r>
            <a:endParaRPr lang="en-US" sz="1800" dirty="0"/>
          </a:p>
        </p:txBody>
      </p:sp>
      <p:sp>
        <p:nvSpPr>
          <p:cNvPr id="20" name="Content panel 155"/>
          <p:cNvSpPr/>
          <p:nvPr/>
        </p:nvSpPr>
        <p:spPr>
          <a:xfrm>
            <a:off x="571500" y="3314700"/>
            <a:ext cx="11087100" cy="914400"/>
          </a:xfrm>
          <a:prstGeom prst="roundRect">
            <a:avLst>
              <a:gd name="adj" fmla="val 16000"/>
            </a:avLst>
          </a:prstGeom>
          <a:solidFill>
            <a:schemeClr val="bg2"/>
          </a:solidFill>
          <a:ln w="10160">
            <a:solidFill>
              <a:schemeClr val="bg2"/>
            </a:solidFill>
            <a:prstDash val="solid"/>
          </a:ln>
        </p:spPr>
      </p:sp>
      <p:sp>
        <p:nvSpPr>
          <p:cNvPr id="21" name="Text 156: 2  Upload"/>
          <p:cNvSpPr txBox="1"/>
          <p:nvPr/>
        </p:nvSpPr>
        <p:spPr>
          <a:xfrm>
            <a:off x="800100" y="3543300"/>
            <a:ext cx="2057400" cy="457200"/>
          </a:xfrm>
          <a:prstGeom prst="rect">
            <a:avLst/>
          </a:prstGeom>
          <a:noFill/>
          <a:ln/>
        </p:spPr>
        <p:txBody>
          <a:bodyPr wrap="square" lIns="0" tIns="0" rIns="0" bIns="0" rtlCol="0" anchor="ctr"/>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2  Upload</a:t>
            </a:r>
            <a:endParaRPr lang="en-US" sz="2000" dirty="0"/>
          </a:p>
        </p:txBody>
      </p:sp>
      <p:sp>
        <p:nvSpPr>
          <p:cNvPr id="22" name="Content panel 157"/>
          <p:cNvSpPr/>
          <p:nvPr/>
        </p:nvSpPr>
        <p:spPr>
          <a:xfrm>
            <a:off x="2971800" y="3429000"/>
            <a:ext cx="1828800" cy="685800"/>
          </a:xfrm>
          <a:prstGeom prst="roundRect">
            <a:avLst>
              <a:gd name="adj" fmla="val 21333"/>
            </a:avLst>
          </a:prstGeom>
          <a:solidFill>
            <a:schemeClr val="bg1"/>
          </a:solidFill>
          <a:ln w="10160">
            <a:solidFill>
              <a:schemeClr val="accent6"/>
            </a:solidFill>
            <a:prstDash val="solid"/>
          </a:ln>
        </p:spPr>
      </p:sp>
      <p:sp>
        <p:nvSpPr>
          <p:cNvPr id="23" name="Text 158: Tệp ≤10 MiB"/>
          <p:cNvSpPr txBox="1"/>
          <p:nvPr/>
        </p:nvSpPr>
        <p:spPr>
          <a:xfrm>
            <a:off x="3028950" y="3486150"/>
            <a:ext cx="17145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Tệp ≤10 MiB</a:t>
            </a:r>
            <a:endParaRPr lang="en-US" sz="1800" dirty="0"/>
          </a:p>
        </p:txBody>
      </p:sp>
      <p:sp>
        <p:nvSpPr>
          <p:cNvPr id="24" name="Data flow 159"/>
          <p:cNvSpPr/>
          <p:nvPr/>
        </p:nvSpPr>
        <p:spPr>
          <a:xfrm>
            <a:off x="4800600" y="3771900"/>
            <a:ext cx="457200" cy="0"/>
          </a:xfrm>
          <a:prstGeom prst="line">
            <a:avLst/>
          </a:prstGeom>
          <a:noFill/>
          <a:ln w="22860">
            <a:solidFill>
              <a:schemeClr val="tx2"/>
            </a:solidFill>
            <a:prstDash val="solid"/>
            <a:tailEnd type="triangle"/>
          </a:ln>
        </p:spPr>
      </p:sp>
      <p:sp>
        <p:nvSpPr>
          <p:cNvPr id="25" name="Content panel 160"/>
          <p:cNvSpPr/>
          <p:nvPr/>
        </p:nvSpPr>
        <p:spPr>
          <a:xfrm>
            <a:off x="5257800" y="3429000"/>
            <a:ext cx="2057400" cy="685800"/>
          </a:xfrm>
          <a:prstGeom prst="roundRect">
            <a:avLst>
              <a:gd name="adj" fmla="val 21333"/>
            </a:avLst>
          </a:prstGeom>
          <a:solidFill>
            <a:schemeClr val="bg1"/>
          </a:solidFill>
          <a:ln w="10160">
            <a:solidFill>
              <a:schemeClr val="accent6"/>
            </a:solidFill>
            <a:prstDash val="solid"/>
          </a:ln>
        </p:spPr>
      </p:sp>
      <p:sp>
        <p:nvSpPr>
          <p:cNvPr id="26" name="Text 161: putData()"/>
          <p:cNvSpPr txBox="1"/>
          <p:nvPr/>
        </p:nvSpPr>
        <p:spPr>
          <a:xfrm>
            <a:off x="5314950" y="3486150"/>
            <a:ext cx="19431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putData()</a:t>
            </a:r>
            <a:endParaRPr lang="en-US" sz="1800" dirty="0"/>
          </a:p>
        </p:txBody>
      </p:sp>
      <p:sp>
        <p:nvSpPr>
          <p:cNvPr id="27" name="Data flow 162"/>
          <p:cNvSpPr/>
          <p:nvPr/>
        </p:nvSpPr>
        <p:spPr>
          <a:xfrm>
            <a:off x="7315200" y="3771900"/>
            <a:ext cx="457200" cy="0"/>
          </a:xfrm>
          <a:prstGeom prst="line">
            <a:avLst/>
          </a:prstGeom>
          <a:noFill/>
          <a:ln w="22860">
            <a:solidFill>
              <a:schemeClr val="tx2"/>
            </a:solidFill>
            <a:prstDash val="solid"/>
            <a:tailEnd type="triangle"/>
          </a:ln>
        </p:spPr>
      </p:sp>
      <p:sp>
        <p:nvSpPr>
          <p:cNvPr id="28" name="Content panel 163"/>
          <p:cNvSpPr/>
          <p:nvPr/>
        </p:nvSpPr>
        <p:spPr>
          <a:xfrm>
            <a:off x="7772400" y="3429000"/>
            <a:ext cx="1485900" cy="685800"/>
          </a:xfrm>
          <a:prstGeom prst="roundRect">
            <a:avLst>
              <a:gd name="adj" fmla="val 21333"/>
            </a:avLst>
          </a:prstGeom>
          <a:solidFill>
            <a:schemeClr val="bg1"/>
          </a:solidFill>
          <a:ln w="10160">
            <a:solidFill>
              <a:schemeClr val="accent6"/>
            </a:solidFill>
            <a:prstDash val="solid"/>
          </a:ln>
        </p:spPr>
      </p:sp>
      <p:sp>
        <p:nvSpPr>
          <p:cNvPr id="29" name="Text 164: doc.set()"/>
          <p:cNvSpPr txBox="1"/>
          <p:nvPr/>
        </p:nvSpPr>
        <p:spPr>
          <a:xfrm>
            <a:off x="7829550" y="3486150"/>
            <a:ext cx="13716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doc.set()</a:t>
            </a:r>
            <a:endParaRPr lang="en-US" sz="1800" dirty="0"/>
          </a:p>
        </p:txBody>
      </p:sp>
      <p:sp>
        <p:nvSpPr>
          <p:cNvPr id="30" name="Data flow 165"/>
          <p:cNvSpPr/>
          <p:nvPr/>
        </p:nvSpPr>
        <p:spPr>
          <a:xfrm>
            <a:off x="9258300" y="3771900"/>
            <a:ext cx="457200" cy="0"/>
          </a:xfrm>
          <a:prstGeom prst="line">
            <a:avLst/>
          </a:prstGeom>
          <a:noFill/>
          <a:ln w="22860">
            <a:solidFill>
              <a:schemeClr val="tx2"/>
            </a:solidFill>
            <a:prstDash val="solid"/>
            <a:tailEnd type="triangle"/>
          </a:ln>
        </p:spPr>
      </p:sp>
      <p:sp>
        <p:nvSpPr>
          <p:cNvPr id="31" name="Content panel 166"/>
          <p:cNvSpPr/>
          <p:nvPr/>
        </p:nvSpPr>
        <p:spPr>
          <a:xfrm>
            <a:off x="9715500" y="3429000"/>
            <a:ext cx="1943100" cy="685800"/>
          </a:xfrm>
          <a:prstGeom prst="roundRect">
            <a:avLst>
              <a:gd name="adj" fmla="val 21333"/>
            </a:avLst>
          </a:prstGeom>
          <a:solidFill>
            <a:schemeClr val="accent1"/>
          </a:solidFill>
          <a:ln w="10160">
            <a:solidFill>
              <a:schemeClr val="accent1"/>
            </a:solidFill>
            <a:prstDash val="solid"/>
          </a:ln>
        </p:spPr>
      </p:sp>
      <p:sp>
        <p:nvSpPr>
          <p:cNvPr id="32" name="Text 167: Danh sách"/>
          <p:cNvSpPr txBox="1"/>
          <p:nvPr/>
        </p:nvSpPr>
        <p:spPr>
          <a:xfrm>
            <a:off x="9772650" y="3486150"/>
            <a:ext cx="1828800" cy="571500"/>
          </a:xfrm>
          <a:prstGeom prst="rect">
            <a:avLst/>
          </a:prstGeom>
          <a:noFill/>
          <a:ln/>
        </p:spPr>
        <p:txBody>
          <a:bodyPr wrap="square" lIns="0" tIns="0" rIns="0" bIns="0" rtlCol="0" anchor="ctr"/>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Danh sách</a:t>
            </a:r>
            <a:endParaRPr lang="en-US" sz="1800" dirty="0"/>
          </a:p>
        </p:txBody>
      </p:sp>
      <p:sp>
        <p:nvSpPr>
          <p:cNvPr id="33" name="Content panel 168"/>
          <p:cNvSpPr/>
          <p:nvPr/>
        </p:nvSpPr>
        <p:spPr>
          <a:xfrm>
            <a:off x="571500" y="4457700"/>
            <a:ext cx="11087100" cy="914400"/>
          </a:xfrm>
          <a:prstGeom prst="roundRect">
            <a:avLst>
              <a:gd name="adj" fmla="val 16000"/>
            </a:avLst>
          </a:prstGeom>
          <a:solidFill>
            <a:schemeClr val="bg2"/>
          </a:solidFill>
          <a:ln w="10160">
            <a:solidFill>
              <a:schemeClr val="bg2"/>
            </a:solidFill>
            <a:prstDash val="solid"/>
          </a:ln>
        </p:spPr>
      </p:sp>
      <p:sp>
        <p:nvSpPr>
          <p:cNvPr id="34" name="Text 169: 3  Download"/>
          <p:cNvSpPr txBox="1"/>
          <p:nvPr/>
        </p:nvSpPr>
        <p:spPr>
          <a:xfrm>
            <a:off x="800100" y="4686300"/>
            <a:ext cx="2057400" cy="457200"/>
          </a:xfrm>
          <a:prstGeom prst="rect">
            <a:avLst/>
          </a:prstGeom>
          <a:noFill/>
          <a:ln/>
        </p:spPr>
        <p:txBody>
          <a:bodyPr wrap="square" lIns="0" tIns="0" rIns="0" bIns="0" rtlCol="0" anchor="ctr"/>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3  Download</a:t>
            </a:r>
            <a:endParaRPr lang="en-US" sz="2000" dirty="0"/>
          </a:p>
        </p:txBody>
      </p:sp>
      <p:sp>
        <p:nvSpPr>
          <p:cNvPr id="35" name="Content panel 170"/>
          <p:cNvSpPr/>
          <p:nvPr/>
        </p:nvSpPr>
        <p:spPr>
          <a:xfrm>
            <a:off x="2971800" y="4572000"/>
            <a:ext cx="1828800" cy="685800"/>
          </a:xfrm>
          <a:prstGeom prst="roundRect">
            <a:avLst>
              <a:gd name="adj" fmla="val 21333"/>
            </a:avLst>
          </a:prstGeom>
          <a:solidFill>
            <a:schemeClr val="bg1"/>
          </a:solidFill>
          <a:ln w="10160">
            <a:solidFill>
              <a:schemeClr val="accent6"/>
            </a:solidFill>
            <a:prstDash val="solid"/>
          </a:ln>
        </p:spPr>
      </p:sp>
      <p:sp>
        <p:nvSpPr>
          <p:cNvPr id="36" name="Text 171: Chọn tài liệu"/>
          <p:cNvSpPr txBox="1"/>
          <p:nvPr/>
        </p:nvSpPr>
        <p:spPr>
          <a:xfrm>
            <a:off x="3028950" y="4629150"/>
            <a:ext cx="17145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Chọn tài liệu</a:t>
            </a:r>
            <a:endParaRPr lang="en-US" sz="1800" dirty="0"/>
          </a:p>
        </p:txBody>
      </p:sp>
      <p:sp>
        <p:nvSpPr>
          <p:cNvPr id="37" name="Data flow 172"/>
          <p:cNvSpPr/>
          <p:nvPr/>
        </p:nvSpPr>
        <p:spPr>
          <a:xfrm>
            <a:off x="4800600" y="4914900"/>
            <a:ext cx="457200" cy="0"/>
          </a:xfrm>
          <a:prstGeom prst="line">
            <a:avLst/>
          </a:prstGeom>
          <a:noFill/>
          <a:ln w="22860">
            <a:solidFill>
              <a:schemeClr val="tx2"/>
            </a:solidFill>
            <a:prstDash val="solid"/>
            <a:tailEnd type="triangle"/>
          </a:ln>
        </p:spPr>
      </p:sp>
      <p:sp>
        <p:nvSpPr>
          <p:cNvPr id="38" name="Content panel 173"/>
          <p:cNvSpPr/>
          <p:nvPr/>
        </p:nvSpPr>
        <p:spPr>
          <a:xfrm>
            <a:off x="5257800" y="4572000"/>
            <a:ext cx="2057400" cy="685800"/>
          </a:xfrm>
          <a:prstGeom prst="roundRect">
            <a:avLst>
              <a:gd name="adj" fmla="val 21333"/>
            </a:avLst>
          </a:prstGeom>
          <a:solidFill>
            <a:schemeClr val="bg1"/>
          </a:solidFill>
          <a:ln w="10160">
            <a:solidFill>
              <a:schemeClr val="accent6"/>
            </a:solidFill>
            <a:prstDash val="solid"/>
          </a:ln>
        </p:spPr>
      </p:sp>
      <p:sp>
        <p:nvSpPr>
          <p:cNvPr id="39" name="Text 174: Kiểm tra chủ"/>
          <p:cNvSpPr txBox="1"/>
          <p:nvPr/>
        </p:nvSpPr>
        <p:spPr>
          <a:xfrm>
            <a:off x="5314950" y="4629150"/>
            <a:ext cx="19431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Kiểm tra chủ</a:t>
            </a:r>
            <a:endParaRPr lang="en-US" sz="1800" dirty="0"/>
          </a:p>
        </p:txBody>
      </p:sp>
      <p:sp>
        <p:nvSpPr>
          <p:cNvPr id="40" name="Data flow 175"/>
          <p:cNvSpPr/>
          <p:nvPr/>
        </p:nvSpPr>
        <p:spPr>
          <a:xfrm>
            <a:off x="7315200" y="4914900"/>
            <a:ext cx="457200" cy="0"/>
          </a:xfrm>
          <a:prstGeom prst="line">
            <a:avLst/>
          </a:prstGeom>
          <a:noFill/>
          <a:ln w="22860">
            <a:solidFill>
              <a:schemeClr val="tx2"/>
            </a:solidFill>
            <a:prstDash val="solid"/>
            <a:tailEnd type="triangle"/>
          </a:ln>
        </p:spPr>
      </p:sp>
      <p:sp>
        <p:nvSpPr>
          <p:cNvPr id="41" name="Content panel 176"/>
          <p:cNvSpPr/>
          <p:nvPr/>
        </p:nvSpPr>
        <p:spPr>
          <a:xfrm>
            <a:off x="7772400" y="4572000"/>
            <a:ext cx="1485900" cy="685800"/>
          </a:xfrm>
          <a:prstGeom prst="roundRect">
            <a:avLst>
              <a:gd name="adj" fmla="val 21333"/>
            </a:avLst>
          </a:prstGeom>
          <a:solidFill>
            <a:schemeClr val="bg1"/>
          </a:solidFill>
          <a:ln w="10160">
            <a:solidFill>
              <a:schemeClr val="accent6"/>
            </a:solidFill>
            <a:prstDash val="solid"/>
          </a:ln>
        </p:spPr>
      </p:sp>
      <p:sp>
        <p:nvSpPr>
          <p:cNvPr id="42" name="Text 177: getData()"/>
          <p:cNvSpPr txBox="1"/>
          <p:nvPr/>
        </p:nvSpPr>
        <p:spPr>
          <a:xfrm>
            <a:off x="7829550" y="4629150"/>
            <a:ext cx="1371600" cy="571500"/>
          </a:xfrm>
          <a:prstGeom prst="rect">
            <a:avLst/>
          </a:prstGeom>
          <a:noFill/>
          <a:ln/>
        </p:spPr>
        <p:txBody>
          <a:bodyPr wrap="square" lIns="0" tIns="0" rIns="0" bIns="0" rtlCol="0" anchor="ctr"/>
          <a:lstStyle/>
          <a:p>
            <a:pPr algn="ctr" indent="0" marL="0">
              <a:lnSpc>
                <a:spcPct val="106000"/>
              </a:lnSpc>
              <a:buNone/>
            </a:pPr>
            <a:r>
              <a:rPr lang="en-US" sz="1800" dirty="0">
                <a:solidFill>
                  <a:schemeClr val="tx1"/>
                </a:solidFill>
                <a:latin typeface="+mn-lt" pitchFamily="34" charset="0"/>
                <a:ea typeface="+mn-lt" pitchFamily="34" charset="-122"/>
                <a:cs typeface="+mn-lt" pitchFamily="34" charset="-120"/>
              </a:rPr>
              <a:t>getData()</a:t>
            </a:r>
            <a:endParaRPr lang="en-US" sz="1800" dirty="0"/>
          </a:p>
        </p:txBody>
      </p:sp>
      <p:sp>
        <p:nvSpPr>
          <p:cNvPr id="43" name="Data flow 178"/>
          <p:cNvSpPr/>
          <p:nvPr/>
        </p:nvSpPr>
        <p:spPr>
          <a:xfrm>
            <a:off x="9258300" y="4914900"/>
            <a:ext cx="457200" cy="0"/>
          </a:xfrm>
          <a:prstGeom prst="line">
            <a:avLst/>
          </a:prstGeom>
          <a:noFill/>
          <a:ln w="22860">
            <a:solidFill>
              <a:schemeClr val="tx2"/>
            </a:solidFill>
            <a:prstDash val="solid"/>
            <a:tailEnd type="triangle"/>
          </a:ln>
        </p:spPr>
      </p:sp>
      <p:sp>
        <p:nvSpPr>
          <p:cNvPr id="44" name="Content panel 179"/>
          <p:cNvSpPr/>
          <p:nvPr/>
        </p:nvSpPr>
        <p:spPr>
          <a:xfrm>
            <a:off x="9715500" y="4572000"/>
            <a:ext cx="1943100" cy="685800"/>
          </a:xfrm>
          <a:prstGeom prst="roundRect">
            <a:avLst>
              <a:gd name="adj" fmla="val 21333"/>
            </a:avLst>
          </a:prstGeom>
          <a:solidFill>
            <a:schemeClr val="accent1"/>
          </a:solidFill>
          <a:ln w="10160">
            <a:solidFill>
              <a:schemeClr val="accent1"/>
            </a:solidFill>
            <a:prstDash val="solid"/>
          </a:ln>
        </p:spPr>
      </p:sp>
      <p:sp>
        <p:nvSpPr>
          <p:cNvPr id="45" name="Text 180: Binary"/>
          <p:cNvSpPr txBox="1"/>
          <p:nvPr/>
        </p:nvSpPr>
        <p:spPr>
          <a:xfrm>
            <a:off x="9772650" y="4629150"/>
            <a:ext cx="1828800" cy="571500"/>
          </a:xfrm>
          <a:prstGeom prst="rect">
            <a:avLst/>
          </a:prstGeom>
          <a:noFill/>
          <a:ln/>
        </p:spPr>
        <p:txBody>
          <a:bodyPr wrap="square" lIns="0" tIns="0" rIns="0" bIns="0" rtlCol="0" anchor="ctr"/>
          <a:lstStyle/>
          <a:p>
            <a:pPr algn="ctr" indent="0" marL="0">
              <a:lnSpc>
                <a:spcPct val="106000"/>
              </a:lnSpc>
              <a:buNone/>
            </a:pPr>
            <a:r>
              <a:rPr lang="en-US" sz="1800" b="1" dirty="0">
                <a:solidFill>
                  <a:schemeClr val="tx1"/>
                </a:solidFill>
                <a:latin typeface="+mn-lt" pitchFamily="34" charset="0"/>
                <a:ea typeface="+mn-lt" pitchFamily="34" charset="-122"/>
                <a:cs typeface="+mn-lt" pitchFamily="34" charset="-120"/>
              </a:rPr>
              <a:t>Binary</a:t>
            </a:r>
            <a:endParaRPr lang="en-US" sz="1800" dirty="0"/>
          </a:p>
        </p:txBody>
      </p:sp>
      <p:sp>
        <p:nvSpPr>
          <p:cNvPr id="46" name="Content panel 181"/>
          <p:cNvSpPr/>
          <p:nvPr/>
        </p:nvSpPr>
        <p:spPr>
          <a:xfrm>
            <a:off x="571500" y="5486400"/>
            <a:ext cx="11087100" cy="342900"/>
          </a:xfrm>
          <a:prstGeom prst="roundRect">
            <a:avLst>
              <a:gd name="adj" fmla="val 42667"/>
            </a:avLst>
          </a:prstGeom>
          <a:solidFill>
            <a:schemeClr val="bg2"/>
          </a:solidFill>
          <a:ln w="10160">
            <a:solidFill>
              <a:schemeClr val="bg2"/>
            </a:solidFill>
            <a:prstDash val="solid"/>
          </a:ln>
        </p:spPr>
      </p:sp>
      <p:sp>
        <p:nvSpPr>
          <p:cNvPr id="47" name="Text 182: Tải bằng SDK có xác thực; không tạo getDownloadURL và không phát "/>
          <p:cNvSpPr txBox="1"/>
          <p:nvPr/>
        </p:nvSpPr>
        <p:spPr>
          <a:xfrm>
            <a:off x="800100" y="5600700"/>
            <a:ext cx="10629900" cy="11430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Tải bằng SDK có xác thực; không tạo getDownloadURL và không phát hành public link.</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Nhất quán giữa Storage và Firestore</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02 | THIẾT KẾ TÍCH HỢP</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Không có transaction chung giữa hai dịch vụ: chọn thứ tự thao tác và xử lý lỗi rõ ràng</a:t>
            </a:r>
            <a:endParaRPr lang="en-US" sz="1800" dirty="0"/>
          </a:p>
        </p:txBody>
      </p:sp>
      <p:sp>
        <p:nvSpPr>
          <p:cNvPr id="6" name="Content panel 183"/>
          <p:cNvSpPr/>
          <p:nvPr/>
        </p:nvSpPr>
        <p:spPr>
          <a:xfrm>
            <a:off x="571500" y="2171700"/>
            <a:ext cx="5372100" cy="3543300"/>
          </a:xfrm>
          <a:prstGeom prst="roundRect">
            <a:avLst>
              <a:gd name="adj" fmla="val 4129"/>
            </a:avLst>
          </a:prstGeom>
          <a:solidFill>
            <a:schemeClr val="bg2"/>
          </a:solidFill>
          <a:ln w="10160">
            <a:solidFill>
              <a:schemeClr val="bg2"/>
            </a:solidFill>
            <a:prstDash val="solid"/>
          </a:ln>
        </p:spPr>
      </p:sp>
      <p:sp>
        <p:nvSpPr>
          <p:cNvPr id="7" name="Content panel 184"/>
          <p:cNvSpPr/>
          <p:nvPr/>
        </p:nvSpPr>
        <p:spPr>
          <a:xfrm>
            <a:off x="6286500" y="2171700"/>
            <a:ext cx="5372100" cy="3543300"/>
          </a:xfrm>
          <a:prstGeom prst="roundRect">
            <a:avLst>
              <a:gd name="adj" fmla="val 4129"/>
            </a:avLst>
          </a:prstGeom>
          <a:solidFill>
            <a:schemeClr val="bg2"/>
          </a:solidFill>
          <a:ln w="10160">
            <a:solidFill>
              <a:schemeClr val="bg2"/>
            </a:solidFill>
            <a:prstDash val="solid"/>
          </a:ln>
        </p:spPr>
      </p:sp>
      <p:sp>
        <p:nvSpPr>
          <p:cNvPr id="8" name="Text 185: Upload có bù trừ"/>
          <p:cNvSpPr txBox="1"/>
          <p:nvPr/>
        </p:nvSpPr>
        <p:spPr>
          <a:xfrm>
            <a:off x="800100" y="2400300"/>
            <a:ext cx="4914900" cy="457200"/>
          </a:xfrm>
          <a:prstGeom prst="rect">
            <a:avLst/>
          </a:prstGeom>
          <a:noFill/>
          <a:ln/>
        </p:spPr>
        <p:txBody>
          <a:bodyPr wrap="square" lIns="0" tIns="0" rIns="0" bIns="0" rtlCol="0" anchor="t"/>
          <a:lstStyle/>
          <a:p>
            <a:pPr indent="0" marL="0">
              <a:lnSpc>
                <a:spcPct val="106000"/>
              </a:lnSpc>
              <a:buNone/>
            </a:pPr>
            <a:r>
              <a:rPr lang="en-US" sz="2400" b="1" dirty="0">
                <a:solidFill>
                  <a:schemeClr val="tx1"/>
                </a:solidFill>
                <a:latin typeface="+mn-lt" pitchFamily="34" charset="0"/>
                <a:ea typeface="+mn-lt" pitchFamily="34" charset="-122"/>
                <a:cs typeface="+mn-lt" pitchFamily="34" charset="-120"/>
              </a:rPr>
              <a:t>Upload có bù trừ</a:t>
            </a:r>
            <a:endParaRPr lang="en-US" sz="2400" dirty="0"/>
          </a:p>
        </p:txBody>
      </p:sp>
      <p:sp>
        <p:nvSpPr>
          <p:cNvPr id="9" name="Text 186: Xóa có thể thử lại"/>
          <p:cNvSpPr txBox="1"/>
          <p:nvPr/>
        </p:nvSpPr>
        <p:spPr>
          <a:xfrm>
            <a:off x="6515100" y="2400300"/>
            <a:ext cx="4914900" cy="457200"/>
          </a:xfrm>
          <a:prstGeom prst="rect">
            <a:avLst/>
          </a:prstGeom>
          <a:noFill/>
          <a:ln/>
        </p:spPr>
        <p:txBody>
          <a:bodyPr wrap="square" lIns="0" tIns="0" rIns="0" bIns="0" rtlCol="0" anchor="t"/>
          <a:lstStyle/>
          <a:p>
            <a:pPr indent="0" marL="0">
              <a:lnSpc>
                <a:spcPct val="106000"/>
              </a:lnSpc>
              <a:buNone/>
            </a:pPr>
            <a:r>
              <a:rPr lang="en-US" sz="2400" b="1" dirty="0">
                <a:solidFill>
                  <a:schemeClr val="tx1"/>
                </a:solidFill>
                <a:latin typeface="+mn-lt" pitchFamily="34" charset="0"/>
                <a:ea typeface="+mn-lt" pitchFamily="34" charset="-122"/>
                <a:cs typeface="+mn-lt" pitchFamily="34" charset="-120"/>
              </a:rPr>
              <a:t>Xóa có thể thử lại</a:t>
            </a:r>
            <a:endParaRPr lang="en-US" sz="2400" dirty="0"/>
          </a:p>
        </p:txBody>
      </p:sp>
      <p:sp>
        <p:nvSpPr>
          <p:cNvPr id="10" name="Text 187: 01  Upload object"/>
          <p:cNvSpPr txBox="1"/>
          <p:nvPr/>
        </p:nvSpPr>
        <p:spPr>
          <a:xfrm>
            <a:off x="800100" y="3086100"/>
            <a:ext cx="49149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01  Upload object</a:t>
            </a:r>
            <a:endParaRPr lang="en-US" sz="2000" dirty="0"/>
          </a:p>
        </p:txBody>
      </p:sp>
      <p:sp>
        <p:nvSpPr>
          <p:cNvPr id="11" name="Text 188: putData() hoàn tất trước."/>
          <p:cNvSpPr txBox="1"/>
          <p:nvPr/>
        </p:nvSpPr>
        <p:spPr>
          <a:xfrm>
            <a:off x="800100" y="3429000"/>
            <a:ext cx="4914900" cy="457200"/>
          </a:xfrm>
          <a:prstGeom prst="rect">
            <a:avLst/>
          </a:prstGeom>
          <a:noFill/>
          <a:ln/>
        </p:spPr>
        <p:txBody>
          <a:bodyPr wrap="square" lIns="0" tIns="0" rIns="0" bIns="0" rtlCol="0" anchor="t"/>
          <a:lstStyle/>
          <a:p>
            <a:pPr indent="0" marL="0">
              <a:lnSpc>
                <a:spcPct val="106000"/>
              </a:lnSpc>
              <a:buNone/>
            </a:pPr>
            <a:r>
              <a:rPr lang="en-US" sz="1800" dirty="0">
                <a:solidFill>
                  <a:schemeClr val="tx2"/>
                </a:solidFill>
                <a:latin typeface="+mn-lt" pitchFamily="34" charset="0"/>
                <a:ea typeface="+mn-lt" pitchFamily="34" charset="-122"/>
                <a:cs typeface="+mn-lt" pitchFamily="34" charset="-120"/>
              </a:rPr>
              <a:t>putData() hoàn tất trước.</a:t>
            </a:r>
            <a:endParaRPr lang="en-US" sz="1800" dirty="0"/>
          </a:p>
        </p:txBody>
      </p:sp>
      <p:sp>
        <p:nvSpPr>
          <p:cNvPr id="12" name="Text 189: 02  Ghi metadata"/>
          <p:cNvSpPr txBox="1"/>
          <p:nvPr/>
        </p:nvSpPr>
        <p:spPr>
          <a:xfrm>
            <a:off x="800100" y="4000500"/>
            <a:ext cx="49149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02  Ghi metadata</a:t>
            </a:r>
            <a:endParaRPr lang="en-US" sz="2000" dirty="0"/>
          </a:p>
        </p:txBody>
      </p:sp>
      <p:sp>
        <p:nvSpPr>
          <p:cNvPr id="13" name="Text 190: doc.set() sau khi có binary."/>
          <p:cNvSpPr txBox="1"/>
          <p:nvPr/>
        </p:nvSpPr>
        <p:spPr>
          <a:xfrm>
            <a:off x="800100" y="4343400"/>
            <a:ext cx="4914900" cy="457200"/>
          </a:xfrm>
          <a:prstGeom prst="rect">
            <a:avLst/>
          </a:prstGeom>
          <a:noFill/>
          <a:ln/>
        </p:spPr>
        <p:txBody>
          <a:bodyPr wrap="square" lIns="0" tIns="0" rIns="0" bIns="0" rtlCol="0" anchor="t"/>
          <a:lstStyle/>
          <a:p>
            <a:pPr indent="0" marL="0">
              <a:lnSpc>
                <a:spcPct val="106000"/>
              </a:lnSpc>
              <a:buNone/>
            </a:pPr>
            <a:r>
              <a:rPr lang="en-US" sz="1800" dirty="0">
                <a:solidFill>
                  <a:schemeClr val="tx2"/>
                </a:solidFill>
                <a:latin typeface="+mn-lt" pitchFamily="34" charset="0"/>
                <a:ea typeface="+mn-lt" pitchFamily="34" charset="-122"/>
                <a:cs typeface="+mn-lt" pitchFamily="34" charset="-120"/>
              </a:rPr>
              <a:t>doc.set() sau khi có binary.</a:t>
            </a:r>
            <a:endParaRPr lang="en-US" sz="1800" dirty="0"/>
          </a:p>
        </p:txBody>
      </p:sp>
      <p:sp>
        <p:nvSpPr>
          <p:cNvPr id="14" name="Text 191: 03  Metadata lỗi → cleanup"/>
          <p:cNvSpPr txBox="1"/>
          <p:nvPr/>
        </p:nvSpPr>
        <p:spPr>
          <a:xfrm>
            <a:off x="800100" y="4914900"/>
            <a:ext cx="49149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03  Metadata lỗi → cleanup</a:t>
            </a:r>
            <a:endParaRPr lang="en-US" sz="2000" dirty="0"/>
          </a:p>
        </p:txBody>
      </p:sp>
      <p:sp>
        <p:nvSpPr>
          <p:cNvPr id="15" name="Text 192: Cleanup lỗi: xử lý trong Console."/>
          <p:cNvSpPr txBox="1"/>
          <p:nvPr/>
        </p:nvSpPr>
        <p:spPr>
          <a:xfrm>
            <a:off x="800100" y="5257800"/>
            <a:ext cx="4914900" cy="457200"/>
          </a:xfrm>
          <a:prstGeom prst="rect">
            <a:avLst/>
          </a:prstGeom>
          <a:noFill/>
          <a:ln/>
        </p:spPr>
        <p:txBody>
          <a:bodyPr wrap="square" lIns="0" tIns="0" rIns="0" bIns="0" rtlCol="0" anchor="t"/>
          <a:lstStyle/>
          <a:p>
            <a:pPr indent="0" marL="0">
              <a:lnSpc>
                <a:spcPct val="106000"/>
              </a:lnSpc>
              <a:buNone/>
            </a:pPr>
            <a:r>
              <a:rPr lang="en-US" sz="1800" dirty="0">
                <a:solidFill>
                  <a:schemeClr val="tx2"/>
                </a:solidFill>
                <a:latin typeface="+mn-lt" pitchFamily="34" charset="0"/>
                <a:ea typeface="+mn-lt" pitchFamily="34" charset="-122"/>
                <a:cs typeface="+mn-lt" pitchFamily="34" charset="-120"/>
              </a:rPr>
              <a:t>Cleanup lỗi: xử lý trong Console.</a:t>
            </a:r>
            <a:endParaRPr lang="en-US" sz="1800" dirty="0"/>
          </a:p>
        </p:txBody>
      </p:sp>
      <p:sp>
        <p:nvSpPr>
          <p:cNvPr id="16" name="Text 193: 01  Xóa Storage"/>
          <p:cNvSpPr txBox="1"/>
          <p:nvPr/>
        </p:nvSpPr>
        <p:spPr>
          <a:xfrm>
            <a:off x="6515100" y="3086100"/>
            <a:ext cx="49149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01  Xóa Storage</a:t>
            </a:r>
            <a:endParaRPr lang="en-US" sz="2000" dirty="0"/>
          </a:p>
        </p:txBody>
      </p:sp>
      <p:sp>
        <p:nvSpPr>
          <p:cNvPr id="17" name="Text 194: Object đã mất: vẫn đi tiếp."/>
          <p:cNvSpPr txBox="1"/>
          <p:nvPr/>
        </p:nvSpPr>
        <p:spPr>
          <a:xfrm>
            <a:off x="6515100" y="3429000"/>
            <a:ext cx="4914900" cy="457200"/>
          </a:xfrm>
          <a:prstGeom prst="rect">
            <a:avLst/>
          </a:prstGeom>
          <a:noFill/>
          <a:ln/>
        </p:spPr>
        <p:txBody>
          <a:bodyPr wrap="square" lIns="0" tIns="0" rIns="0" bIns="0" rtlCol="0" anchor="t"/>
          <a:lstStyle/>
          <a:p>
            <a:pPr indent="0" marL="0">
              <a:lnSpc>
                <a:spcPct val="106000"/>
              </a:lnSpc>
              <a:buNone/>
            </a:pPr>
            <a:r>
              <a:rPr lang="en-US" sz="1800" dirty="0">
                <a:solidFill>
                  <a:schemeClr val="tx2"/>
                </a:solidFill>
                <a:latin typeface="+mn-lt" pitchFamily="34" charset="0"/>
                <a:ea typeface="+mn-lt" pitchFamily="34" charset="-122"/>
                <a:cs typeface="+mn-lt" pitchFamily="34" charset="-120"/>
              </a:rPr>
              <a:t>Object đã mất: vẫn đi tiếp.</a:t>
            </a:r>
            <a:endParaRPr lang="en-US" sz="1800" dirty="0"/>
          </a:p>
        </p:txBody>
      </p:sp>
      <p:sp>
        <p:nvSpPr>
          <p:cNvPr id="18" name="Text 195: 02  Xóa Firestore"/>
          <p:cNvSpPr txBox="1"/>
          <p:nvPr/>
        </p:nvSpPr>
        <p:spPr>
          <a:xfrm>
            <a:off x="6515100" y="4000500"/>
            <a:ext cx="49149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02  Xóa Firestore</a:t>
            </a:r>
            <a:endParaRPr lang="en-US" sz="2000" dirty="0"/>
          </a:p>
        </p:txBody>
      </p:sp>
      <p:sp>
        <p:nvSpPr>
          <p:cNvPr id="19" name="Text 196: Chỉ xóa metadata sau object."/>
          <p:cNvSpPr txBox="1"/>
          <p:nvPr/>
        </p:nvSpPr>
        <p:spPr>
          <a:xfrm>
            <a:off x="6515100" y="4343400"/>
            <a:ext cx="4914900" cy="457200"/>
          </a:xfrm>
          <a:prstGeom prst="rect">
            <a:avLst/>
          </a:prstGeom>
          <a:noFill/>
          <a:ln/>
        </p:spPr>
        <p:txBody>
          <a:bodyPr wrap="square" lIns="0" tIns="0" rIns="0" bIns="0" rtlCol="0" anchor="t"/>
          <a:lstStyle/>
          <a:p>
            <a:pPr indent="0" marL="0">
              <a:lnSpc>
                <a:spcPct val="106000"/>
              </a:lnSpc>
              <a:buNone/>
            </a:pPr>
            <a:r>
              <a:rPr lang="en-US" sz="1800" dirty="0">
                <a:solidFill>
                  <a:schemeClr val="tx2"/>
                </a:solidFill>
                <a:latin typeface="+mn-lt" pitchFamily="34" charset="0"/>
                <a:ea typeface="+mn-lt" pitchFamily="34" charset="-122"/>
                <a:cs typeface="+mn-lt" pitchFamily="34" charset="-120"/>
              </a:rPr>
              <a:t>Chỉ xóa metadata sau object.</a:t>
            </a:r>
            <a:endParaRPr lang="en-US" sz="1800" dirty="0"/>
          </a:p>
        </p:txBody>
      </p:sp>
      <p:sp>
        <p:nvSpPr>
          <p:cNvPr id="20" name="Text 197: 03  Metadata lỗi → thử lại"/>
          <p:cNvSpPr txBox="1"/>
          <p:nvPr/>
        </p:nvSpPr>
        <p:spPr>
          <a:xfrm>
            <a:off x="6515100" y="4914900"/>
            <a:ext cx="49149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03  Metadata lỗi → thử lại</a:t>
            </a:r>
            <a:endParaRPr lang="en-US" sz="2000" dirty="0"/>
          </a:p>
        </p:txBody>
      </p:sp>
      <p:sp>
        <p:nvSpPr>
          <p:cNvPr id="21" name="Text 198: Không phải retry tự động nền."/>
          <p:cNvSpPr txBox="1"/>
          <p:nvPr/>
        </p:nvSpPr>
        <p:spPr>
          <a:xfrm>
            <a:off x="6515100" y="5257800"/>
            <a:ext cx="4914900" cy="457200"/>
          </a:xfrm>
          <a:prstGeom prst="rect">
            <a:avLst/>
          </a:prstGeom>
          <a:noFill/>
          <a:ln/>
        </p:spPr>
        <p:txBody>
          <a:bodyPr wrap="square" lIns="0" tIns="0" rIns="0" bIns="0" rtlCol="0" anchor="t"/>
          <a:lstStyle/>
          <a:p>
            <a:pPr indent="0" marL="0">
              <a:lnSpc>
                <a:spcPct val="106000"/>
              </a:lnSpc>
              <a:buNone/>
            </a:pPr>
            <a:r>
              <a:rPr lang="en-US" sz="1800" dirty="0">
                <a:solidFill>
                  <a:schemeClr val="tx2"/>
                </a:solidFill>
                <a:latin typeface="+mn-lt" pitchFamily="34" charset="0"/>
                <a:ea typeface="+mn-lt" pitchFamily="34" charset="-122"/>
                <a:cs typeface="+mn-lt" pitchFamily="34" charset="-120"/>
              </a:rPr>
              <a:t>Không phải retry tự động nền.</a:t>
            </a:r>
            <a:endParaRPr lang="en-US" sz="1800" dirty="0"/>
          </a:p>
        </p:txBody>
      </p:sp>
      <p:sp>
        <p:nvSpPr>
          <p:cNvPr id="22" name="Text 199: Bù trừ giảm rủi ro dữ liệu lệch; không thay thế một transaction x"/>
          <p:cNvSpPr txBox="1"/>
          <p:nvPr/>
        </p:nvSpPr>
        <p:spPr>
          <a:xfrm>
            <a:off x="571500" y="5829300"/>
            <a:ext cx="11087100" cy="342900"/>
          </a:xfrm>
          <a:prstGeom prst="rect">
            <a:avLst/>
          </a:prstGeom>
          <a:noFill/>
          <a:ln/>
        </p:spPr>
        <p:txBody>
          <a:bodyPr wrap="square" lIns="0" tIns="0" rIns="0" bIns="0" rtlCol="0" anchor="t"/>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Bù trừ giảm rủi ro dữ liệu lệch; không thay thế một transaction xuyên dịch vụ.</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Schema: metadata khác với binary</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02 | THIẾT KẾ TÍCH HỢP</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UID và documentId liên kết quyền sở hữu với đường dẫn object, không lưu URL công khai</a:t>
            </a:r>
            <a:endParaRPr lang="en-US" sz="1800" dirty="0"/>
          </a:p>
        </p:txBody>
      </p:sp>
      <p:sp>
        <p:nvSpPr>
          <p:cNvPr id="6" name="Content panel 200"/>
          <p:cNvSpPr/>
          <p:nvPr/>
        </p:nvSpPr>
        <p:spPr>
          <a:xfrm>
            <a:off x="571500" y="2171700"/>
            <a:ext cx="6515100" cy="3543300"/>
          </a:xfrm>
          <a:prstGeom prst="roundRect">
            <a:avLst>
              <a:gd name="adj" fmla="val 4129"/>
            </a:avLst>
          </a:prstGeom>
          <a:solidFill>
            <a:schemeClr val="tx1"/>
          </a:solidFill>
          <a:ln w="10160">
            <a:solidFill>
              <a:schemeClr val="tx1"/>
            </a:solidFill>
            <a:prstDash val="solid"/>
          </a:ln>
        </p:spPr>
      </p:sp>
      <p:sp>
        <p:nvSpPr>
          <p:cNvPr id="7" name="Content panel 201"/>
          <p:cNvSpPr/>
          <p:nvPr/>
        </p:nvSpPr>
        <p:spPr>
          <a:xfrm>
            <a:off x="7429500" y="2171700"/>
            <a:ext cx="4229100" cy="3543300"/>
          </a:xfrm>
          <a:prstGeom prst="roundRect">
            <a:avLst>
              <a:gd name="adj" fmla="val 4129"/>
            </a:avLst>
          </a:prstGeom>
          <a:solidFill>
            <a:schemeClr val="bg2"/>
          </a:solidFill>
          <a:ln w="10160">
            <a:solidFill>
              <a:schemeClr val="bg2"/>
            </a:solidFill>
            <a:prstDash val="solid"/>
          </a:ln>
        </p:spPr>
      </p:sp>
      <p:sp>
        <p:nvSpPr>
          <p:cNvPr id="8" name="Text 202: Cloud Firestore"/>
          <p:cNvSpPr txBox="1"/>
          <p:nvPr/>
        </p:nvSpPr>
        <p:spPr>
          <a:xfrm>
            <a:off x="800100" y="2400300"/>
            <a:ext cx="6057900" cy="457200"/>
          </a:xfrm>
          <a:prstGeom prst="rect">
            <a:avLst/>
          </a:prstGeom>
          <a:noFill/>
          <a:ln/>
        </p:spPr>
        <p:txBody>
          <a:bodyPr wrap="square" lIns="0" tIns="0" rIns="0" bIns="0" rtlCol="0" anchor="t"/>
          <a:lstStyle/>
          <a:p>
            <a:pPr indent="0" marL="0">
              <a:lnSpc>
                <a:spcPct val="106000"/>
              </a:lnSpc>
              <a:buNone/>
            </a:pPr>
            <a:r>
              <a:rPr lang="en-US" sz="2400" b="1" dirty="0">
                <a:solidFill>
                  <a:schemeClr val="bg1"/>
                </a:solidFill>
                <a:latin typeface="+mn-lt" pitchFamily="34" charset="0"/>
                <a:ea typeface="+mn-lt" pitchFamily="34" charset="-122"/>
                <a:cs typeface="+mn-lt" pitchFamily="34" charset="-120"/>
              </a:rPr>
              <a:t>Cloud Firestore</a:t>
            </a:r>
            <a:endParaRPr lang="en-US" sz="2400" dirty="0"/>
          </a:p>
        </p:txBody>
      </p:sp>
      <p:sp>
        <p:nvSpPr>
          <p:cNvPr id="9" name="Text 203: users/{uid}/documents/{documentId}"/>
          <p:cNvSpPr txBox="1"/>
          <p:nvPr/>
        </p:nvSpPr>
        <p:spPr>
          <a:xfrm>
            <a:off x="800100" y="3200400"/>
            <a:ext cx="6057900" cy="457200"/>
          </a:xfrm>
          <a:prstGeom prst="rect">
            <a:avLst/>
          </a:prstGeom>
          <a:noFill/>
          <a:ln/>
        </p:spPr>
        <p:txBody>
          <a:bodyPr wrap="square" lIns="0" tIns="0" rIns="0" bIns="0" rtlCol="0" anchor="t"/>
          <a:lstStyle/>
          <a:p>
            <a:pPr indent="0" marL="0">
              <a:lnSpc>
                <a:spcPct val="106000"/>
              </a:lnSpc>
              <a:buNone/>
            </a:pPr>
            <a:r>
              <a:rPr lang="en-US" sz="1800" dirty="0">
                <a:solidFill>
                  <a:schemeClr val="accent1"/>
                </a:solidFill>
                <a:latin typeface="+mn-lt" pitchFamily="34" charset="0"/>
                <a:ea typeface="+mn-lt" pitchFamily="34" charset="-122"/>
                <a:cs typeface="+mn-lt" pitchFamily="34" charset="-120"/>
              </a:rPr>
              <a:t>users/{uid}/documents/{documentId}</a:t>
            </a:r>
            <a:endParaRPr lang="en-US" sz="1800" dirty="0"/>
          </a:p>
        </p:txBody>
      </p:sp>
      <p:sp>
        <p:nvSpPr>
          <p:cNvPr id="10" name="Text 204: ownerId, title, subject, note fileName, contentType, size storage"/>
          <p:cNvSpPr txBox="1"/>
          <p:nvPr/>
        </p:nvSpPr>
        <p:spPr>
          <a:xfrm>
            <a:off x="800100" y="4114800"/>
            <a:ext cx="6057900" cy="1257300"/>
          </a:xfrm>
          <a:prstGeom prst="rect">
            <a:avLst/>
          </a:prstGeom>
          <a:noFill/>
          <a:ln/>
        </p:spPr>
        <p:txBody>
          <a:bodyPr wrap="square" lIns="0" tIns="0" rIns="0" bIns="0" rtlCol="0" anchor="t"/>
          <a:lstStyle/>
          <a:p>
            <a:pPr indent="0" marL="0">
              <a:lnSpc>
                <a:spcPct val="106000"/>
              </a:lnSpc>
              <a:buNone/>
            </a:pPr>
            <a:r>
              <a:rPr lang="en-US" sz="2000" dirty="0">
                <a:solidFill>
                  <a:schemeClr val="bg1"/>
                </a:solidFill>
                <a:latin typeface="+mn-lt" pitchFamily="34" charset="0"/>
                <a:ea typeface="+mn-lt" pitchFamily="34" charset="-122"/>
                <a:cs typeface="+mn-lt" pitchFamily="34" charset="-120"/>
              </a:rPr>
              <a:t>ownerId, title, subject, note</a:t>
            </a:r>
            <a:endParaRPr lang="en-US" sz="2000" dirty="0"/>
          </a:p>
          <a:p>
            <a:pPr indent="0" marL="0">
              <a:lnSpc>
                <a:spcPct val="106000"/>
              </a:lnSpc>
              <a:buNone/>
            </a:pPr>
            <a:r>
              <a:rPr lang="en-US" sz="2000" dirty="0">
                <a:solidFill>
                  <a:schemeClr val="bg1"/>
                </a:solidFill>
                <a:latin typeface="+mn-lt" pitchFamily="34" charset="0"/>
                <a:ea typeface="+mn-lt" pitchFamily="34" charset="-122"/>
                <a:cs typeface="+mn-lt" pitchFamily="34" charset="-120"/>
              </a:rPr>
              <a:t>fileName, contentType, size</a:t>
            </a:r>
            <a:endParaRPr lang="en-US" sz="2000" dirty="0"/>
          </a:p>
          <a:p>
            <a:pPr indent="0" marL="0">
              <a:lnSpc>
                <a:spcPct val="106000"/>
              </a:lnSpc>
              <a:buNone/>
            </a:pPr>
            <a:r>
              <a:rPr lang="en-US" sz="2000" dirty="0">
                <a:solidFill>
                  <a:schemeClr val="bg1"/>
                </a:solidFill>
                <a:latin typeface="+mn-lt" pitchFamily="34" charset="0"/>
                <a:ea typeface="+mn-lt" pitchFamily="34" charset="-122"/>
                <a:cs typeface="+mn-lt" pitchFamily="34" charset="-120"/>
              </a:rPr>
              <a:t>storagePath, createdAt</a:t>
            </a:r>
            <a:endParaRPr lang="en-US" sz="2000" dirty="0"/>
          </a:p>
        </p:txBody>
      </p:sp>
      <p:sp>
        <p:nvSpPr>
          <p:cNvPr id="11" name="Text 205: Cloud Storage"/>
          <p:cNvSpPr txBox="1"/>
          <p:nvPr/>
        </p:nvSpPr>
        <p:spPr>
          <a:xfrm>
            <a:off x="7658100" y="2400300"/>
            <a:ext cx="3771900" cy="457200"/>
          </a:xfrm>
          <a:prstGeom prst="rect">
            <a:avLst/>
          </a:prstGeom>
          <a:noFill/>
          <a:ln/>
        </p:spPr>
        <p:txBody>
          <a:bodyPr wrap="square" lIns="0" tIns="0" rIns="0" bIns="0" rtlCol="0" anchor="t"/>
          <a:lstStyle/>
          <a:p>
            <a:pPr indent="0" marL="0">
              <a:lnSpc>
                <a:spcPct val="106000"/>
              </a:lnSpc>
              <a:buNone/>
            </a:pPr>
            <a:r>
              <a:rPr lang="en-US" sz="2400" b="1" dirty="0">
                <a:solidFill>
                  <a:schemeClr val="tx1"/>
                </a:solidFill>
                <a:latin typeface="+mn-lt" pitchFamily="34" charset="0"/>
                <a:ea typeface="+mn-lt" pitchFamily="34" charset="-122"/>
                <a:cs typeface="+mn-lt" pitchFamily="34" charset="-120"/>
              </a:rPr>
              <a:t>Cloud Storage</a:t>
            </a:r>
            <a:endParaRPr lang="en-US" sz="2400" dirty="0"/>
          </a:p>
        </p:txBody>
      </p:sp>
      <p:sp>
        <p:nvSpPr>
          <p:cNvPr id="12" name="Text 206: users/{uid}/documents/ {documentId}/file"/>
          <p:cNvSpPr txBox="1"/>
          <p:nvPr/>
        </p:nvSpPr>
        <p:spPr>
          <a:xfrm>
            <a:off x="7658100" y="3200400"/>
            <a:ext cx="3771900" cy="800100"/>
          </a:xfrm>
          <a:prstGeom prst="rect">
            <a:avLst/>
          </a:prstGeom>
          <a:noFill/>
          <a:ln/>
        </p:spPr>
        <p:txBody>
          <a:bodyPr wrap="square" lIns="0" tIns="0" rIns="0" bIns="0" rtlCol="0" anchor="t"/>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users/{uid}/documents/</a:t>
            </a:r>
            <a:endParaRPr lang="en-US" sz="1800" dirty="0"/>
          </a:p>
          <a:p>
            <a:pPr indent="0" marL="0">
              <a:lnSpc>
                <a:spcPct val="106000"/>
              </a:lnSpc>
              <a:buNone/>
            </a:pPr>
            <a:r>
              <a:rPr lang="en-US" sz="1800" b="1" dirty="0">
                <a:solidFill>
                  <a:schemeClr val="tx1"/>
                </a:solidFill>
                <a:latin typeface="+mn-lt" pitchFamily="34" charset="0"/>
                <a:ea typeface="+mn-lt" pitchFamily="34" charset="-122"/>
                <a:cs typeface="+mn-lt" pitchFamily="34" charset="-120"/>
              </a:rPr>
              <a:t>{documentId}/file</a:t>
            </a:r>
            <a:endParaRPr lang="en-US" sz="1800" dirty="0"/>
          </a:p>
        </p:txBody>
      </p:sp>
      <p:sp>
        <p:nvSpPr>
          <p:cNvPr id="13" name="Text 207: Nội dung binary thực Không có public URL"/>
          <p:cNvSpPr txBox="1"/>
          <p:nvPr/>
        </p:nvSpPr>
        <p:spPr>
          <a:xfrm>
            <a:off x="7658100" y="4457700"/>
            <a:ext cx="3771900" cy="914400"/>
          </a:xfrm>
          <a:prstGeom prst="rect">
            <a:avLst/>
          </a:prstGeom>
          <a:noFill/>
          <a:ln/>
        </p:spPr>
        <p:txBody>
          <a:bodyPr wrap="square" lIns="0" tIns="0" rIns="0" bIns="0" rtlCol="0" anchor="t"/>
          <a:lstStyle/>
          <a:p>
            <a:pPr indent="0" marL="0">
              <a:lnSpc>
                <a:spcPct val="106000"/>
              </a:lnSpc>
              <a:buNone/>
            </a:pPr>
            <a:r>
              <a:rPr lang="en-US" sz="2000" dirty="0">
                <a:solidFill>
                  <a:schemeClr val="tx1"/>
                </a:solidFill>
                <a:latin typeface="+mn-lt" pitchFamily="34" charset="0"/>
                <a:ea typeface="+mn-lt" pitchFamily="34" charset="-122"/>
                <a:cs typeface="+mn-lt" pitchFamily="34" charset="-120"/>
              </a:rPr>
              <a:t>Nội dung binary thực</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Không có public URL</a:t>
            </a:r>
            <a:endParaRPr lang="en-US" sz="2000" dirty="0"/>
          </a:p>
        </p:txBody>
      </p:sp>
      <p:sp>
        <p:nvSpPr>
          <p:cNvPr id="14" name="Text 208: Chỉ sửa title và note; createdAt = serverTimestamp()."/>
          <p:cNvSpPr txBox="1"/>
          <p:nvPr/>
        </p:nvSpPr>
        <p:spPr>
          <a:xfrm>
            <a:off x="571500" y="5829300"/>
            <a:ext cx="11087100" cy="342900"/>
          </a:xfrm>
          <a:prstGeom prst="rect">
            <a:avLst/>
          </a:prstGeom>
          <a:noFill/>
          <a:ln/>
        </p:spPr>
        <p:txBody>
          <a:bodyPr wrap="square" lIns="0" tIns="0" rIns="0" bIns="0" rtlCol="0" anchor="t"/>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Chỉ sửa title và note; createdAt = serverTimestamp().</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Bảo mật: chặn ở dịch vụ, không chỉ UI</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03 | BẢO MẬT, CHI PHÍ, HIỆU NĂNG</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Thư viện theo chủ sở hữu; không có RBAC hoặc chia sẻ tài liệu giữa nhóm người dùng</a:t>
            </a:r>
            <a:endParaRPr lang="en-US" sz="1800" dirty="0"/>
          </a:p>
        </p:txBody>
      </p:sp>
      <p:sp>
        <p:nvSpPr>
          <p:cNvPr id="5" name="Text 209: Nguồn: F3 · F5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F3 · F5 | URL đầy đủ trong ghi chú và slide 18</a:t>
            </a:r>
            <a:endParaRPr lang="en-US" sz="1200" dirty="0"/>
          </a:p>
        </p:txBody>
      </p:sp>
      <p:sp>
        <p:nvSpPr>
          <p:cNvPr id="7" name="Content panel 210"/>
          <p:cNvSpPr/>
          <p:nvPr/>
        </p:nvSpPr>
        <p:spPr>
          <a:xfrm>
            <a:off x="571500" y="2171700"/>
            <a:ext cx="5143500" cy="3200400"/>
          </a:xfrm>
          <a:prstGeom prst="roundRect">
            <a:avLst>
              <a:gd name="adj" fmla="val 4571"/>
            </a:avLst>
          </a:prstGeom>
          <a:solidFill>
            <a:schemeClr val="tx1"/>
          </a:solidFill>
          <a:ln w="10160">
            <a:solidFill>
              <a:schemeClr val="tx1"/>
            </a:solidFill>
            <a:prstDash val="solid"/>
          </a:ln>
        </p:spPr>
      </p:sp>
      <p:sp>
        <p:nvSpPr>
          <p:cNvPr id="8" name="Text 211: Security Rules"/>
          <p:cNvSpPr txBox="1"/>
          <p:nvPr/>
        </p:nvSpPr>
        <p:spPr>
          <a:xfrm>
            <a:off x="800100" y="2400300"/>
            <a:ext cx="4686300" cy="457200"/>
          </a:xfrm>
          <a:prstGeom prst="rect">
            <a:avLst/>
          </a:prstGeom>
          <a:noFill/>
          <a:ln/>
        </p:spPr>
        <p:txBody>
          <a:bodyPr wrap="square" lIns="0" tIns="0" rIns="0" bIns="0" rtlCol="0" anchor="t"/>
          <a:lstStyle/>
          <a:p>
            <a:pPr indent="0" marL="0">
              <a:lnSpc>
                <a:spcPct val="106000"/>
              </a:lnSpc>
              <a:buNone/>
            </a:pPr>
            <a:r>
              <a:rPr lang="en-US" sz="2400" b="1" dirty="0">
                <a:solidFill>
                  <a:schemeClr val="bg1"/>
                </a:solidFill>
                <a:latin typeface="+mn-lt" pitchFamily="34" charset="0"/>
                <a:ea typeface="+mn-lt" pitchFamily="34" charset="-122"/>
                <a:cs typeface="+mn-lt" pitchFamily="34" charset="-120"/>
              </a:rPr>
              <a:t>Security Rules</a:t>
            </a:r>
            <a:endParaRPr lang="en-US" sz="2400" dirty="0"/>
          </a:p>
        </p:txBody>
      </p:sp>
      <p:sp>
        <p:nvSpPr>
          <p:cNvPr id="9" name="Text 212: request.auth != null request.auth.uid == uid"/>
          <p:cNvSpPr txBox="1"/>
          <p:nvPr/>
        </p:nvSpPr>
        <p:spPr>
          <a:xfrm>
            <a:off x="800100" y="3200400"/>
            <a:ext cx="4686300" cy="800100"/>
          </a:xfrm>
          <a:prstGeom prst="rect">
            <a:avLst/>
          </a:prstGeom>
          <a:noFill/>
          <a:ln/>
        </p:spPr>
        <p:txBody>
          <a:bodyPr wrap="square" lIns="0" tIns="0" rIns="0" bIns="0" rtlCol="0" anchor="t"/>
          <a:lstStyle/>
          <a:p>
            <a:pPr indent="0" marL="0">
              <a:lnSpc>
                <a:spcPct val="106000"/>
              </a:lnSpc>
              <a:buNone/>
            </a:pPr>
            <a:r>
              <a:rPr lang="en-US" sz="2200" b="1" dirty="0">
                <a:solidFill>
                  <a:schemeClr val="accent1"/>
                </a:solidFill>
                <a:latin typeface="+mn-lt" pitchFamily="34" charset="0"/>
                <a:ea typeface="+mn-lt" pitchFamily="34" charset="-122"/>
                <a:cs typeface="+mn-lt" pitchFamily="34" charset="-120"/>
              </a:rPr>
              <a:t>request.auth != null</a:t>
            </a:r>
            <a:endParaRPr lang="en-US" sz="2200" dirty="0"/>
          </a:p>
          <a:p>
            <a:pPr indent="0" marL="0">
              <a:lnSpc>
                <a:spcPct val="106000"/>
              </a:lnSpc>
              <a:buNone/>
            </a:pPr>
            <a:r>
              <a:rPr lang="en-US" sz="2200" b="1" dirty="0">
                <a:solidFill>
                  <a:schemeClr val="accent1"/>
                </a:solidFill>
                <a:latin typeface="+mn-lt" pitchFamily="34" charset="0"/>
                <a:ea typeface="+mn-lt" pitchFamily="34" charset="-122"/>
                <a:cs typeface="+mn-lt" pitchFamily="34" charset="-120"/>
              </a:rPr>
              <a:t>request.auth.uid == uid</a:t>
            </a:r>
            <a:endParaRPr lang="en-US" sz="2200" dirty="0"/>
          </a:p>
        </p:txBody>
      </p:sp>
      <p:sp>
        <p:nvSpPr>
          <p:cNvPr id="10" name="Text 213: Firestore: trường + chủ + path Storage: MIME, 0 &amp;lt; size ≤10 MiB Kh"/>
          <p:cNvSpPr txBox="1"/>
          <p:nvPr/>
        </p:nvSpPr>
        <p:spPr>
          <a:xfrm>
            <a:off x="800100" y="4343400"/>
            <a:ext cx="4686300" cy="914400"/>
          </a:xfrm>
          <a:prstGeom prst="rect">
            <a:avLst/>
          </a:prstGeom>
          <a:noFill/>
          <a:ln/>
        </p:spPr>
        <p:txBody>
          <a:bodyPr wrap="square" lIns="0" tIns="0" rIns="0" bIns="0" rtlCol="0" anchor="t"/>
          <a:lstStyle/>
          <a:p>
            <a:pPr indent="0" marL="0">
              <a:lnSpc>
                <a:spcPct val="106000"/>
              </a:lnSpc>
              <a:buNone/>
            </a:pPr>
            <a:r>
              <a:rPr lang="en-US" sz="1800" dirty="0">
                <a:solidFill>
                  <a:schemeClr val="bg1"/>
                </a:solidFill>
                <a:latin typeface="+mn-lt" pitchFamily="34" charset="0"/>
                <a:ea typeface="+mn-lt" pitchFamily="34" charset="-122"/>
                <a:cs typeface="+mn-lt" pitchFamily="34" charset="-120"/>
              </a:rPr>
              <a:t>Firestore: trường + chủ + path</a:t>
            </a:r>
            <a:endParaRPr lang="en-US" sz="1800" dirty="0"/>
          </a:p>
          <a:p>
            <a:pPr indent="0" marL="0">
              <a:lnSpc>
                <a:spcPct val="106000"/>
              </a:lnSpc>
              <a:buNone/>
            </a:pPr>
            <a:r>
              <a:rPr lang="en-US" sz="1800" dirty="0">
                <a:solidFill>
                  <a:schemeClr val="bg1"/>
                </a:solidFill>
                <a:latin typeface="+mn-lt" pitchFamily="34" charset="0"/>
                <a:ea typeface="+mn-lt" pitchFamily="34" charset="-122"/>
                <a:cs typeface="+mn-lt" pitchFamily="34" charset="-120"/>
              </a:rPr>
              <a:t>Storage: MIME, 0 &lt; size ≤10 MiB</a:t>
            </a:r>
            <a:endParaRPr lang="en-US" sz="1800" dirty="0"/>
          </a:p>
          <a:p>
            <a:pPr indent="0" marL="0">
              <a:lnSpc>
                <a:spcPct val="106000"/>
              </a:lnSpc>
              <a:buNone/>
            </a:pPr>
            <a:r>
              <a:rPr lang="en-US" sz="1800" dirty="0">
                <a:solidFill>
                  <a:schemeClr val="bg1"/>
                </a:solidFill>
                <a:latin typeface="+mn-lt" pitchFamily="34" charset="0"/>
                <a:ea typeface="+mn-lt" pitchFamily="34" charset="-122"/>
                <a:cs typeface="+mn-lt" pitchFamily="34" charset="-120"/>
              </a:rPr>
              <a:t>Không ghi đè object</a:t>
            </a:r>
            <a:endParaRPr lang="en-US" sz="1800" dirty="0"/>
          </a:p>
        </p:txBody>
      </p:sp>
      <p:sp>
        <p:nvSpPr>
          <p:cNvPr id="11" name="Content panel 214"/>
          <p:cNvSpPr/>
          <p:nvPr/>
        </p:nvSpPr>
        <p:spPr>
          <a:xfrm>
            <a:off x="6172200" y="2171700"/>
            <a:ext cx="5486400" cy="914400"/>
          </a:xfrm>
          <a:prstGeom prst="roundRect">
            <a:avLst>
              <a:gd name="adj" fmla="val 16000"/>
            </a:avLst>
          </a:prstGeom>
          <a:solidFill>
            <a:schemeClr val="bg2"/>
          </a:solidFill>
          <a:ln w="10160">
            <a:solidFill>
              <a:schemeClr val="bg2"/>
            </a:solidFill>
            <a:prstDash val="solid"/>
          </a:ln>
        </p:spPr>
      </p:sp>
      <p:sp>
        <p:nvSpPr>
          <p:cNvPr id="12" name="Text 215: UID trùng đường dẫn"/>
          <p:cNvSpPr txBox="1"/>
          <p:nvPr/>
        </p:nvSpPr>
        <p:spPr>
          <a:xfrm>
            <a:off x="6400800" y="2286000"/>
            <a:ext cx="5029200" cy="342900"/>
          </a:xfrm>
          <a:prstGeom prst="rect">
            <a:avLst/>
          </a:prstGeom>
          <a:noFill/>
          <a:ln/>
        </p:spPr>
        <p:txBody>
          <a:bodyPr wrap="square" lIns="0" tIns="0" rIns="0" bIns="0" rtlCol="0" anchor="t"/>
          <a:lstStyle/>
          <a:p>
            <a:pPr indent="0" marL="0">
              <a:lnSpc>
                <a:spcPct val="106000"/>
              </a:lnSpc>
              <a:buNone/>
            </a:pPr>
            <a:r>
              <a:rPr lang="en-US" sz="2000" b="1" dirty="0">
                <a:solidFill>
                  <a:schemeClr val="accent4"/>
                </a:solidFill>
                <a:latin typeface="+mn-lt" pitchFamily="34" charset="0"/>
                <a:ea typeface="+mn-lt" pitchFamily="34" charset="-122"/>
                <a:cs typeface="+mn-lt" pitchFamily="34" charset="-120"/>
              </a:rPr>
              <a:t>UID trùng đường dẫn</a:t>
            </a:r>
            <a:endParaRPr lang="en-US" sz="2000" dirty="0"/>
          </a:p>
        </p:txBody>
      </p:sp>
      <p:sp>
        <p:nvSpPr>
          <p:cNvPr id="13" name="Text 216: Cho phép theo Rules của chủ sở hữu"/>
          <p:cNvSpPr txBox="1"/>
          <p:nvPr/>
        </p:nvSpPr>
        <p:spPr>
          <a:xfrm>
            <a:off x="6400800" y="2628900"/>
            <a:ext cx="50292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Cho phép theo Rules của chủ sở hữu</a:t>
            </a:r>
            <a:endParaRPr lang="en-US" sz="1800" dirty="0"/>
          </a:p>
        </p:txBody>
      </p:sp>
      <p:sp>
        <p:nvSpPr>
          <p:cNvPr id="14" name="Content panel 217"/>
          <p:cNvSpPr/>
          <p:nvPr/>
        </p:nvSpPr>
        <p:spPr>
          <a:xfrm>
            <a:off x="6172200" y="3314700"/>
            <a:ext cx="5486400" cy="914400"/>
          </a:xfrm>
          <a:prstGeom prst="roundRect">
            <a:avLst>
              <a:gd name="adj" fmla="val 16000"/>
            </a:avLst>
          </a:prstGeom>
          <a:solidFill>
            <a:schemeClr val="bg2"/>
          </a:solidFill>
          <a:ln w="10160">
            <a:solidFill>
              <a:schemeClr val="bg2"/>
            </a:solidFill>
            <a:prstDash val="solid"/>
          </a:ln>
        </p:spPr>
      </p:sp>
      <p:sp>
        <p:nvSpPr>
          <p:cNvPr id="15" name="Text 218: UID khác chủ sở hữu"/>
          <p:cNvSpPr txBox="1"/>
          <p:nvPr/>
        </p:nvSpPr>
        <p:spPr>
          <a:xfrm>
            <a:off x="6400800" y="3429000"/>
            <a:ext cx="5029200" cy="342900"/>
          </a:xfrm>
          <a:prstGeom prst="rect">
            <a:avLst/>
          </a:prstGeom>
          <a:noFill/>
          <a:ln/>
        </p:spPr>
        <p:txBody>
          <a:bodyPr wrap="square" lIns="0" tIns="0" rIns="0" bIns="0" rtlCol="0" anchor="t"/>
          <a:lstStyle/>
          <a:p>
            <a:pPr indent="0" marL="0">
              <a:lnSpc>
                <a:spcPct val="106000"/>
              </a:lnSpc>
              <a:buNone/>
            </a:pPr>
            <a:r>
              <a:rPr lang="en-US" sz="2000" b="1" dirty="0">
                <a:solidFill>
                  <a:schemeClr val="accent5"/>
                </a:solidFill>
                <a:latin typeface="+mn-lt" pitchFamily="34" charset="0"/>
                <a:ea typeface="+mn-lt" pitchFamily="34" charset="-122"/>
                <a:cs typeface="+mn-lt" pitchFamily="34" charset="-120"/>
              </a:rPr>
              <a:t>UID khác chủ sở hữu</a:t>
            </a:r>
            <a:endParaRPr lang="en-US" sz="2000" dirty="0"/>
          </a:p>
        </p:txBody>
      </p:sp>
      <p:sp>
        <p:nvSpPr>
          <p:cNvPr id="16" name="Text 219: Từ chối đọc / ghi dữ liệu của người khác"/>
          <p:cNvSpPr txBox="1"/>
          <p:nvPr/>
        </p:nvSpPr>
        <p:spPr>
          <a:xfrm>
            <a:off x="6400800" y="3771900"/>
            <a:ext cx="50292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Từ chối đọc / ghi dữ liệu của người khác</a:t>
            </a:r>
            <a:endParaRPr lang="en-US" sz="1800" dirty="0"/>
          </a:p>
        </p:txBody>
      </p:sp>
      <p:sp>
        <p:nvSpPr>
          <p:cNvPr id="17" name="Content panel 220"/>
          <p:cNvSpPr/>
          <p:nvPr/>
        </p:nvSpPr>
        <p:spPr>
          <a:xfrm>
            <a:off x="6172200" y="4457700"/>
            <a:ext cx="5486400" cy="914400"/>
          </a:xfrm>
          <a:prstGeom prst="roundRect">
            <a:avLst>
              <a:gd name="adj" fmla="val 16000"/>
            </a:avLst>
          </a:prstGeom>
          <a:solidFill>
            <a:schemeClr val="bg2"/>
          </a:solidFill>
          <a:ln w="10160">
            <a:solidFill>
              <a:schemeClr val="bg2"/>
            </a:solidFill>
            <a:prstDash val="solid"/>
          </a:ln>
        </p:spPr>
      </p:sp>
      <p:sp>
        <p:nvSpPr>
          <p:cNvPr id="18" name="Text 221: Chưa đăng nhập"/>
          <p:cNvSpPr txBox="1"/>
          <p:nvPr/>
        </p:nvSpPr>
        <p:spPr>
          <a:xfrm>
            <a:off x="6400800" y="4572000"/>
            <a:ext cx="5029200" cy="342900"/>
          </a:xfrm>
          <a:prstGeom prst="rect">
            <a:avLst/>
          </a:prstGeom>
          <a:noFill/>
          <a:ln/>
        </p:spPr>
        <p:txBody>
          <a:bodyPr wrap="square" lIns="0" tIns="0" rIns="0" bIns="0" rtlCol="0" anchor="t"/>
          <a:lstStyle/>
          <a:p>
            <a:pPr indent="0" marL="0">
              <a:lnSpc>
                <a:spcPct val="106000"/>
              </a:lnSpc>
              <a:buNone/>
            </a:pPr>
            <a:r>
              <a:rPr lang="en-US" sz="2000" b="1" dirty="0">
                <a:solidFill>
                  <a:schemeClr val="accent5"/>
                </a:solidFill>
                <a:latin typeface="+mn-lt" pitchFamily="34" charset="0"/>
                <a:ea typeface="+mn-lt" pitchFamily="34" charset="-122"/>
                <a:cs typeface="+mn-lt" pitchFamily="34" charset="-120"/>
              </a:rPr>
              <a:t>Chưa đăng nhập</a:t>
            </a:r>
            <a:endParaRPr lang="en-US" sz="2000" dirty="0"/>
          </a:p>
        </p:txBody>
      </p:sp>
      <p:sp>
        <p:nvSpPr>
          <p:cNvPr id="19" name="Text 222: Từ chối truy cập kho Cloud"/>
          <p:cNvSpPr txBox="1"/>
          <p:nvPr/>
        </p:nvSpPr>
        <p:spPr>
          <a:xfrm>
            <a:off x="6400800" y="4914900"/>
            <a:ext cx="50292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Từ chối truy cập kho Cloud</a:t>
            </a:r>
            <a:endParaRPr lang="en-US" sz="1800" dirty="0"/>
          </a:p>
        </p:txBody>
      </p:sp>
      <p:sp>
        <p:nvSpPr>
          <p:cNvPr id="20" name="Content panel 223"/>
          <p:cNvSpPr/>
          <p:nvPr/>
        </p:nvSpPr>
        <p:spPr>
          <a:xfrm>
            <a:off x="571500" y="5486400"/>
            <a:ext cx="11087100" cy="342900"/>
          </a:xfrm>
          <a:prstGeom prst="roundRect">
            <a:avLst>
              <a:gd name="adj" fmla="val 42667"/>
            </a:avLst>
          </a:prstGeom>
          <a:solidFill>
            <a:schemeClr val="bg2"/>
          </a:solidFill>
          <a:ln w="10160">
            <a:solidFill>
              <a:schemeClr val="bg2"/>
            </a:solidFill>
            <a:prstDash val="solid"/>
          </a:ln>
        </p:spPr>
      </p:sp>
      <p:sp>
        <p:nvSpPr>
          <p:cNvPr id="21" name="Text 224: CORS không thay thế Rules. Không công khai bucket và không phát h"/>
          <p:cNvSpPr txBox="1"/>
          <p:nvPr/>
        </p:nvSpPr>
        <p:spPr>
          <a:xfrm>
            <a:off x="800100" y="5600700"/>
            <a:ext cx="10629900" cy="114300"/>
          </a:xfrm>
          <a:prstGeom prst="rect">
            <a:avLst/>
          </a:prstGeom>
          <a:noFill/>
          <a:ln/>
        </p:spPr>
        <p:txBody>
          <a:bodyPr wrap="square" lIns="0" tIns="0" rIns="0" bIns="0" rtlCol="0" anchor="ctr"/>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CORS không thay thế Rules. Không công khai bucket và không phát hành link tải public.</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Chi phí: Blaze và kiểm soát mức dùng</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03 | BẢO MẬT, CHI PHÍ, HIỆU NĂNG</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Không cam kết “miễn phí $0”; phải kiểm tra giá theo vùng và loại tài nguyên thực tế</a:t>
            </a:r>
            <a:endParaRPr lang="en-US" sz="1800" dirty="0"/>
          </a:p>
        </p:txBody>
      </p:sp>
      <p:sp>
        <p:nvSpPr>
          <p:cNvPr id="5" name="Text 225: Nguồn: F6 · F7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F6 · F7 | URL đầy đủ trong ghi chú và slide 18</a:t>
            </a:r>
            <a:endParaRPr lang="en-US" sz="1200" dirty="0"/>
          </a:p>
        </p:txBody>
      </p:sp>
      <p:sp>
        <p:nvSpPr>
          <p:cNvPr id="7" name="Content panel 226"/>
          <p:cNvSpPr/>
          <p:nvPr/>
        </p:nvSpPr>
        <p:spPr>
          <a:xfrm>
            <a:off x="571500" y="2171700"/>
            <a:ext cx="4000500" cy="3543300"/>
          </a:xfrm>
          <a:prstGeom prst="roundRect">
            <a:avLst>
              <a:gd name="adj" fmla="val 4129"/>
            </a:avLst>
          </a:prstGeom>
          <a:solidFill>
            <a:schemeClr val="tx1"/>
          </a:solidFill>
          <a:ln w="10160">
            <a:solidFill>
              <a:schemeClr val="tx1"/>
            </a:solidFill>
            <a:prstDash val="solid"/>
          </a:ln>
        </p:spPr>
      </p:sp>
      <p:sp>
        <p:nvSpPr>
          <p:cNvPr id="8" name="Text 227: YÊU CẦU ĐỂ DÙNG STORAGE"/>
          <p:cNvSpPr txBox="1"/>
          <p:nvPr/>
        </p:nvSpPr>
        <p:spPr>
          <a:xfrm>
            <a:off x="800100" y="2400300"/>
            <a:ext cx="3543300" cy="342900"/>
          </a:xfrm>
          <a:prstGeom prst="rect">
            <a:avLst/>
          </a:prstGeom>
          <a:noFill/>
          <a:ln/>
        </p:spPr>
        <p:txBody>
          <a:bodyPr wrap="square" lIns="0" tIns="0" rIns="0" bIns="0" rtlCol="0" anchor="t"/>
          <a:lstStyle/>
          <a:p>
            <a:pPr indent="0" marL="0">
              <a:lnSpc>
                <a:spcPct val="106000"/>
              </a:lnSpc>
              <a:buNone/>
            </a:pPr>
            <a:r>
              <a:rPr lang="en-US" sz="1200" b="1" dirty="0">
                <a:solidFill>
                  <a:schemeClr val="accent6"/>
                </a:solidFill>
                <a:latin typeface="+mn-lt" pitchFamily="34" charset="0"/>
                <a:ea typeface="+mn-lt" pitchFamily="34" charset="-122"/>
                <a:cs typeface="+mn-lt" pitchFamily="34" charset="-120"/>
              </a:rPr>
              <a:t>YÊU CẦU ĐỂ DÙNG STORAGE</a:t>
            </a:r>
            <a:endParaRPr lang="en-US" sz="1200" dirty="0"/>
          </a:p>
        </p:txBody>
      </p:sp>
      <p:sp>
        <p:nvSpPr>
          <p:cNvPr id="9" name="Text 228: Blaze"/>
          <p:cNvSpPr txBox="1"/>
          <p:nvPr/>
        </p:nvSpPr>
        <p:spPr>
          <a:xfrm>
            <a:off x="800100" y="2971800"/>
            <a:ext cx="3543300" cy="1028700"/>
          </a:xfrm>
          <a:prstGeom prst="rect">
            <a:avLst/>
          </a:prstGeom>
          <a:noFill/>
          <a:ln/>
        </p:spPr>
        <p:txBody>
          <a:bodyPr wrap="square" lIns="0" tIns="0" rIns="0" bIns="0" rtlCol="0" anchor="t"/>
          <a:lstStyle/>
          <a:p>
            <a:pPr indent="0" marL="0">
              <a:lnSpc>
                <a:spcPct val="106000"/>
              </a:lnSpc>
              <a:buNone/>
            </a:pPr>
            <a:r>
              <a:rPr lang="en-US" sz="6000" b="1" dirty="0">
                <a:solidFill>
                  <a:schemeClr val="accent1"/>
                </a:solidFill>
                <a:latin typeface="+mn-lt" pitchFamily="34" charset="0"/>
                <a:ea typeface="+mn-lt" pitchFamily="34" charset="-122"/>
                <a:cs typeface="+mn-lt" pitchFamily="34" charset="-120"/>
              </a:rPr>
              <a:t>Blaze</a:t>
            </a:r>
            <a:endParaRPr lang="en-US" sz="6000" dirty="0"/>
          </a:p>
        </p:txBody>
      </p:sp>
      <p:sp>
        <p:nvSpPr>
          <p:cNvPr id="10" name="Text 229: Từ tháng 02/2026"/>
          <p:cNvSpPr txBox="1"/>
          <p:nvPr/>
        </p:nvSpPr>
        <p:spPr>
          <a:xfrm>
            <a:off x="800100" y="4114800"/>
            <a:ext cx="3543300" cy="457200"/>
          </a:xfrm>
          <a:prstGeom prst="rect">
            <a:avLst/>
          </a:prstGeom>
          <a:noFill/>
          <a:ln/>
        </p:spPr>
        <p:txBody>
          <a:bodyPr wrap="square" lIns="0" tIns="0" rIns="0" bIns="0" rtlCol="0" anchor="t"/>
          <a:lstStyle/>
          <a:p>
            <a:pPr indent="0" marL="0">
              <a:lnSpc>
                <a:spcPct val="106000"/>
              </a:lnSpc>
              <a:buNone/>
            </a:pPr>
            <a:r>
              <a:rPr lang="en-US" sz="2200" b="1" dirty="0">
                <a:solidFill>
                  <a:schemeClr val="bg1"/>
                </a:solidFill>
                <a:latin typeface="+mn-lt" pitchFamily="34" charset="0"/>
                <a:ea typeface="+mn-lt" pitchFamily="34" charset="-122"/>
                <a:cs typeface="+mn-lt" pitchFamily="34" charset="-120"/>
              </a:rPr>
              <a:t>Từ tháng 02/2026</a:t>
            </a:r>
            <a:endParaRPr lang="en-US" sz="2200" dirty="0"/>
          </a:p>
        </p:txBody>
      </p:sp>
      <p:sp>
        <p:nvSpPr>
          <p:cNvPr id="11" name="Text 230: Gắn Cloud Billing. Không bảo đảm chi phí $0."/>
          <p:cNvSpPr txBox="1"/>
          <p:nvPr/>
        </p:nvSpPr>
        <p:spPr>
          <a:xfrm>
            <a:off x="800100" y="4914900"/>
            <a:ext cx="3543300" cy="685800"/>
          </a:xfrm>
          <a:prstGeom prst="rect">
            <a:avLst/>
          </a:prstGeom>
          <a:noFill/>
          <a:ln/>
        </p:spPr>
        <p:txBody>
          <a:bodyPr wrap="square" lIns="0" tIns="0" rIns="0" bIns="0" rtlCol="0" anchor="t"/>
          <a:lstStyle/>
          <a:p>
            <a:pPr indent="0" marL="0">
              <a:lnSpc>
                <a:spcPct val="106000"/>
              </a:lnSpc>
              <a:buNone/>
            </a:pPr>
            <a:r>
              <a:rPr lang="en-US" sz="1800" dirty="0">
                <a:solidFill>
                  <a:schemeClr val="bg1"/>
                </a:solidFill>
                <a:latin typeface="+mn-lt" pitchFamily="34" charset="0"/>
                <a:ea typeface="+mn-lt" pitchFamily="34" charset="-122"/>
                <a:cs typeface="+mn-lt" pitchFamily="34" charset="-120"/>
              </a:rPr>
              <a:t>Gắn Cloud Billing.</a:t>
            </a:r>
            <a:endParaRPr lang="en-US" sz="1800" dirty="0"/>
          </a:p>
          <a:p>
            <a:pPr indent="0" marL="0">
              <a:lnSpc>
                <a:spcPct val="106000"/>
              </a:lnSpc>
              <a:buNone/>
            </a:pPr>
            <a:r>
              <a:rPr lang="en-US" sz="1800" dirty="0">
                <a:solidFill>
                  <a:schemeClr val="bg1"/>
                </a:solidFill>
                <a:latin typeface="+mn-lt" pitchFamily="34" charset="0"/>
                <a:ea typeface="+mn-lt" pitchFamily="34" charset="-122"/>
                <a:cs typeface="+mn-lt" pitchFamily="34" charset="-120"/>
              </a:rPr>
              <a:t>Không bảo đảm chi phí $0.</a:t>
            </a:r>
            <a:endParaRPr lang="en-US" sz="1800" dirty="0"/>
          </a:p>
        </p:txBody>
      </p:sp>
      <p:sp>
        <p:nvSpPr>
          <p:cNvPr id="12" name="Text 231: Đơn giá phụ thuộc vùng và mức dùng"/>
          <p:cNvSpPr txBox="1"/>
          <p:nvPr/>
        </p:nvSpPr>
        <p:spPr>
          <a:xfrm>
            <a:off x="5143500" y="2286000"/>
            <a:ext cx="6515100" cy="457200"/>
          </a:xfrm>
          <a:prstGeom prst="rect">
            <a:avLst/>
          </a:prstGeom>
          <a:noFill/>
          <a:ln/>
        </p:spPr>
        <p:txBody>
          <a:bodyPr wrap="square" lIns="0" tIns="0" rIns="0" bIns="0" rtlCol="0" anchor="t"/>
          <a:lstStyle/>
          <a:p>
            <a:pPr indent="0" marL="0">
              <a:lnSpc>
                <a:spcPct val="106000"/>
              </a:lnSpc>
              <a:buNone/>
            </a:pPr>
            <a:r>
              <a:rPr lang="en-US" sz="2400" b="1" dirty="0">
                <a:solidFill>
                  <a:schemeClr val="tx1"/>
                </a:solidFill>
                <a:latin typeface="+mn-lt" pitchFamily="34" charset="0"/>
                <a:ea typeface="+mn-lt" pitchFamily="34" charset="-122"/>
                <a:cs typeface="+mn-lt" pitchFamily="34" charset="-120"/>
              </a:rPr>
              <a:t>Đơn giá phụ thuộc vùng và mức dùng</a:t>
            </a:r>
            <a:endParaRPr lang="en-US" sz="2400" dirty="0"/>
          </a:p>
        </p:txBody>
      </p:sp>
      <p:sp>
        <p:nvSpPr>
          <p:cNvPr id="13" name="Text 232: Firestore: reads / writes / deletes. Storage: dung lượng, thao tá"/>
          <p:cNvSpPr txBox="1"/>
          <p:nvPr/>
        </p:nvSpPr>
        <p:spPr>
          <a:xfrm>
            <a:off x="5143500" y="3086100"/>
            <a:ext cx="6515100" cy="1143000"/>
          </a:xfrm>
          <a:prstGeom prst="rect">
            <a:avLst/>
          </a:prstGeom>
          <a:noFill/>
          <a:ln/>
        </p:spPr>
        <p:txBody>
          <a:bodyPr wrap="square" lIns="0" tIns="0" rIns="0" bIns="0" rtlCol="0" anchor="t"/>
          <a:lstStyle/>
          <a:p>
            <a:pPr indent="0" marL="0">
              <a:lnSpc>
                <a:spcPct val="106000"/>
              </a:lnSpc>
              <a:buNone/>
            </a:pPr>
            <a:r>
              <a:rPr lang="en-US" sz="2000" dirty="0">
                <a:solidFill>
                  <a:schemeClr val="tx1"/>
                </a:solidFill>
                <a:latin typeface="+mn-lt" pitchFamily="34" charset="0"/>
                <a:ea typeface="+mn-lt" pitchFamily="34" charset="-122"/>
                <a:cs typeface="+mn-lt" pitchFamily="34" charset="-120"/>
              </a:rPr>
              <a:t>Firestore: reads / writes / deletes.</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Storage: dung lượng, thao tác, egress.</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Kiểm tra bảng giá và usage thật.</a:t>
            </a:r>
            <a:endParaRPr lang="en-US" sz="2000" dirty="0"/>
          </a:p>
        </p:txBody>
      </p:sp>
      <p:sp>
        <p:nvSpPr>
          <p:cNvPr id="14" name="Content panel 233"/>
          <p:cNvSpPr/>
          <p:nvPr/>
        </p:nvSpPr>
        <p:spPr>
          <a:xfrm>
            <a:off x="5143500" y="4457700"/>
            <a:ext cx="6515100" cy="1257300"/>
          </a:xfrm>
          <a:prstGeom prst="roundRect">
            <a:avLst>
              <a:gd name="adj" fmla="val 11636"/>
            </a:avLst>
          </a:prstGeom>
          <a:solidFill>
            <a:schemeClr val="bg2"/>
          </a:solidFill>
          <a:ln w="10160">
            <a:solidFill>
              <a:schemeClr val="bg2"/>
            </a:solidFill>
            <a:prstDash val="solid"/>
          </a:ln>
        </p:spPr>
      </p:sp>
      <p:sp>
        <p:nvSpPr>
          <p:cNvPr id="15" name="Text 234: Budget alerts ≠ hard cap"/>
          <p:cNvSpPr txBox="1"/>
          <p:nvPr/>
        </p:nvSpPr>
        <p:spPr>
          <a:xfrm>
            <a:off x="5372100" y="4686300"/>
            <a:ext cx="6057900" cy="4572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Budget alerts ≠ hard cap</a:t>
            </a:r>
            <a:endParaRPr lang="en-US" sz="2200" dirty="0"/>
          </a:p>
        </p:txBody>
      </p:sp>
      <p:sp>
        <p:nvSpPr>
          <p:cNvPr id="16" name="Text 235: Cảnh báo không tự dừng phát sinh phí."/>
          <p:cNvSpPr txBox="1"/>
          <p:nvPr/>
        </p:nvSpPr>
        <p:spPr>
          <a:xfrm>
            <a:off x="5372100" y="5257800"/>
            <a:ext cx="60579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Cảnh báo không tự dừng phát sinh phí.</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Hiệu năng: bắt đầu từ workload có thật</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03 | BẢO MẬT, CHI PHÍ, HIỆU NĂNG</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Ví dụ khối lượng cho một kỳ đánh giá, không phải kết quả benchmark hay dự toán giá</a:t>
            </a:r>
            <a:endParaRPr lang="en-US" sz="1800" dirty="0"/>
          </a:p>
        </p:txBody>
      </p:sp>
      <p:sp>
        <p:nvSpPr>
          <p:cNvPr id="5" name="Text 236: Nguồn: F4 · F7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F4 · F7 | URL đầy đủ trong ghi chú và slide 18</a:t>
            </a:r>
            <a:endParaRPr lang="en-US" sz="1200" dirty="0"/>
          </a:p>
        </p:txBody>
      </p:sp>
      <p:sp>
        <p:nvSpPr>
          <p:cNvPr id="7" name="Content panel 237"/>
          <p:cNvSpPr/>
          <p:nvPr/>
        </p:nvSpPr>
        <p:spPr>
          <a:xfrm>
            <a:off x="571500" y="2171700"/>
            <a:ext cx="5372100" cy="1943100"/>
          </a:xfrm>
          <a:prstGeom prst="roundRect">
            <a:avLst>
              <a:gd name="adj" fmla="val 7529"/>
            </a:avLst>
          </a:prstGeom>
          <a:solidFill>
            <a:schemeClr val="bg2"/>
          </a:solidFill>
          <a:ln w="10160">
            <a:solidFill>
              <a:schemeClr val="bg2"/>
            </a:solidFill>
            <a:prstDash val="solid"/>
          </a:ln>
        </p:spPr>
      </p:sp>
      <p:sp>
        <p:nvSpPr>
          <p:cNvPr id="8" name="Content panel 238"/>
          <p:cNvSpPr/>
          <p:nvPr/>
        </p:nvSpPr>
        <p:spPr>
          <a:xfrm>
            <a:off x="6286500" y="2171700"/>
            <a:ext cx="5372100" cy="1943100"/>
          </a:xfrm>
          <a:prstGeom prst="roundRect">
            <a:avLst>
              <a:gd name="adj" fmla="val 7529"/>
            </a:avLst>
          </a:prstGeom>
          <a:solidFill>
            <a:schemeClr val="accent1"/>
          </a:solidFill>
          <a:ln w="10160">
            <a:solidFill>
              <a:schemeClr val="accent1"/>
            </a:solidFill>
            <a:prstDash val="solid"/>
          </a:ln>
        </p:spPr>
      </p:sp>
      <p:sp>
        <p:nvSpPr>
          <p:cNvPr id="9" name="Text 239: BINARY LƯU TRỮ"/>
          <p:cNvSpPr txBox="1"/>
          <p:nvPr/>
        </p:nvSpPr>
        <p:spPr>
          <a:xfrm>
            <a:off x="800100" y="2400300"/>
            <a:ext cx="4914900" cy="342900"/>
          </a:xfrm>
          <a:prstGeom prst="rect">
            <a:avLst/>
          </a:prstGeom>
          <a:noFill/>
          <a:ln/>
        </p:spPr>
        <p:txBody>
          <a:bodyPr wrap="square" lIns="0" tIns="0" rIns="0" bIns="0" rtlCol="0" anchor="t"/>
          <a:lstStyle/>
          <a:p>
            <a:pPr indent="0" marL="0">
              <a:lnSpc>
                <a:spcPct val="106000"/>
              </a:lnSpc>
              <a:buNone/>
            </a:pPr>
            <a:r>
              <a:rPr lang="en-US" sz="1200" b="1" dirty="0">
                <a:solidFill>
                  <a:schemeClr val="tx1"/>
                </a:solidFill>
                <a:latin typeface="+mn-lt" pitchFamily="34" charset="0"/>
                <a:ea typeface="+mn-lt" pitchFamily="34" charset="-122"/>
                <a:cs typeface="+mn-lt" pitchFamily="34" charset="-120"/>
              </a:rPr>
              <a:t>BINARY LƯU TRỮ</a:t>
            </a:r>
            <a:endParaRPr lang="en-US" sz="1200" dirty="0"/>
          </a:p>
        </p:txBody>
      </p:sp>
      <p:sp>
        <p:nvSpPr>
          <p:cNvPr id="10" name="Text 240: 60 MiB"/>
          <p:cNvSpPr txBox="1"/>
          <p:nvPr/>
        </p:nvSpPr>
        <p:spPr>
          <a:xfrm>
            <a:off x="800100" y="2971800"/>
            <a:ext cx="4914900" cy="914400"/>
          </a:xfrm>
          <a:prstGeom prst="rect">
            <a:avLst/>
          </a:prstGeom>
          <a:noFill/>
          <a:ln/>
        </p:spPr>
        <p:txBody>
          <a:bodyPr wrap="square" lIns="0" tIns="0" rIns="0" bIns="0" rtlCol="0" anchor="t"/>
          <a:lstStyle/>
          <a:p>
            <a:pPr indent="0" marL="0">
              <a:lnSpc>
                <a:spcPct val="106000"/>
              </a:lnSpc>
              <a:buNone/>
            </a:pPr>
            <a:r>
              <a:rPr lang="en-US" sz="6000" b="1" dirty="0">
                <a:solidFill>
                  <a:schemeClr val="tx1"/>
                </a:solidFill>
                <a:latin typeface="+mn-lt" pitchFamily="34" charset="0"/>
                <a:ea typeface="+mn-lt" pitchFamily="34" charset="-122"/>
                <a:cs typeface="+mn-lt" pitchFamily="34" charset="-120"/>
              </a:rPr>
              <a:t>60 MiB</a:t>
            </a:r>
            <a:endParaRPr lang="en-US" sz="6000" dirty="0"/>
          </a:p>
        </p:txBody>
      </p:sp>
      <p:sp>
        <p:nvSpPr>
          <p:cNvPr id="11" name="Text 241: 30 tài liệu × 2 MiB"/>
          <p:cNvSpPr txBox="1"/>
          <p:nvPr/>
        </p:nvSpPr>
        <p:spPr>
          <a:xfrm>
            <a:off x="800100" y="3771900"/>
            <a:ext cx="49149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30 tài liệu × 2 MiB</a:t>
            </a:r>
            <a:endParaRPr lang="en-US" sz="1800" dirty="0"/>
          </a:p>
        </p:txBody>
      </p:sp>
      <p:sp>
        <p:nvSpPr>
          <p:cNvPr id="12" name="Text 242: DỮ LIỆU FILE ĐI RA"/>
          <p:cNvSpPr txBox="1"/>
          <p:nvPr/>
        </p:nvSpPr>
        <p:spPr>
          <a:xfrm>
            <a:off x="6515100" y="2400300"/>
            <a:ext cx="4914900" cy="342900"/>
          </a:xfrm>
          <a:prstGeom prst="rect">
            <a:avLst/>
          </a:prstGeom>
          <a:noFill/>
          <a:ln/>
        </p:spPr>
        <p:txBody>
          <a:bodyPr wrap="square" lIns="0" tIns="0" rIns="0" bIns="0" rtlCol="0" anchor="t"/>
          <a:lstStyle/>
          <a:p>
            <a:pPr indent="0" marL="0">
              <a:lnSpc>
                <a:spcPct val="106000"/>
              </a:lnSpc>
              <a:buNone/>
            </a:pPr>
            <a:r>
              <a:rPr lang="en-US" sz="1200" b="1" dirty="0">
                <a:solidFill>
                  <a:schemeClr val="tx1"/>
                </a:solidFill>
                <a:latin typeface="+mn-lt" pitchFamily="34" charset="0"/>
                <a:ea typeface="+mn-lt" pitchFamily="34" charset="-122"/>
                <a:cs typeface="+mn-lt" pitchFamily="34" charset="-120"/>
              </a:rPr>
              <a:t>DỮ LIỆU FILE ĐI RA</a:t>
            </a:r>
            <a:endParaRPr lang="en-US" sz="1200" dirty="0"/>
          </a:p>
        </p:txBody>
      </p:sp>
      <p:sp>
        <p:nvSpPr>
          <p:cNvPr id="13" name="Text 243: 240 MiB"/>
          <p:cNvSpPr txBox="1"/>
          <p:nvPr/>
        </p:nvSpPr>
        <p:spPr>
          <a:xfrm>
            <a:off x="6515100" y="2971800"/>
            <a:ext cx="4914900" cy="914400"/>
          </a:xfrm>
          <a:prstGeom prst="rect">
            <a:avLst/>
          </a:prstGeom>
          <a:noFill/>
          <a:ln/>
        </p:spPr>
        <p:txBody>
          <a:bodyPr wrap="square" lIns="0" tIns="0" rIns="0" bIns="0" rtlCol="0" anchor="t"/>
          <a:lstStyle/>
          <a:p>
            <a:pPr indent="0" marL="0">
              <a:lnSpc>
                <a:spcPct val="106000"/>
              </a:lnSpc>
              <a:buNone/>
            </a:pPr>
            <a:r>
              <a:rPr lang="en-US" sz="6000" b="1" dirty="0">
                <a:solidFill>
                  <a:schemeClr val="tx1"/>
                </a:solidFill>
                <a:latin typeface="+mn-lt" pitchFamily="34" charset="0"/>
                <a:ea typeface="+mn-lt" pitchFamily="34" charset="-122"/>
                <a:cs typeface="+mn-lt" pitchFamily="34" charset="-120"/>
              </a:rPr>
              <a:t>240 MiB</a:t>
            </a:r>
            <a:endParaRPr lang="en-US" sz="6000" dirty="0"/>
          </a:p>
        </p:txBody>
      </p:sp>
      <p:sp>
        <p:nvSpPr>
          <p:cNvPr id="14" name="Text 244: 120 download × 2 MiB"/>
          <p:cNvSpPr txBox="1"/>
          <p:nvPr/>
        </p:nvSpPr>
        <p:spPr>
          <a:xfrm>
            <a:off x="6515100" y="3771900"/>
            <a:ext cx="4914900" cy="3429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120 download × 2 MiB</a:t>
            </a:r>
            <a:endParaRPr lang="en-US" sz="1800" dirty="0"/>
          </a:p>
        </p:txBody>
      </p:sp>
      <p:sp>
        <p:nvSpPr>
          <p:cNvPr id="15" name="Content panel 245"/>
          <p:cNvSpPr/>
          <p:nvPr/>
        </p:nvSpPr>
        <p:spPr>
          <a:xfrm>
            <a:off x="571500" y="4457700"/>
            <a:ext cx="11087100" cy="1257300"/>
          </a:xfrm>
          <a:prstGeom prst="roundRect">
            <a:avLst>
              <a:gd name="adj" fmla="val 11636"/>
            </a:avLst>
          </a:prstGeom>
          <a:solidFill>
            <a:schemeClr val="bg2"/>
          </a:solidFill>
          <a:ln w="10160">
            <a:solidFill>
              <a:schemeClr val="bg2"/>
            </a:solidFill>
            <a:prstDash val="solid"/>
          </a:ln>
        </p:spPr>
      </p:sp>
      <p:sp>
        <p:nvSpPr>
          <p:cNvPr id="16" name="Text 246: Giả định tải đủ tệp, không cache; chưa tính overhead"/>
          <p:cNvSpPr txBox="1"/>
          <p:nvPr/>
        </p:nvSpPr>
        <p:spPr>
          <a:xfrm>
            <a:off x="800100" y="4686300"/>
            <a:ext cx="10629900" cy="4572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Giả định tải đủ tệp, không cache; chưa tính overhead</a:t>
            </a:r>
            <a:endParaRPr lang="en-US" sz="2200" dirty="0"/>
          </a:p>
        </p:txBody>
      </p:sp>
      <p:sp>
        <p:nvSpPr>
          <p:cNvPr id="17" name="Text 247: getData nạp toàn bộ tệp vào RAM. Tốc độ tùy mạng và vị trí dịch v"/>
          <p:cNvSpPr txBox="1"/>
          <p:nvPr/>
        </p:nvSpPr>
        <p:spPr>
          <a:xfrm>
            <a:off x="800100" y="5257800"/>
            <a:ext cx="10629900" cy="4572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getData nạp toàn bộ tệp vào RAM. Tốc độ tùy mạng và vị trí dịch vụ.</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Cần đo trên dự án thật trước khi công bố số giây, độ trễ hoặc mức cải thiện.</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Thiết lập nhóm 1: Console và tài khoản</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04 | THIẾT LẬP VÀ NGHIỆM THU</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Dùng thông tin thật do nhóm tạo; không bịa tên nhóm, project ID hoặc ảnh Console</a:t>
            </a:r>
            <a:endParaRPr lang="en-US" sz="1800" dirty="0"/>
          </a:p>
        </p:txBody>
      </p:sp>
      <p:sp>
        <p:nvSpPr>
          <p:cNvPr id="5" name="Text 248: Nguồn: F1 · F2 · F6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F1 · F2 · F6 | URL đầy đủ trong ghi chú và slide 18</a:t>
            </a:r>
            <a:endParaRPr lang="en-US" sz="1200" dirty="0"/>
          </a:p>
        </p:txBody>
      </p:sp>
      <p:sp>
        <p:nvSpPr>
          <p:cNvPr id="7" name="Content panel 249"/>
          <p:cNvSpPr/>
          <p:nvPr/>
        </p:nvSpPr>
        <p:spPr>
          <a:xfrm>
            <a:off x="571500" y="2171700"/>
            <a:ext cx="3543300" cy="1600200"/>
          </a:xfrm>
          <a:prstGeom prst="roundRect">
            <a:avLst>
              <a:gd name="adj" fmla="val 9143"/>
            </a:avLst>
          </a:prstGeom>
          <a:solidFill>
            <a:schemeClr val="bg2"/>
          </a:solidFill>
          <a:ln w="10160">
            <a:solidFill>
              <a:schemeClr val="bg2"/>
            </a:solidFill>
            <a:prstDash val="solid"/>
          </a:ln>
        </p:spPr>
      </p:sp>
      <p:sp>
        <p:nvSpPr>
          <p:cNvPr id="8" name="Text 250: 01 | Dự án + nhóm"/>
          <p:cNvSpPr txBox="1"/>
          <p:nvPr/>
        </p:nvSpPr>
        <p:spPr>
          <a:xfrm>
            <a:off x="800100" y="24003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01 | Dự án + nhóm</a:t>
            </a:r>
            <a:endParaRPr lang="en-US" sz="2000" dirty="0"/>
          </a:p>
        </p:txBody>
      </p:sp>
      <p:sp>
        <p:nvSpPr>
          <p:cNvPr id="9" name="Text 251: Tài khoản Google thật. Mời thành viên bằng IAM."/>
          <p:cNvSpPr txBox="1"/>
          <p:nvPr/>
        </p:nvSpPr>
        <p:spPr>
          <a:xfrm>
            <a:off x="800100" y="30861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Tài khoản Google thật.</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Mời thành viên bằng IAM.</a:t>
            </a:r>
            <a:endParaRPr lang="en-US" sz="1800" dirty="0"/>
          </a:p>
        </p:txBody>
      </p:sp>
      <p:sp>
        <p:nvSpPr>
          <p:cNvPr id="10" name="Content panel 252"/>
          <p:cNvSpPr/>
          <p:nvPr/>
        </p:nvSpPr>
        <p:spPr>
          <a:xfrm>
            <a:off x="4343400" y="2171700"/>
            <a:ext cx="3543300" cy="1600200"/>
          </a:xfrm>
          <a:prstGeom prst="roundRect">
            <a:avLst>
              <a:gd name="adj" fmla="val 9143"/>
            </a:avLst>
          </a:prstGeom>
          <a:solidFill>
            <a:schemeClr val="bg2"/>
          </a:solidFill>
          <a:ln w="10160">
            <a:solidFill>
              <a:schemeClr val="bg2"/>
            </a:solidFill>
            <a:prstDash val="solid"/>
          </a:ln>
        </p:spPr>
      </p:sp>
      <p:sp>
        <p:nvSpPr>
          <p:cNvPr id="11" name="Text 253: 02 | Web + Google"/>
          <p:cNvSpPr txBox="1"/>
          <p:nvPr/>
        </p:nvSpPr>
        <p:spPr>
          <a:xfrm>
            <a:off x="4572000" y="24003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02 | Web + Google</a:t>
            </a:r>
            <a:endParaRPr lang="en-US" sz="2000" dirty="0"/>
          </a:p>
        </p:txBody>
      </p:sp>
      <p:sp>
        <p:nvSpPr>
          <p:cNvPr id="12" name="Text 254: Bật provider Google. Lưu cấu hình Web thật."/>
          <p:cNvSpPr txBox="1"/>
          <p:nvPr/>
        </p:nvSpPr>
        <p:spPr>
          <a:xfrm>
            <a:off x="4572000" y="30861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Bật provider Google.</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Lưu cấu hình Web thật.</a:t>
            </a:r>
            <a:endParaRPr lang="en-US" sz="1800" dirty="0"/>
          </a:p>
        </p:txBody>
      </p:sp>
      <p:sp>
        <p:nvSpPr>
          <p:cNvPr id="13" name="Content panel 255"/>
          <p:cNvSpPr/>
          <p:nvPr/>
        </p:nvSpPr>
        <p:spPr>
          <a:xfrm>
            <a:off x="8115300" y="2171700"/>
            <a:ext cx="3543300" cy="1600200"/>
          </a:xfrm>
          <a:prstGeom prst="roundRect">
            <a:avLst>
              <a:gd name="adj" fmla="val 9143"/>
            </a:avLst>
          </a:prstGeom>
          <a:solidFill>
            <a:schemeClr val="bg2"/>
          </a:solidFill>
          <a:ln w="10160">
            <a:solidFill>
              <a:schemeClr val="bg2"/>
            </a:solidFill>
            <a:prstDash val="solid"/>
          </a:ln>
        </p:spPr>
      </p:sp>
      <p:sp>
        <p:nvSpPr>
          <p:cNvPr id="14" name="Text 256: 03 | Miền hợp lệ"/>
          <p:cNvSpPr txBox="1"/>
          <p:nvPr/>
        </p:nvSpPr>
        <p:spPr>
          <a:xfrm>
            <a:off x="8343900" y="24003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03 | Miền hợp lệ</a:t>
            </a:r>
            <a:endParaRPr lang="en-US" sz="2000" dirty="0"/>
          </a:p>
        </p:txBody>
      </p:sp>
      <p:sp>
        <p:nvSpPr>
          <p:cNvPr id="15" name="Text 257: Thêm localhost / tên miền vào Authorized domains."/>
          <p:cNvSpPr txBox="1"/>
          <p:nvPr/>
        </p:nvSpPr>
        <p:spPr>
          <a:xfrm>
            <a:off x="8343900" y="30861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Thêm localhost / tên miền</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vào Authorized domains.</a:t>
            </a:r>
            <a:endParaRPr lang="en-US" sz="1800" dirty="0"/>
          </a:p>
        </p:txBody>
      </p:sp>
      <p:sp>
        <p:nvSpPr>
          <p:cNvPr id="16" name="Content panel 258"/>
          <p:cNvSpPr/>
          <p:nvPr/>
        </p:nvSpPr>
        <p:spPr>
          <a:xfrm>
            <a:off x="571500" y="4114800"/>
            <a:ext cx="3543300" cy="1600200"/>
          </a:xfrm>
          <a:prstGeom prst="roundRect">
            <a:avLst>
              <a:gd name="adj" fmla="val 9143"/>
            </a:avLst>
          </a:prstGeom>
          <a:solidFill>
            <a:schemeClr val="bg2"/>
          </a:solidFill>
          <a:ln w="10160">
            <a:solidFill>
              <a:schemeClr val="bg2"/>
            </a:solidFill>
            <a:prstDash val="solid"/>
          </a:ln>
        </p:spPr>
      </p:sp>
      <p:sp>
        <p:nvSpPr>
          <p:cNvPr id="17" name="Text 259: 04 | Firestore"/>
          <p:cNvSpPr txBox="1"/>
          <p:nvPr/>
        </p:nvSpPr>
        <p:spPr>
          <a:xfrm>
            <a:off x="800100" y="43434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04 | Firestore</a:t>
            </a:r>
            <a:endParaRPr lang="en-US" sz="2000" dirty="0"/>
          </a:p>
        </p:txBody>
      </p:sp>
      <p:sp>
        <p:nvSpPr>
          <p:cNvPr id="18" name="Text 260: Chọn vị trí database. Không dùng Rules test mở."/>
          <p:cNvSpPr txBox="1"/>
          <p:nvPr/>
        </p:nvSpPr>
        <p:spPr>
          <a:xfrm>
            <a:off x="800100" y="50292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Chọn vị trí database.</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Không dùng Rules test mở.</a:t>
            </a:r>
            <a:endParaRPr lang="en-US" sz="1800" dirty="0"/>
          </a:p>
        </p:txBody>
      </p:sp>
      <p:sp>
        <p:nvSpPr>
          <p:cNvPr id="19" name="Content panel 261"/>
          <p:cNvSpPr/>
          <p:nvPr/>
        </p:nvSpPr>
        <p:spPr>
          <a:xfrm>
            <a:off x="4343400" y="4114800"/>
            <a:ext cx="3543300" cy="1600200"/>
          </a:xfrm>
          <a:prstGeom prst="roundRect">
            <a:avLst>
              <a:gd name="adj" fmla="val 9143"/>
            </a:avLst>
          </a:prstGeom>
          <a:solidFill>
            <a:schemeClr val="bg2"/>
          </a:solidFill>
          <a:ln w="10160">
            <a:solidFill>
              <a:schemeClr val="bg2"/>
            </a:solidFill>
            <a:prstDash val="solid"/>
          </a:ln>
        </p:spPr>
      </p:sp>
      <p:sp>
        <p:nvSpPr>
          <p:cNvPr id="20" name="Text 262: 05 | Blaze + Storage"/>
          <p:cNvSpPr txBox="1"/>
          <p:nvPr/>
        </p:nvSpPr>
        <p:spPr>
          <a:xfrm>
            <a:off x="4572000" y="43434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05 | Blaze + Storage</a:t>
            </a:r>
            <a:endParaRPr lang="en-US" sz="2000" dirty="0"/>
          </a:p>
        </p:txBody>
      </p:sp>
      <p:sp>
        <p:nvSpPr>
          <p:cNvPr id="21" name="Text 263: Gắn Billing, tạo bucket. Chọn vùng, bật cảnh báo."/>
          <p:cNvSpPr txBox="1"/>
          <p:nvPr/>
        </p:nvSpPr>
        <p:spPr>
          <a:xfrm>
            <a:off x="4572000" y="50292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Gắn Billing, tạo bucket.</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Chọn vùng, bật cảnh báo.</a:t>
            </a:r>
            <a:endParaRPr lang="en-US" sz="1800" dirty="0"/>
          </a:p>
        </p:txBody>
      </p:sp>
      <p:sp>
        <p:nvSpPr>
          <p:cNvPr id="22" name="Content panel 264"/>
          <p:cNvSpPr/>
          <p:nvPr/>
        </p:nvSpPr>
        <p:spPr>
          <a:xfrm>
            <a:off x="8115300" y="4114800"/>
            <a:ext cx="3543300" cy="1600200"/>
          </a:xfrm>
          <a:prstGeom prst="roundRect">
            <a:avLst>
              <a:gd name="adj" fmla="val 9143"/>
            </a:avLst>
          </a:prstGeom>
          <a:solidFill>
            <a:schemeClr val="bg2"/>
          </a:solidFill>
          <a:ln w="10160">
            <a:solidFill>
              <a:schemeClr val="bg2"/>
            </a:solidFill>
            <a:prstDash val="solid"/>
          </a:ln>
        </p:spPr>
      </p:sp>
      <p:sp>
        <p:nvSpPr>
          <p:cNvPr id="23" name="Text 265: 06 | Android"/>
          <p:cNvSpPr txBox="1"/>
          <p:nvPr/>
        </p:nvSpPr>
        <p:spPr>
          <a:xfrm>
            <a:off x="8343900" y="43434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06 | Android</a:t>
            </a:r>
            <a:endParaRPr lang="en-US" sz="2000" dirty="0"/>
          </a:p>
        </p:txBody>
      </p:sp>
      <p:sp>
        <p:nvSpPr>
          <p:cNvPr id="24" name="Text 266: applicationId, SHA-1/256. OAuth Web client ID thật."/>
          <p:cNvSpPr txBox="1"/>
          <p:nvPr/>
        </p:nvSpPr>
        <p:spPr>
          <a:xfrm>
            <a:off x="8343900" y="50292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applicationId, SHA-1/256.</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OAuth Web client ID thật.</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Thiết lập nhóm 2: config, Rules, CORS</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04 | THIẾT LẬP VÀ NGHIỆM THU</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Chạy từ thư mục repo; project ID và bucket phải lấy từ cấu hình thật của nhóm</a:t>
            </a:r>
            <a:endParaRPr lang="en-US" sz="1800" dirty="0"/>
          </a:p>
        </p:txBody>
      </p:sp>
      <p:sp>
        <p:nvSpPr>
          <p:cNvPr id="5" name="Text 267: Nguồn: F4 | URL đầy đủ trong ghi chú và slide 18"/>
          <p:cNvSpPr txBox="1"/>
          <p:nvPr/>
        </p:nvSpPr>
        <p:spPr>
          <a:xfrm>
            <a:off x="571500" y="5886450"/>
            <a:ext cx="11087100" cy="2286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Nguồn: F4 | URL đầy đủ trong ghi chú và slide 18</a:t>
            </a:r>
            <a:endParaRPr lang="en-US" sz="1200" dirty="0"/>
          </a:p>
        </p:txBody>
      </p:sp>
      <p:sp>
        <p:nvSpPr>
          <p:cNvPr id="7" name="Content panel 268"/>
          <p:cNvSpPr/>
          <p:nvPr/>
        </p:nvSpPr>
        <p:spPr>
          <a:xfrm>
            <a:off x="571500" y="2171700"/>
            <a:ext cx="11087100" cy="800100"/>
          </a:xfrm>
          <a:prstGeom prst="roundRect">
            <a:avLst>
              <a:gd name="adj" fmla="val 18286"/>
            </a:avLst>
          </a:prstGeom>
          <a:solidFill>
            <a:schemeClr val="bg2"/>
          </a:solidFill>
          <a:ln w="10160">
            <a:solidFill>
              <a:schemeClr val="bg2"/>
            </a:solidFill>
            <a:prstDash val="solid"/>
          </a:ln>
        </p:spPr>
      </p:sp>
      <p:sp>
        <p:nvSpPr>
          <p:cNvPr id="8" name="Text 269: 01  Web → JSON"/>
          <p:cNvSpPr txBox="1"/>
          <p:nvPr/>
        </p:nvSpPr>
        <p:spPr>
          <a:xfrm>
            <a:off x="800100" y="2286000"/>
            <a:ext cx="25146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01  Web → JSON</a:t>
            </a:r>
            <a:endParaRPr lang="en-US" sz="2000" dirty="0"/>
          </a:p>
        </p:txBody>
      </p:sp>
      <p:sp>
        <p:nvSpPr>
          <p:cNvPr id="9" name="Text 270: Nguồn: Console thật"/>
          <p:cNvSpPr txBox="1"/>
          <p:nvPr/>
        </p:nvSpPr>
        <p:spPr>
          <a:xfrm>
            <a:off x="800100" y="2628900"/>
            <a:ext cx="2514600" cy="285750"/>
          </a:xfrm>
          <a:prstGeom prst="rect">
            <a:avLst/>
          </a:prstGeom>
          <a:noFill/>
          <a:ln/>
        </p:spPr>
        <p:txBody>
          <a:bodyPr wrap="square" lIns="0" tIns="0" rIns="0" bIns="0" rtlCol="0" anchor="t"/>
          <a:lstStyle/>
          <a:p>
            <a:pPr indent="0" marL="0">
              <a:lnSpc>
                <a:spcPct val="106000"/>
              </a:lnSpc>
              <a:buNone/>
            </a:pPr>
            <a:r>
              <a:rPr lang="en-US" sz="1600" dirty="0">
                <a:solidFill>
                  <a:schemeClr val="tx2"/>
                </a:solidFill>
                <a:latin typeface="+mn-lt" pitchFamily="34" charset="0"/>
                <a:ea typeface="+mn-lt" pitchFamily="34" charset="-122"/>
                <a:cs typeface="+mn-lt" pitchFamily="34" charset="-120"/>
              </a:rPr>
              <a:t>Nguồn: Console thật</a:t>
            </a:r>
            <a:endParaRPr lang="en-US" sz="1600" dirty="0"/>
          </a:p>
        </p:txBody>
      </p:sp>
      <p:sp>
        <p:nvSpPr>
          <p:cNvPr id="10" name="Text 271: pwsh -File scripts/configure_firebase.ps1 `   -WebConfigPath fire"/>
          <p:cNvSpPr txBox="1"/>
          <p:nvPr/>
        </p:nvSpPr>
        <p:spPr>
          <a:xfrm>
            <a:off x="3543300" y="2286000"/>
            <a:ext cx="7886700" cy="571500"/>
          </a:xfrm>
          <a:prstGeom prst="rect">
            <a:avLst/>
          </a:prstGeom>
          <a:noFill/>
          <a:ln/>
        </p:spPr>
        <p:txBody>
          <a:bodyPr wrap="square" lIns="0" tIns="0" rIns="0" bIns="0" rtlCol="0" anchor="t"/>
          <a:lstStyle/>
          <a:p>
            <a:pPr indent="0" marL="0">
              <a:lnSpc>
                <a:spcPct val="106000"/>
              </a:lnSpc>
              <a:buNone/>
            </a:pPr>
            <a:r>
              <a:rPr lang="en-US" sz="1600" dirty="0">
                <a:solidFill>
                  <a:schemeClr val="tx1"/>
                </a:solidFill>
                <a:latin typeface="+mn-lt" pitchFamily="34" charset="0"/>
                <a:ea typeface="+mn-lt" pitchFamily="34" charset="-122"/>
                <a:cs typeface="+mn-lt" pitchFamily="34" charset="-120"/>
              </a:rPr>
              <a:t>pwsh -File scripts/configure_firebase.ps1 `</a:t>
            </a:r>
            <a:endParaRPr lang="en-US" sz="1600" dirty="0"/>
          </a:p>
          <a:p>
            <a:pPr indent="0" marL="0">
              <a:lnSpc>
                <a:spcPct val="106000"/>
              </a:lnSpc>
              <a:buNone/>
            </a:pPr>
            <a:r>
              <a:rPr lang="en-US" sz="1600" dirty="0">
                <a:solidFill>
                  <a:schemeClr val="tx1"/>
                </a:solidFill>
                <a:latin typeface="+mn-lt" pitchFamily="34" charset="0"/>
                <a:ea typeface="+mn-lt" pitchFamily="34" charset="-122"/>
                <a:cs typeface="+mn-lt" pitchFamily="34" charset="-120"/>
              </a:rPr>
              <a:t>  -WebConfigPath firebase_web_config.json</a:t>
            </a:r>
            <a:endParaRPr lang="en-US" sz="1600" dirty="0"/>
          </a:p>
        </p:txBody>
      </p:sp>
      <p:sp>
        <p:nvSpPr>
          <p:cNvPr id="11" name="Content panel 272"/>
          <p:cNvSpPr/>
          <p:nvPr/>
        </p:nvSpPr>
        <p:spPr>
          <a:xfrm>
            <a:off x="571500" y="3086100"/>
            <a:ext cx="11087100" cy="800100"/>
          </a:xfrm>
          <a:prstGeom prst="roundRect">
            <a:avLst>
              <a:gd name="adj" fmla="val 18286"/>
            </a:avLst>
          </a:prstGeom>
          <a:solidFill>
            <a:schemeClr val="bg2"/>
          </a:solidFill>
          <a:ln w="10160">
            <a:solidFill>
              <a:schemeClr val="bg2"/>
            </a:solidFill>
            <a:prstDash val="solid"/>
          </a:ln>
        </p:spPr>
      </p:sp>
      <p:sp>
        <p:nvSpPr>
          <p:cNvPr id="12" name="Text 273: 02  Rules"/>
          <p:cNvSpPr txBox="1"/>
          <p:nvPr/>
        </p:nvSpPr>
        <p:spPr>
          <a:xfrm>
            <a:off x="800100" y="3200400"/>
            <a:ext cx="25146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02  Rules</a:t>
            </a:r>
            <a:endParaRPr lang="en-US" sz="2000" dirty="0"/>
          </a:p>
        </p:txBody>
      </p:sp>
      <p:sp>
        <p:nvSpPr>
          <p:cNvPr id="13" name="Text 274: ID từ JSON đã sinh"/>
          <p:cNvSpPr txBox="1"/>
          <p:nvPr/>
        </p:nvSpPr>
        <p:spPr>
          <a:xfrm>
            <a:off x="800100" y="3543300"/>
            <a:ext cx="2514600" cy="285750"/>
          </a:xfrm>
          <a:prstGeom prst="rect">
            <a:avLst/>
          </a:prstGeom>
          <a:noFill/>
          <a:ln/>
        </p:spPr>
        <p:txBody>
          <a:bodyPr wrap="square" lIns="0" tIns="0" rIns="0" bIns="0" rtlCol="0" anchor="t"/>
          <a:lstStyle/>
          <a:p>
            <a:pPr indent="0" marL="0">
              <a:lnSpc>
                <a:spcPct val="106000"/>
              </a:lnSpc>
              <a:buNone/>
            </a:pPr>
            <a:r>
              <a:rPr lang="en-US" sz="1600" dirty="0">
                <a:solidFill>
                  <a:schemeClr val="tx2"/>
                </a:solidFill>
                <a:latin typeface="+mn-lt" pitchFamily="34" charset="0"/>
                <a:ea typeface="+mn-lt" pitchFamily="34" charset="-122"/>
                <a:cs typeface="+mn-lt" pitchFamily="34" charset="-120"/>
              </a:rPr>
              <a:t>ID từ JSON đã sinh</a:t>
            </a:r>
            <a:endParaRPr lang="en-US" sz="1600" dirty="0"/>
          </a:p>
        </p:txBody>
      </p:sp>
      <p:sp>
        <p:nvSpPr>
          <p:cNvPr id="14" name="Text 275: firebase login firebase deploy --only firestore:rules,storage --p"/>
          <p:cNvSpPr txBox="1"/>
          <p:nvPr/>
        </p:nvSpPr>
        <p:spPr>
          <a:xfrm>
            <a:off x="3543300" y="3200400"/>
            <a:ext cx="7886700" cy="571500"/>
          </a:xfrm>
          <a:prstGeom prst="rect">
            <a:avLst/>
          </a:prstGeom>
          <a:noFill/>
          <a:ln/>
        </p:spPr>
        <p:txBody>
          <a:bodyPr wrap="square" lIns="0" tIns="0" rIns="0" bIns="0" rtlCol="0" anchor="t"/>
          <a:lstStyle/>
          <a:p>
            <a:pPr indent="0" marL="0">
              <a:lnSpc>
                <a:spcPct val="106000"/>
              </a:lnSpc>
              <a:buNone/>
            </a:pPr>
            <a:r>
              <a:rPr lang="en-US" sz="1600" dirty="0">
                <a:solidFill>
                  <a:schemeClr val="tx1"/>
                </a:solidFill>
                <a:latin typeface="+mn-lt" pitchFamily="34" charset="0"/>
                <a:ea typeface="+mn-lt" pitchFamily="34" charset="-122"/>
                <a:cs typeface="+mn-lt" pitchFamily="34" charset="-120"/>
              </a:rPr>
              <a:t>firebase login</a:t>
            </a:r>
            <a:endParaRPr lang="en-US" sz="1600" dirty="0"/>
          </a:p>
          <a:p>
            <a:pPr indent="0" marL="0">
              <a:lnSpc>
                <a:spcPct val="106000"/>
              </a:lnSpc>
              <a:buNone/>
            </a:pPr>
            <a:r>
              <a:rPr lang="en-US" sz="1600" dirty="0">
                <a:solidFill>
                  <a:schemeClr val="tx1"/>
                </a:solidFill>
                <a:latin typeface="+mn-lt" pitchFamily="34" charset="0"/>
                <a:ea typeface="+mn-lt" pitchFamily="34" charset="-122"/>
                <a:cs typeface="+mn-lt" pitchFamily="34" charset="-120"/>
              </a:rPr>
              <a:t>firebase deploy --only firestore:rules,storage --project $env:FIREBASE_PROJECT_ID</a:t>
            </a:r>
            <a:endParaRPr lang="en-US" sz="1600" dirty="0"/>
          </a:p>
        </p:txBody>
      </p:sp>
      <p:sp>
        <p:nvSpPr>
          <p:cNvPr id="15" name="Content panel 276"/>
          <p:cNvSpPr/>
          <p:nvPr/>
        </p:nvSpPr>
        <p:spPr>
          <a:xfrm>
            <a:off x="571500" y="4000500"/>
            <a:ext cx="11087100" cy="800100"/>
          </a:xfrm>
          <a:prstGeom prst="roundRect">
            <a:avLst>
              <a:gd name="adj" fmla="val 18286"/>
            </a:avLst>
          </a:prstGeom>
          <a:solidFill>
            <a:schemeClr val="bg2"/>
          </a:solidFill>
          <a:ln w="10160">
            <a:solidFill>
              <a:schemeClr val="bg2"/>
            </a:solidFill>
            <a:prstDash val="solid"/>
          </a:ln>
        </p:spPr>
      </p:sp>
      <p:sp>
        <p:nvSpPr>
          <p:cNvPr id="16" name="Text 277: 03  CORS"/>
          <p:cNvSpPr txBox="1"/>
          <p:nvPr/>
        </p:nvSpPr>
        <p:spPr>
          <a:xfrm>
            <a:off x="800100" y="4114800"/>
            <a:ext cx="25146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03  CORS</a:t>
            </a:r>
            <a:endParaRPr lang="en-US" sz="2000" dirty="0"/>
          </a:p>
        </p:txBody>
      </p:sp>
      <p:sp>
        <p:nvSpPr>
          <p:cNvPr id="17" name="Text 278: Thêm đúng origin Web"/>
          <p:cNvSpPr txBox="1"/>
          <p:nvPr/>
        </p:nvSpPr>
        <p:spPr>
          <a:xfrm>
            <a:off x="800100" y="4457700"/>
            <a:ext cx="2514600" cy="285750"/>
          </a:xfrm>
          <a:prstGeom prst="rect">
            <a:avLst/>
          </a:prstGeom>
          <a:noFill/>
          <a:ln/>
        </p:spPr>
        <p:txBody>
          <a:bodyPr wrap="square" lIns="0" tIns="0" rIns="0" bIns="0" rtlCol="0" anchor="t"/>
          <a:lstStyle/>
          <a:p>
            <a:pPr indent="0" marL="0">
              <a:lnSpc>
                <a:spcPct val="106000"/>
              </a:lnSpc>
              <a:buNone/>
            </a:pPr>
            <a:r>
              <a:rPr lang="en-US" sz="1600" dirty="0">
                <a:solidFill>
                  <a:schemeClr val="tx2"/>
                </a:solidFill>
                <a:latin typeface="+mn-lt" pitchFamily="34" charset="0"/>
                <a:ea typeface="+mn-lt" pitchFamily="34" charset="-122"/>
                <a:cs typeface="+mn-lt" pitchFamily="34" charset="-120"/>
              </a:rPr>
              <a:t>Thêm đúng origin Web</a:t>
            </a:r>
            <a:endParaRPr lang="en-US" sz="1600" dirty="0"/>
          </a:p>
        </p:txBody>
      </p:sp>
      <p:sp>
        <p:nvSpPr>
          <p:cNvPr id="18" name="Text 279: gcloud storage buckets update `   &amp;quot;gs://$env:FIREBASE_STORAGE_BUC"/>
          <p:cNvSpPr txBox="1"/>
          <p:nvPr/>
        </p:nvSpPr>
        <p:spPr>
          <a:xfrm>
            <a:off x="3543300" y="4114800"/>
            <a:ext cx="7886700" cy="571500"/>
          </a:xfrm>
          <a:prstGeom prst="rect">
            <a:avLst/>
          </a:prstGeom>
          <a:noFill/>
          <a:ln/>
        </p:spPr>
        <p:txBody>
          <a:bodyPr wrap="square" lIns="0" tIns="0" rIns="0" bIns="0" rtlCol="0" anchor="t"/>
          <a:lstStyle/>
          <a:p>
            <a:pPr indent="0" marL="0">
              <a:lnSpc>
                <a:spcPct val="106000"/>
              </a:lnSpc>
              <a:buNone/>
            </a:pPr>
            <a:r>
              <a:rPr lang="en-US" sz="1600" dirty="0">
                <a:solidFill>
                  <a:schemeClr val="tx1"/>
                </a:solidFill>
                <a:latin typeface="+mn-lt" pitchFamily="34" charset="0"/>
                <a:ea typeface="+mn-lt" pitchFamily="34" charset="-122"/>
                <a:cs typeface="+mn-lt" pitchFamily="34" charset="-120"/>
              </a:rPr>
              <a:t>gcloud storage buckets update `</a:t>
            </a:r>
            <a:endParaRPr lang="en-US" sz="1600" dirty="0"/>
          </a:p>
          <a:p>
            <a:pPr indent="0" marL="0">
              <a:lnSpc>
                <a:spcPct val="106000"/>
              </a:lnSpc>
              <a:buNone/>
            </a:pPr>
            <a:r>
              <a:rPr lang="en-US" sz="1600" dirty="0">
                <a:solidFill>
                  <a:schemeClr val="tx1"/>
                </a:solidFill>
                <a:latin typeface="+mn-lt" pitchFamily="34" charset="0"/>
                <a:ea typeface="+mn-lt" pitchFamily="34" charset="-122"/>
                <a:cs typeface="+mn-lt" pitchFamily="34" charset="-120"/>
              </a:rPr>
              <a:t>  "gs://$env:FIREBASE_STORAGE_BUCKET" --cors-file=storage.cors.json</a:t>
            </a:r>
            <a:endParaRPr lang="en-US" sz="1600" dirty="0"/>
          </a:p>
        </p:txBody>
      </p:sp>
      <p:sp>
        <p:nvSpPr>
          <p:cNvPr id="19" name="Content panel 280"/>
          <p:cNvSpPr/>
          <p:nvPr/>
        </p:nvSpPr>
        <p:spPr>
          <a:xfrm>
            <a:off x="571500" y="4914900"/>
            <a:ext cx="11087100" cy="800100"/>
          </a:xfrm>
          <a:prstGeom prst="roundRect">
            <a:avLst>
              <a:gd name="adj" fmla="val 18286"/>
            </a:avLst>
          </a:prstGeom>
          <a:solidFill>
            <a:schemeClr val="bg2"/>
          </a:solidFill>
          <a:ln w="10160">
            <a:solidFill>
              <a:schemeClr val="bg2"/>
            </a:solidFill>
            <a:prstDash val="solid"/>
          </a:ln>
        </p:spPr>
      </p:sp>
      <p:sp>
        <p:nvSpPr>
          <p:cNvPr id="20" name="Text 281: 04  Chạy Web"/>
          <p:cNvSpPr txBox="1"/>
          <p:nvPr/>
        </p:nvSpPr>
        <p:spPr>
          <a:xfrm>
            <a:off x="800100" y="5029200"/>
            <a:ext cx="2514600" cy="3429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04  Chạy Web</a:t>
            </a:r>
            <a:endParaRPr lang="en-US" sz="2000" dirty="0"/>
          </a:p>
        </p:txBody>
      </p:sp>
      <p:sp>
        <p:nvSpPr>
          <p:cNvPr id="21" name="Text 282: Không bật Emulator"/>
          <p:cNvSpPr txBox="1"/>
          <p:nvPr/>
        </p:nvSpPr>
        <p:spPr>
          <a:xfrm>
            <a:off x="800100" y="5372100"/>
            <a:ext cx="2514600" cy="285750"/>
          </a:xfrm>
          <a:prstGeom prst="rect">
            <a:avLst/>
          </a:prstGeom>
          <a:noFill/>
          <a:ln/>
        </p:spPr>
        <p:txBody>
          <a:bodyPr wrap="square" lIns="0" tIns="0" rIns="0" bIns="0" rtlCol="0" anchor="t"/>
          <a:lstStyle/>
          <a:p>
            <a:pPr indent="0" marL="0">
              <a:lnSpc>
                <a:spcPct val="106000"/>
              </a:lnSpc>
              <a:buNone/>
            </a:pPr>
            <a:r>
              <a:rPr lang="en-US" sz="1600" dirty="0">
                <a:solidFill>
                  <a:schemeClr val="tx2"/>
                </a:solidFill>
                <a:latin typeface="+mn-lt" pitchFamily="34" charset="0"/>
                <a:ea typeface="+mn-lt" pitchFamily="34" charset="-122"/>
                <a:cs typeface="+mn-lt" pitchFamily="34" charset="-120"/>
              </a:rPr>
              <a:t>Không bật Emulator</a:t>
            </a:r>
            <a:endParaRPr lang="en-US" sz="1600" dirty="0"/>
          </a:p>
        </p:txBody>
      </p:sp>
      <p:sp>
        <p:nvSpPr>
          <p:cNvPr id="22" name="Text 283: flutter run -d chrome --web-port=7357 `   --dart-define-from-file"/>
          <p:cNvSpPr txBox="1"/>
          <p:nvPr/>
        </p:nvSpPr>
        <p:spPr>
          <a:xfrm>
            <a:off x="3543300" y="5029200"/>
            <a:ext cx="7886700" cy="571500"/>
          </a:xfrm>
          <a:prstGeom prst="rect">
            <a:avLst/>
          </a:prstGeom>
          <a:noFill/>
          <a:ln/>
        </p:spPr>
        <p:txBody>
          <a:bodyPr wrap="square" lIns="0" tIns="0" rIns="0" bIns="0" rtlCol="0" anchor="t"/>
          <a:lstStyle/>
          <a:p>
            <a:pPr indent="0" marL="0">
              <a:lnSpc>
                <a:spcPct val="106000"/>
              </a:lnSpc>
              <a:buNone/>
            </a:pPr>
            <a:r>
              <a:rPr lang="en-US" sz="1600" dirty="0">
                <a:solidFill>
                  <a:schemeClr val="tx1"/>
                </a:solidFill>
                <a:latin typeface="+mn-lt" pitchFamily="34" charset="0"/>
                <a:ea typeface="+mn-lt" pitchFamily="34" charset="-122"/>
                <a:cs typeface="+mn-lt" pitchFamily="34" charset="-120"/>
              </a:rPr>
              <a:t>flutter run -d chrome --web-port=7357 `</a:t>
            </a:r>
            <a:endParaRPr lang="en-US" sz="1600" dirty="0"/>
          </a:p>
          <a:p>
            <a:pPr indent="0" marL="0">
              <a:lnSpc>
                <a:spcPct val="106000"/>
              </a:lnSpc>
              <a:buNone/>
            </a:pPr>
            <a:r>
              <a:rPr lang="en-US" sz="1600" dirty="0">
                <a:solidFill>
                  <a:schemeClr val="tx1"/>
                </a:solidFill>
                <a:latin typeface="+mn-lt" pitchFamily="34" charset="0"/>
                <a:ea typeface="+mn-lt" pitchFamily="34" charset="-122"/>
                <a:cs typeface="+mn-lt" pitchFamily="34" charset="-120"/>
              </a:rPr>
              <a:t>  --dart-define-from-file=firebase_config.json</a:t>
            </a:r>
            <a:endParaRPr lang="en-US" sz="16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Demo: bằng chứng trên Cloud thật</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04 | THIẾT LẬP VÀ NGHIỆM THU</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Checklist cần ghi nhận, không phải kết quả đã chạy hoặc ảnh tài khoản giả</a:t>
            </a:r>
            <a:endParaRPr lang="en-US" sz="1800" dirty="0"/>
          </a:p>
        </p:txBody>
      </p:sp>
      <p:sp>
        <p:nvSpPr>
          <p:cNvPr id="6" name="Content panel 284"/>
          <p:cNvSpPr/>
          <p:nvPr/>
        </p:nvSpPr>
        <p:spPr>
          <a:xfrm>
            <a:off x="571500" y="2171700"/>
            <a:ext cx="3543300" cy="1600200"/>
          </a:xfrm>
          <a:prstGeom prst="roundRect">
            <a:avLst>
              <a:gd name="adj" fmla="val 9143"/>
            </a:avLst>
          </a:prstGeom>
          <a:solidFill>
            <a:schemeClr val="bg2"/>
          </a:solidFill>
          <a:ln w="10160">
            <a:solidFill>
              <a:schemeClr val="bg2"/>
            </a:solidFill>
            <a:prstDash val="solid"/>
          </a:ln>
        </p:spPr>
      </p:sp>
      <p:sp>
        <p:nvSpPr>
          <p:cNvPr id="7" name="Text 285: 01 | Google thật"/>
          <p:cNvSpPr txBox="1"/>
          <p:nvPr/>
        </p:nvSpPr>
        <p:spPr>
          <a:xfrm>
            <a:off x="800100" y="24003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01 | Google thật</a:t>
            </a:r>
            <a:endParaRPr lang="en-US" sz="2000" dirty="0"/>
          </a:p>
        </p:txBody>
      </p:sp>
      <p:sp>
        <p:nvSpPr>
          <p:cNvPr id="8" name="Text 286: Đăng nhập, đối chiếu UID. Auth Console: provider Google."/>
          <p:cNvSpPr txBox="1"/>
          <p:nvPr/>
        </p:nvSpPr>
        <p:spPr>
          <a:xfrm>
            <a:off x="800100" y="30861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Đăng nhập, đối chiếu UID.</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Auth Console: provider Google.</a:t>
            </a:r>
            <a:endParaRPr lang="en-US" sz="1800" dirty="0"/>
          </a:p>
        </p:txBody>
      </p:sp>
      <p:sp>
        <p:nvSpPr>
          <p:cNvPr id="9" name="Content panel 287"/>
          <p:cNvSpPr/>
          <p:nvPr/>
        </p:nvSpPr>
        <p:spPr>
          <a:xfrm>
            <a:off x="4343400" y="2171700"/>
            <a:ext cx="3543300" cy="1600200"/>
          </a:xfrm>
          <a:prstGeom prst="roundRect">
            <a:avLst>
              <a:gd name="adj" fmla="val 9143"/>
            </a:avLst>
          </a:prstGeom>
          <a:solidFill>
            <a:schemeClr val="bg2"/>
          </a:solidFill>
          <a:ln w="10160">
            <a:solidFill>
              <a:schemeClr val="bg2"/>
            </a:solidFill>
            <a:prstDash val="solid"/>
          </a:ln>
        </p:spPr>
      </p:sp>
      <p:sp>
        <p:nvSpPr>
          <p:cNvPr id="10" name="Text 288: 02 | Upload binary"/>
          <p:cNvSpPr txBox="1"/>
          <p:nvPr/>
        </p:nvSpPr>
        <p:spPr>
          <a:xfrm>
            <a:off x="4572000" y="24003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02 | Upload binary</a:t>
            </a:r>
            <a:endParaRPr lang="en-US" sz="2000" dirty="0"/>
          </a:p>
        </p:txBody>
      </p:sp>
      <p:sp>
        <p:nvSpPr>
          <p:cNvPr id="11" name="Text 289: Firestore + object Storage. Đối chiếu path, size, MIME."/>
          <p:cNvSpPr txBox="1"/>
          <p:nvPr/>
        </p:nvSpPr>
        <p:spPr>
          <a:xfrm>
            <a:off x="4572000" y="30861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Firestore + object Storage.</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Đối chiếu path, size, MIME.</a:t>
            </a:r>
            <a:endParaRPr lang="en-US" sz="1800" dirty="0"/>
          </a:p>
        </p:txBody>
      </p:sp>
      <p:sp>
        <p:nvSpPr>
          <p:cNvPr id="12" name="Content panel 290"/>
          <p:cNvSpPr/>
          <p:nvPr/>
        </p:nvSpPr>
        <p:spPr>
          <a:xfrm>
            <a:off x="8115300" y="2171700"/>
            <a:ext cx="3543300" cy="1600200"/>
          </a:xfrm>
          <a:prstGeom prst="roundRect">
            <a:avLst>
              <a:gd name="adj" fmla="val 9143"/>
            </a:avLst>
          </a:prstGeom>
          <a:solidFill>
            <a:schemeClr val="bg2"/>
          </a:solidFill>
          <a:ln w="10160">
            <a:solidFill>
              <a:schemeClr val="bg2"/>
            </a:solidFill>
            <a:prstDash val="solid"/>
          </a:ln>
        </p:spPr>
      </p:sp>
      <p:sp>
        <p:nvSpPr>
          <p:cNvPr id="13" name="Text 291: 03 | Thiết bị thứ hai"/>
          <p:cNvSpPr txBox="1"/>
          <p:nvPr/>
        </p:nvSpPr>
        <p:spPr>
          <a:xfrm>
            <a:off x="8343900" y="24003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03 | Thiết bị thứ hai</a:t>
            </a:r>
            <a:endParaRPr lang="en-US" sz="2000" dirty="0"/>
          </a:p>
        </p:txBody>
      </p:sp>
      <p:sp>
        <p:nvSpPr>
          <p:cNvPr id="14" name="Text 292: Cùng UID → tải đủ tệp. Kiểm tra nội dung / hash."/>
          <p:cNvSpPr txBox="1"/>
          <p:nvPr/>
        </p:nvSpPr>
        <p:spPr>
          <a:xfrm>
            <a:off x="8343900" y="30861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Cùng UID → tải đủ tệp.</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Kiểm tra nội dung / hash.</a:t>
            </a:r>
            <a:endParaRPr lang="en-US" sz="1800" dirty="0"/>
          </a:p>
        </p:txBody>
      </p:sp>
      <p:sp>
        <p:nvSpPr>
          <p:cNvPr id="15" name="Content panel 293"/>
          <p:cNvSpPr/>
          <p:nvPr/>
        </p:nvSpPr>
        <p:spPr>
          <a:xfrm>
            <a:off x="571500" y="4114800"/>
            <a:ext cx="3543300" cy="1600200"/>
          </a:xfrm>
          <a:prstGeom prst="roundRect">
            <a:avLst>
              <a:gd name="adj" fmla="val 9143"/>
            </a:avLst>
          </a:prstGeom>
          <a:solidFill>
            <a:schemeClr val="bg2"/>
          </a:solidFill>
          <a:ln w="10160">
            <a:solidFill>
              <a:schemeClr val="bg2"/>
            </a:solidFill>
            <a:prstDash val="solid"/>
          </a:ln>
        </p:spPr>
      </p:sp>
      <p:sp>
        <p:nvSpPr>
          <p:cNvPr id="16" name="Text 294: 04 | Tài khoản thứ hai"/>
          <p:cNvSpPr txBox="1"/>
          <p:nvPr/>
        </p:nvSpPr>
        <p:spPr>
          <a:xfrm>
            <a:off x="800100" y="43434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04 | Tài khoản thứ hai</a:t>
            </a:r>
            <a:endParaRPr lang="en-US" sz="2000" dirty="0"/>
          </a:p>
        </p:txBody>
      </p:sp>
      <p:sp>
        <p:nvSpPr>
          <p:cNvPr id="17" name="Text 295: Kho riêng không có tệp A. Đọc đường dẫn A: bị chặn."/>
          <p:cNvSpPr txBox="1"/>
          <p:nvPr/>
        </p:nvSpPr>
        <p:spPr>
          <a:xfrm>
            <a:off x="800100" y="50292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Kho riêng không có tệp A.</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Đọc đường dẫn A: bị chặn.</a:t>
            </a:r>
            <a:endParaRPr lang="en-US" sz="1800" dirty="0"/>
          </a:p>
        </p:txBody>
      </p:sp>
      <p:sp>
        <p:nvSpPr>
          <p:cNvPr id="18" name="Content panel 296"/>
          <p:cNvSpPr/>
          <p:nvPr/>
        </p:nvSpPr>
        <p:spPr>
          <a:xfrm>
            <a:off x="4343400" y="4114800"/>
            <a:ext cx="3543300" cy="1600200"/>
          </a:xfrm>
          <a:prstGeom prst="roundRect">
            <a:avLst>
              <a:gd name="adj" fmla="val 9143"/>
            </a:avLst>
          </a:prstGeom>
          <a:solidFill>
            <a:schemeClr val="bg2"/>
          </a:solidFill>
          <a:ln w="10160">
            <a:solidFill>
              <a:schemeClr val="bg2"/>
            </a:solidFill>
            <a:prstDash val="solid"/>
          </a:ln>
        </p:spPr>
      </p:sp>
      <p:sp>
        <p:nvSpPr>
          <p:cNvPr id="19" name="Text 297: 05 | Lỗi + xóa"/>
          <p:cNvSpPr txBox="1"/>
          <p:nvPr/>
        </p:nvSpPr>
        <p:spPr>
          <a:xfrm>
            <a:off x="4572000" y="43434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05 | Lỗi + xóa</a:t>
            </a:r>
            <a:endParaRPr lang="en-US" sz="2000" dirty="0"/>
          </a:p>
        </p:txBody>
      </p:sp>
      <p:sp>
        <p:nvSpPr>
          <p:cNvPr id="20" name="Text 298: Tệp &amp;gt;10 MiB bị chặn. Xóa object rồi metadata."/>
          <p:cNvSpPr txBox="1"/>
          <p:nvPr/>
        </p:nvSpPr>
        <p:spPr>
          <a:xfrm>
            <a:off x="4572000" y="50292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Tệp &gt;10 MiB bị chặn.</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Xóa object rồi metadata.</a:t>
            </a:r>
            <a:endParaRPr lang="en-US" sz="1800" dirty="0"/>
          </a:p>
        </p:txBody>
      </p:sp>
      <p:sp>
        <p:nvSpPr>
          <p:cNvPr id="21" name="Content panel 299"/>
          <p:cNvSpPr/>
          <p:nvPr/>
        </p:nvSpPr>
        <p:spPr>
          <a:xfrm>
            <a:off x="8115300" y="4114800"/>
            <a:ext cx="3543300" cy="1600200"/>
          </a:xfrm>
          <a:prstGeom prst="roundRect">
            <a:avLst>
              <a:gd name="adj" fmla="val 9143"/>
            </a:avLst>
          </a:prstGeom>
          <a:solidFill>
            <a:schemeClr val="accent1"/>
          </a:solidFill>
          <a:ln w="10160">
            <a:solidFill>
              <a:schemeClr val="accent1"/>
            </a:solidFill>
            <a:prstDash val="solid"/>
          </a:ln>
        </p:spPr>
      </p:sp>
      <p:sp>
        <p:nvSpPr>
          <p:cNvPr id="22" name="Text 300: 06 | Emulator ≠ Cloud"/>
          <p:cNvSpPr txBox="1"/>
          <p:nvPr/>
        </p:nvSpPr>
        <p:spPr>
          <a:xfrm>
            <a:off x="8343900" y="4343400"/>
            <a:ext cx="3086100" cy="457200"/>
          </a:xfrm>
          <a:prstGeom prst="rect">
            <a:avLst/>
          </a:prstGeom>
          <a:noFill/>
          <a:ln/>
        </p:spPr>
        <p:txBody>
          <a:bodyPr wrap="square" lIns="0" tIns="0" rIns="0" bIns="0" rtlCol="0" anchor="t"/>
          <a:lstStyle/>
          <a:p>
            <a:pPr indent="0" marL="0">
              <a:lnSpc>
                <a:spcPct val="106000"/>
              </a:lnSpc>
              <a:buNone/>
            </a:pPr>
            <a:r>
              <a:rPr lang="en-US" sz="2000" b="1" dirty="0">
                <a:solidFill>
                  <a:schemeClr val="tx1"/>
                </a:solidFill>
                <a:latin typeface="+mn-lt" pitchFamily="34" charset="0"/>
                <a:ea typeface="+mn-lt" pitchFamily="34" charset="-122"/>
                <a:cs typeface="+mn-lt" pitchFamily="34" charset="-120"/>
              </a:rPr>
              <a:t>06 | Emulator ≠ Cloud</a:t>
            </a:r>
            <a:endParaRPr lang="en-US" sz="2000" dirty="0"/>
          </a:p>
        </p:txBody>
      </p:sp>
      <p:sp>
        <p:nvSpPr>
          <p:cNvPr id="23" name="Text 301: Chỉ là kiểm thử cục bộ. Không là bằng chứng Cloud."/>
          <p:cNvSpPr txBox="1"/>
          <p:nvPr/>
        </p:nvSpPr>
        <p:spPr>
          <a:xfrm>
            <a:off x="8343900" y="5029200"/>
            <a:ext cx="3086100" cy="571500"/>
          </a:xfrm>
          <a:prstGeom prst="rect">
            <a:avLst/>
          </a:prstGeom>
          <a:noFill/>
          <a:ln/>
        </p:spPr>
        <p:txBody>
          <a:bodyPr wrap="square" lIns="0" tIns="0" rIns="0" bIns="0" rtlCol="0" anchor="t"/>
          <a:lstStyle/>
          <a:p>
            <a:pPr indent="0" marL="0">
              <a:lnSpc>
                <a:spcPct val="106000"/>
              </a:lnSpc>
              <a:buNone/>
            </a:pPr>
            <a:r>
              <a:rPr lang="en-US" sz="1800" dirty="0">
                <a:solidFill>
                  <a:schemeClr val="tx1"/>
                </a:solidFill>
                <a:latin typeface="+mn-lt" pitchFamily="34" charset="0"/>
                <a:ea typeface="+mn-lt" pitchFamily="34" charset="-122"/>
                <a:cs typeface="+mn-lt" pitchFamily="34" charset="-120"/>
              </a:rPr>
              <a:t>Chỉ là kiểm thử cục bộ.</a:t>
            </a:r>
            <a:endParaRPr lang="en-US" sz="1800" dirty="0"/>
          </a:p>
          <a:p>
            <a:pPr indent="0" marL="0">
              <a:lnSpc>
                <a:spcPct val="106000"/>
              </a:lnSpc>
              <a:buNone/>
            </a:pPr>
            <a:r>
              <a:rPr lang="en-US" sz="1800" dirty="0">
                <a:solidFill>
                  <a:schemeClr val="tx1"/>
                </a:solidFill>
                <a:latin typeface="+mn-lt" pitchFamily="34" charset="0"/>
                <a:ea typeface="+mn-lt" pitchFamily="34" charset="-122"/>
                <a:cs typeface="+mn-lt" pitchFamily="34" charset="-120"/>
              </a:rPr>
              <a:t>Không là bằng chứng Cloud.</a:t>
            </a:r>
            <a:endParaRPr lang="en-US" sz="1800" dirty="0"/>
          </a:p>
        </p:txBody>
      </p:sp>
      <p:sp>
        <p:nvSpPr>
          <p:cNvPr id="24" name="Text 302: Chỉ đánh dấu hoàn tất sau khi lưu bằng chứng thật của từng bước."/>
          <p:cNvSpPr txBox="1"/>
          <p:nvPr/>
        </p:nvSpPr>
        <p:spPr>
          <a:xfrm>
            <a:off x="571500" y="5829300"/>
            <a:ext cx="11087100" cy="342900"/>
          </a:xfrm>
          <a:prstGeom prst="rect">
            <a:avLst/>
          </a:prstGeom>
          <a:noFill/>
          <a:ln/>
        </p:spPr>
        <p:txBody>
          <a:bodyPr wrap="square" lIns="0" tIns="0" rIns="0" bIns="0" rtlCol="0" anchor="t"/>
          <a:lstStyle/>
          <a:p>
            <a:pPr indent="0" marL="0">
              <a:lnSpc>
                <a:spcPct val="106000"/>
              </a:lnSpc>
              <a:buNone/>
            </a:pPr>
            <a:r>
              <a:rPr lang="en-US" sz="1800" b="1" dirty="0">
                <a:solidFill>
                  <a:schemeClr val="tx1"/>
                </a:solidFill>
                <a:latin typeface="+mn-lt" pitchFamily="34" charset="0"/>
                <a:ea typeface="+mn-lt" pitchFamily="34" charset="-122"/>
                <a:cs typeface="+mn-lt" pitchFamily="34" charset="-120"/>
              </a:rPr>
              <a:t>Chỉ đánh dấu hoàn tất sau khi lưu bằng chứng thật của từng bước.</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bg1"/>
                </a:solidFill>
                <a:latin typeface="+mj-lt" pitchFamily="34" charset="0"/>
                <a:ea typeface="+mj-lt" pitchFamily="34" charset="-122"/>
                <a:cs typeface="+mj-lt" pitchFamily="34" charset="-120"/>
              </a:rPr>
              <a:t>Giới hạn rõ ràng, kết luận có điều kiện</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accent1"/>
                </a:solidFill>
              </a:rPr>
              <a:t>04 | THIẾT LẬP VÀ NGHIỆM THU</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accent6"/>
                </a:solidFill>
              </a:rPr>
              <a:t>Không đánh đồng “có mã triển khai” với “đã nghiệm thu Google / Cloud thật”</a:t>
            </a:r>
            <a:endParaRPr lang="en-US" sz="1800" dirty="0"/>
          </a:p>
        </p:txBody>
      </p:sp>
      <p:sp>
        <p:nvSpPr>
          <p:cNvPr id="6" name="Content panel 303"/>
          <p:cNvSpPr/>
          <p:nvPr/>
        </p:nvSpPr>
        <p:spPr>
          <a:xfrm>
            <a:off x="571500" y="2171700"/>
            <a:ext cx="5372100" cy="2628900"/>
          </a:xfrm>
          <a:prstGeom prst="roundRect">
            <a:avLst>
              <a:gd name="adj" fmla="val 5565"/>
            </a:avLst>
          </a:prstGeom>
          <a:solidFill>
            <a:schemeClr val="accent3"/>
          </a:solidFill>
          <a:ln w="10160">
            <a:solidFill>
              <a:schemeClr val="accent3"/>
            </a:solidFill>
            <a:prstDash val="solid"/>
          </a:ln>
        </p:spPr>
      </p:sp>
      <p:sp>
        <p:nvSpPr>
          <p:cNvPr id="7" name="Content panel 304"/>
          <p:cNvSpPr/>
          <p:nvPr/>
        </p:nvSpPr>
        <p:spPr>
          <a:xfrm>
            <a:off x="6286500" y="2171700"/>
            <a:ext cx="5372100" cy="2628900"/>
          </a:xfrm>
          <a:prstGeom prst="roundRect">
            <a:avLst>
              <a:gd name="adj" fmla="val 5565"/>
            </a:avLst>
          </a:prstGeom>
          <a:solidFill>
            <a:schemeClr val="bg1"/>
          </a:solidFill>
          <a:ln w="10160">
            <a:solidFill>
              <a:schemeClr val="bg1"/>
            </a:solidFill>
            <a:prstDash val="solid"/>
          </a:ln>
        </p:spPr>
      </p:sp>
      <p:sp>
        <p:nvSpPr>
          <p:cNvPr id="8" name="Text 305: Giá trị hiện tại trong code"/>
          <p:cNvSpPr txBox="1"/>
          <p:nvPr/>
        </p:nvSpPr>
        <p:spPr>
          <a:xfrm>
            <a:off x="800100" y="2400300"/>
            <a:ext cx="4914900" cy="457200"/>
          </a:xfrm>
          <a:prstGeom prst="rect">
            <a:avLst/>
          </a:prstGeom>
          <a:noFill/>
          <a:ln/>
        </p:spPr>
        <p:txBody>
          <a:bodyPr wrap="square" lIns="0" tIns="0" rIns="0" bIns="0" rtlCol="0" anchor="t"/>
          <a:lstStyle/>
          <a:p>
            <a:pPr indent="0" marL="0">
              <a:lnSpc>
                <a:spcPct val="106000"/>
              </a:lnSpc>
              <a:buNone/>
            </a:pPr>
            <a:r>
              <a:rPr lang="en-US" sz="2200" b="1" dirty="0">
                <a:solidFill>
                  <a:schemeClr val="accent1"/>
                </a:solidFill>
                <a:latin typeface="+mn-lt" pitchFamily="34" charset="0"/>
                <a:ea typeface="+mn-lt" pitchFamily="34" charset="-122"/>
                <a:cs typeface="+mn-lt" pitchFamily="34" charset="-120"/>
              </a:rPr>
              <a:t>Giá trị hiện tại trong code</a:t>
            </a:r>
            <a:endParaRPr lang="en-US" sz="2200" dirty="0"/>
          </a:p>
        </p:txBody>
      </p:sp>
      <p:sp>
        <p:nvSpPr>
          <p:cNvPr id="9" name="Text 306: Local vẫn quản lý offline. Cloud lưu metadata + binary. Quyền tru"/>
          <p:cNvSpPr txBox="1"/>
          <p:nvPr/>
        </p:nvSpPr>
        <p:spPr>
          <a:xfrm>
            <a:off x="800100" y="3314700"/>
            <a:ext cx="4914900" cy="1257300"/>
          </a:xfrm>
          <a:prstGeom prst="rect">
            <a:avLst/>
          </a:prstGeom>
          <a:noFill/>
          <a:ln/>
        </p:spPr>
        <p:txBody>
          <a:bodyPr wrap="square" lIns="0" tIns="0" rIns="0" bIns="0" rtlCol="0" anchor="t"/>
          <a:lstStyle/>
          <a:p>
            <a:pPr indent="0" marL="0">
              <a:lnSpc>
                <a:spcPct val="106000"/>
              </a:lnSpc>
              <a:buNone/>
            </a:pPr>
            <a:r>
              <a:rPr lang="en-US" sz="2000" dirty="0">
                <a:solidFill>
                  <a:schemeClr val="bg1"/>
                </a:solidFill>
                <a:latin typeface="+mn-lt" pitchFamily="34" charset="0"/>
                <a:ea typeface="+mn-lt" pitchFamily="34" charset="-122"/>
                <a:cs typeface="+mn-lt" pitchFamily="34" charset="-120"/>
              </a:rPr>
              <a:t>Local vẫn quản lý offline.</a:t>
            </a:r>
            <a:endParaRPr lang="en-US" sz="2000" dirty="0"/>
          </a:p>
          <a:p>
            <a:pPr indent="0" marL="0">
              <a:lnSpc>
                <a:spcPct val="106000"/>
              </a:lnSpc>
              <a:buNone/>
            </a:pPr>
            <a:r>
              <a:rPr lang="en-US" sz="2000" dirty="0">
                <a:solidFill>
                  <a:schemeClr val="bg1"/>
                </a:solidFill>
                <a:latin typeface="+mn-lt" pitchFamily="34" charset="0"/>
                <a:ea typeface="+mn-lt" pitchFamily="34" charset="-122"/>
                <a:cs typeface="+mn-lt" pitchFamily="34" charset="-120"/>
              </a:rPr>
              <a:t>Cloud lưu metadata + binary.</a:t>
            </a:r>
            <a:endParaRPr lang="en-US" sz="2000" dirty="0"/>
          </a:p>
          <a:p>
            <a:pPr indent="0" marL="0">
              <a:lnSpc>
                <a:spcPct val="106000"/>
              </a:lnSpc>
              <a:buNone/>
            </a:pPr>
            <a:r>
              <a:rPr lang="en-US" sz="2000" dirty="0">
                <a:solidFill>
                  <a:schemeClr val="bg1"/>
                </a:solidFill>
                <a:latin typeface="+mn-lt" pitchFamily="34" charset="0"/>
                <a:ea typeface="+mn-lt" pitchFamily="34" charset="-122"/>
                <a:cs typeface="+mn-lt" pitchFamily="34" charset="-120"/>
              </a:rPr>
              <a:t>Quyền truy cập theo UID.</a:t>
            </a:r>
            <a:endParaRPr lang="en-US" sz="2000" dirty="0"/>
          </a:p>
          <a:p>
            <a:pPr indent="0" marL="0">
              <a:lnSpc>
                <a:spcPct val="106000"/>
              </a:lnSpc>
              <a:buNone/>
            </a:pPr>
            <a:r>
              <a:rPr lang="en-US" sz="2000" dirty="0">
                <a:solidFill>
                  <a:schemeClr val="bg1"/>
                </a:solidFill>
                <a:latin typeface="+mn-lt" pitchFamily="34" charset="0"/>
                <a:ea typeface="+mn-lt" pitchFamily="34" charset="-122"/>
                <a:cs typeface="+mn-lt" pitchFamily="34" charset="-120"/>
              </a:rPr>
              <a:t>Hỗ trợ Web và Android.</a:t>
            </a:r>
            <a:endParaRPr lang="en-US" sz="2000" dirty="0"/>
          </a:p>
        </p:txBody>
      </p:sp>
      <p:sp>
        <p:nvSpPr>
          <p:cNvPr id="10" name="Text 307: Lộ trình, chưa triển khai"/>
          <p:cNvSpPr txBox="1"/>
          <p:nvPr/>
        </p:nvSpPr>
        <p:spPr>
          <a:xfrm>
            <a:off x="6515100" y="2400300"/>
            <a:ext cx="4914900" cy="457200"/>
          </a:xfrm>
          <a:prstGeom prst="rect">
            <a:avLst/>
          </a:prstGeom>
          <a:noFill/>
          <a:ln/>
        </p:spPr>
        <p:txBody>
          <a:bodyPr wrap="square" lIns="0" tIns="0" rIns="0" bIns="0" rtlCol="0" anchor="t"/>
          <a:lstStyle/>
          <a:p>
            <a:pPr indent="0" marL="0">
              <a:lnSpc>
                <a:spcPct val="106000"/>
              </a:lnSpc>
              <a:buNone/>
            </a:pPr>
            <a:r>
              <a:rPr lang="en-US" sz="2200" b="1" dirty="0">
                <a:solidFill>
                  <a:schemeClr val="tx1"/>
                </a:solidFill>
                <a:latin typeface="+mn-lt" pitchFamily="34" charset="0"/>
                <a:ea typeface="+mn-lt" pitchFamily="34" charset="-122"/>
                <a:cs typeface="+mn-lt" pitchFamily="34" charset="-120"/>
              </a:rPr>
              <a:t>Lộ trình, chưa triển khai</a:t>
            </a:r>
            <a:endParaRPr lang="en-US" sz="2200" dirty="0"/>
          </a:p>
        </p:txBody>
      </p:sp>
      <p:sp>
        <p:nvSpPr>
          <p:cNvPr id="11" name="Text 308: Sync SQLite ↔ Firestore; cache file Cloud offline; RBAC, chia sẻ "/>
          <p:cNvSpPr txBox="1"/>
          <p:nvPr/>
        </p:nvSpPr>
        <p:spPr>
          <a:xfrm>
            <a:off x="6515100" y="3314700"/>
            <a:ext cx="4914900" cy="1257300"/>
          </a:xfrm>
          <a:prstGeom prst="rect">
            <a:avLst/>
          </a:prstGeom>
          <a:noFill/>
          <a:ln/>
        </p:spPr>
        <p:txBody>
          <a:bodyPr wrap="square" lIns="0" tIns="0" rIns="0" bIns="0" rtlCol="0" anchor="t"/>
          <a:lstStyle/>
          <a:p>
            <a:pPr indent="0" marL="0">
              <a:lnSpc>
                <a:spcPct val="106000"/>
              </a:lnSpc>
              <a:buNone/>
            </a:pPr>
            <a:r>
              <a:rPr lang="en-US" sz="2000" dirty="0">
                <a:solidFill>
                  <a:schemeClr val="tx1"/>
                </a:solidFill>
                <a:latin typeface="+mn-lt" pitchFamily="34" charset="0"/>
                <a:ea typeface="+mn-lt" pitchFamily="34" charset="-122"/>
                <a:cs typeface="+mn-lt" pitchFamily="34" charset="-120"/>
              </a:rPr>
              <a:t>Sync SQLite ↔ Firestore;</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cache file Cloud offline;</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RBAC, chia sẻ nhóm, OCR;</a:t>
            </a:r>
            <a:endParaRPr lang="en-US" sz="2000" dirty="0"/>
          </a:p>
          <a:p>
            <a:pPr indent="0" marL="0">
              <a:lnSpc>
                <a:spcPct val="106000"/>
              </a:lnSpc>
              <a:buNone/>
            </a:pPr>
            <a:r>
              <a:rPr lang="en-US" sz="2000" dirty="0">
                <a:solidFill>
                  <a:schemeClr val="tx1"/>
                </a:solidFill>
                <a:latin typeface="+mn-lt" pitchFamily="34" charset="0"/>
                <a:ea typeface="+mn-lt" pitchFamily="34" charset="-122"/>
                <a:cs typeface="+mn-lt" pitchFamily="34" charset="-120"/>
              </a:rPr>
              <a:t>backup và versioning.</a:t>
            </a:r>
            <a:endParaRPr lang="en-US" sz="2000" dirty="0"/>
          </a:p>
        </p:txBody>
      </p:sp>
      <p:sp>
        <p:nvSpPr>
          <p:cNvPr id="12" name="Content panel 309"/>
          <p:cNvSpPr/>
          <p:nvPr/>
        </p:nvSpPr>
        <p:spPr>
          <a:xfrm>
            <a:off x="571500" y="5143500"/>
            <a:ext cx="11087100" cy="685800"/>
          </a:xfrm>
          <a:prstGeom prst="roundRect">
            <a:avLst>
              <a:gd name="adj" fmla="val 21333"/>
            </a:avLst>
          </a:prstGeom>
          <a:solidFill>
            <a:schemeClr val="accent3"/>
          </a:solidFill>
          <a:ln w="10160">
            <a:solidFill>
              <a:schemeClr val="accent3"/>
            </a:solidFill>
            <a:prstDash val="solid"/>
          </a:ln>
        </p:spPr>
      </p:sp>
      <p:sp>
        <p:nvSpPr>
          <p:cNvPr id="13" name="Text 310: Kết luận: giữ SQLite độc lập, bổ sung Firebase; nghiệm thu bằng d"/>
          <p:cNvSpPr txBox="1"/>
          <p:nvPr/>
        </p:nvSpPr>
        <p:spPr>
          <a:xfrm>
            <a:off x="800100" y="5257800"/>
            <a:ext cx="10629900" cy="457200"/>
          </a:xfrm>
          <a:prstGeom prst="rect">
            <a:avLst/>
          </a:prstGeom>
          <a:noFill/>
          <a:ln/>
        </p:spPr>
        <p:txBody>
          <a:bodyPr wrap="square" lIns="0" tIns="0" rIns="0" bIns="0" rtlCol="0" anchor="ctr"/>
          <a:lstStyle/>
          <a:p>
            <a:pPr indent="0" marL="0">
              <a:lnSpc>
                <a:spcPct val="106000"/>
              </a:lnSpc>
              <a:buNone/>
            </a:pPr>
            <a:r>
              <a:rPr lang="en-US" sz="1800" dirty="0">
                <a:solidFill>
                  <a:schemeClr val="bg1"/>
                </a:solidFill>
                <a:latin typeface="+mn-lt" pitchFamily="34" charset="0"/>
                <a:ea typeface="+mn-lt" pitchFamily="34" charset="-122"/>
                <a:cs typeface="+mn-lt" pitchFamily="34" charset="-120"/>
              </a:rPr>
              <a:t>Kết luận: giữ SQLite độc lập, bổ sung Firebase; nghiệm thu bằng dữ liệu trên Cloud thật.</a:t>
            </a:r>
            <a:endParaRPr lang="en-US" sz="18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71500" y="800100"/>
            <a:ext cx="11087100" cy="800100"/>
          </a:xfrm>
          <a:prstGeom prst="rect">
            <a:avLst/>
          </a:prstGeom>
          <a:noFill/>
          <a:ln/>
        </p:spPr>
        <p:txBody>
          <a:bodyPr wrap="square" lIns="0" tIns="0" rIns="0" bIns="0" rtlCol="0" anchor="ctr"/>
          <a:lstStyle/>
          <a:p>
            <a:pPr indent="0" marL="0">
              <a:buNone/>
            </a:pPr>
            <a:r>
              <a:rPr lang="en-US" sz="3600" b="1" dirty="0">
                <a:solidFill>
                  <a:schemeClr val="tx1"/>
                </a:solidFill>
                <a:latin typeface="+mj-lt" pitchFamily="34" charset="0"/>
                <a:ea typeface="+mj-lt" pitchFamily="34" charset="-122"/>
                <a:cs typeface="+mj-lt" pitchFamily="34" charset="-120"/>
              </a:rPr>
              <a:t>Nguồn chính thức và mã nguồn đối chiếu</a:t>
            </a:r>
            <a:endParaRPr lang="en-US" sz="3600" dirty="0"/>
          </a:p>
        </p:txBody>
      </p:sp>
      <p:sp>
        <p:nvSpPr>
          <p:cNvPr id="3" name="Text 0"/>
          <p:cNvSpPr/>
          <p:nvPr>
            <p:ph idx="101" type="body" hasCustomPrompt="1"/>
          </p:nvPr>
        </p:nvSpPr>
        <p:spPr>
          <a:xfrm>
            <a:off x="571500" y="457200"/>
            <a:ext cx="11087100" cy="228600"/>
          </a:xfrm>
          <a:prstGeom prst="rect">
            <a:avLst/>
          </a:prstGeom>
          <a:noFill/>
          <a:ln/>
        </p:spPr>
        <p:txBody>
          <a:bodyPr wrap="square" lIns="0" tIns="0" rIns="0" bIns="0" rtlCol="0" anchor="ctr"/>
          <a:lstStyle/>
          <a:p>
            <a:pPr indent="0" marL="0">
              <a:buNone/>
            </a:pPr>
            <a:r>
              <a:rPr lang="en-US" sz="1200" b="1" dirty="0">
                <a:solidFill>
                  <a:schemeClr val="tx2"/>
                </a:solidFill>
              </a:rPr>
              <a:t>05 | TÀI LIỆU ĐỐI CHIẾU</a:t>
            </a:r>
            <a:endParaRPr lang="en-US" sz="1200" dirty="0"/>
          </a:p>
        </p:txBody>
      </p:sp>
      <p:sp>
        <p:nvSpPr>
          <p:cNvPr id="4" name="Text 0"/>
          <p:cNvSpPr/>
          <p:nvPr>
            <p:ph idx="102" type="body" hasCustomPrompt="1"/>
          </p:nvPr>
        </p:nvSpPr>
        <p:spPr>
          <a:xfrm>
            <a:off x="571500" y="1600200"/>
            <a:ext cx="11087100" cy="342900"/>
          </a:xfrm>
          <a:prstGeom prst="rect">
            <a:avLst/>
          </a:prstGeom>
          <a:noFill/>
          <a:ln/>
        </p:spPr>
        <p:txBody>
          <a:bodyPr wrap="square" lIns="0" tIns="0" rIns="0" bIns="0" rtlCol="0" anchor="ctr"/>
          <a:lstStyle/>
          <a:p>
            <a:pPr indent="0" marL="0">
              <a:buNone/>
            </a:pPr>
            <a:r>
              <a:rPr lang="en-US" sz="1800" dirty="0">
                <a:solidFill>
                  <a:schemeClr val="tx2"/>
                </a:solidFill>
              </a:rPr>
              <a:t>Liên kết có thể bấm; URL đầy đủ trong speaker notes. Đối chiếu ngày 08/10/2026.</a:t>
            </a:r>
            <a:endParaRPr lang="en-US" sz="1800" dirty="0"/>
          </a:p>
        </p:txBody>
      </p:sp>
      <p:sp>
        <p:nvSpPr>
          <p:cNvPr id="6" name="Content panel 311"/>
          <p:cNvSpPr/>
          <p:nvPr/>
        </p:nvSpPr>
        <p:spPr>
          <a:xfrm>
            <a:off x="571500" y="2171700"/>
            <a:ext cx="5372100" cy="3543300"/>
          </a:xfrm>
          <a:prstGeom prst="roundRect">
            <a:avLst>
              <a:gd name="adj" fmla="val 4129"/>
            </a:avLst>
          </a:prstGeom>
          <a:solidFill>
            <a:schemeClr val="bg2"/>
          </a:solidFill>
          <a:ln w="10160">
            <a:solidFill>
              <a:schemeClr val="bg2"/>
            </a:solidFill>
            <a:prstDash val="solid"/>
          </a:ln>
        </p:spPr>
      </p:sp>
      <p:sp>
        <p:nvSpPr>
          <p:cNvPr id="7" name="Content panel 312"/>
          <p:cNvSpPr/>
          <p:nvPr/>
        </p:nvSpPr>
        <p:spPr>
          <a:xfrm>
            <a:off x="6286500" y="2171700"/>
            <a:ext cx="5372100" cy="3543300"/>
          </a:xfrm>
          <a:prstGeom prst="roundRect">
            <a:avLst>
              <a:gd name="adj" fmla="val 4129"/>
            </a:avLst>
          </a:prstGeom>
          <a:solidFill>
            <a:schemeClr val="bg2"/>
          </a:solidFill>
          <a:ln w="10160">
            <a:solidFill>
              <a:schemeClr val="bg2"/>
            </a:solidFill>
            <a:prstDash val="solid"/>
          </a:ln>
        </p:spPr>
      </p:sp>
      <p:sp>
        <p:nvSpPr>
          <p:cNvPr id="8" name="Step F1"/>
          <p:cNvSpPr/>
          <p:nvPr/>
        </p:nvSpPr>
        <p:spPr>
          <a:xfrm>
            <a:off x="800100" y="2400300"/>
            <a:ext cx="457200" cy="457200"/>
          </a:xfrm>
          <a:prstGeom prst="ellipse">
            <a:avLst/>
          </a:prstGeom>
          <a:solidFill>
            <a:schemeClr val="tx1"/>
          </a:solidFill>
          <a:ln w="10160">
            <a:solidFill>
              <a:schemeClr val="tx1"/>
            </a:solidFill>
            <a:prstDash val="solid"/>
          </a:ln>
        </p:spPr>
      </p:sp>
      <p:sp>
        <p:nvSpPr>
          <p:cNvPr id="9" name="Text 313: F1"/>
          <p:cNvSpPr txBox="1"/>
          <p:nvPr/>
        </p:nvSpPr>
        <p:spPr>
          <a:xfrm>
            <a:off x="800100" y="24003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F1</a:t>
            </a:r>
            <a:endParaRPr lang="en-US" sz="1800" dirty="0"/>
          </a:p>
        </p:txBody>
      </p:sp>
      <p:sp>
        <p:nvSpPr>
          <p:cNvPr id="10" name="Text 314: Firebase / BaaS">
            <a:hlinkClick r:id="rId1" tooltip=""/>
          </p:cNvPr>
          <p:cNvSpPr txBox="1"/>
          <p:nvPr/>
        </p:nvSpPr>
        <p:spPr>
          <a:xfrm>
            <a:off x="1485900" y="24003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1" invalidUrl="" action="" tgtFrame="" tooltip="" history="1" highlightClick="0" endSnd="0">
                  <a:extLst>
                    <a:ext uri="{A12FA001-AC4F-418D-AE19-62706E023703}">
                      <ahyp:hlinkClr xmlns:ahyp="http://schemas.microsoft.com/office/drawing/2018/hyperlinkcolor" val="tx"/>
                    </a:ext>
                  </a:extLst>
                </a:hlinkClick>
              </a:rPr>
              <a:t>Firebase / BaaS</a:t>
            </a:r>
            <a:endParaRPr lang="en-US" sz="2000" dirty="0"/>
          </a:p>
        </p:txBody>
      </p:sp>
      <p:sp>
        <p:nvSpPr>
          <p:cNvPr id="11" name="Text 315: firebase.google.com">
            <a:hlinkClick r:id="rId2" tooltip=""/>
          </p:cNvPr>
          <p:cNvSpPr txBox="1"/>
          <p:nvPr/>
        </p:nvSpPr>
        <p:spPr>
          <a:xfrm>
            <a:off x="1485900" y="27432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2" invalidUrl="" action="" tgtFrame="" tooltip="" history="1" highlightClick="0" endSnd="0">
                  <a:extLst>
                    <a:ext uri="{A12FA001-AC4F-418D-AE19-62706E023703}">
                      <ahyp:hlinkClr xmlns:ahyp="http://schemas.microsoft.com/office/drawing/2018/hyperlinkcolor" val="tx"/>
                    </a:ext>
                  </a:extLst>
                </a:hlinkClick>
              </a:rPr>
              <a:t>firebase.google.com</a:t>
            </a:r>
            <a:endParaRPr lang="en-US" sz="1800" dirty="0"/>
          </a:p>
        </p:txBody>
      </p:sp>
      <p:sp>
        <p:nvSpPr>
          <p:cNvPr id="12" name="Step F2"/>
          <p:cNvSpPr/>
          <p:nvPr/>
        </p:nvSpPr>
        <p:spPr>
          <a:xfrm>
            <a:off x="800100" y="3200400"/>
            <a:ext cx="457200" cy="457200"/>
          </a:xfrm>
          <a:prstGeom prst="ellipse">
            <a:avLst/>
          </a:prstGeom>
          <a:solidFill>
            <a:schemeClr val="tx1"/>
          </a:solidFill>
          <a:ln w="10160">
            <a:solidFill>
              <a:schemeClr val="tx1"/>
            </a:solidFill>
            <a:prstDash val="solid"/>
          </a:ln>
        </p:spPr>
      </p:sp>
      <p:sp>
        <p:nvSpPr>
          <p:cNvPr id="13" name="Text 316: F2"/>
          <p:cNvSpPr txBox="1"/>
          <p:nvPr/>
        </p:nvSpPr>
        <p:spPr>
          <a:xfrm>
            <a:off x="800100" y="32004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F2</a:t>
            </a:r>
            <a:endParaRPr lang="en-US" sz="1800" dirty="0"/>
          </a:p>
        </p:txBody>
      </p:sp>
      <p:sp>
        <p:nvSpPr>
          <p:cNvPr id="14" name="Text 317: Google Auth cho Flutter">
            <a:hlinkClick r:id="rId3" tooltip=""/>
          </p:cNvPr>
          <p:cNvSpPr txBox="1"/>
          <p:nvPr/>
        </p:nvSpPr>
        <p:spPr>
          <a:xfrm>
            <a:off x="1485900" y="32004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3" invalidUrl="" action="" tgtFrame="" tooltip="" history="1" highlightClick="0" endSnd="0">
                  <a:extLst>
                    <a:ext uri="{A12FA001-AC4F-418D-AE19-62706E023703}">
                      <ahyp:hlinkClr xmlns:ahyp="http://schemas.microsoft.com/office/drawing/2018/hyperlinkcolor" val="tx"/>
                    </a:ext>
                  </a:extLst>
                </a:hlinkClick>
              </a:rPr>
              <a:t>Google Auth cho Flutter</a:t>
            </a:r>
            <a:endParaRPr lang="en-US" sz="2000" dirty="0"/>
          </a:p>
        </p:txBody>
      </p:sp>
      <p:sp>
        <p:nvSpPr>
          <p:cNvPr id="15" name="Text 318: firebase.google.com">
            <a:hlinkClick r:id="rId4" tooltip=""/>
          </p:cNvPr>
          <p:cNvSpPr txBox="1"/>
          <p:nvPr/>
        </p:nvSpPr>
        <p:spPr>
          <a:xfrm>
            <a:off x="1485900" y="35433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4" invalidUrl="" action="" tgtFrame="" tooltip="" history="1" highlightClick="0" endSnd="0">
                  <a:extLst>
                    <a:ext uri="{A12FA001-AC4F-418D-AE19-62706E023703}">
                      <ahyp:hlinkClr xmlns:ahyp="http://schemas.microsoft.com/office/drawing/2018/hyperlinkcolor" val="tx"/>
                    </a:ext>
                  </a:extLst>
                </a:hlinkClick>
              </a:rPr>
              <a:t>firebase.google.com</a:t>
            </a:r>
            <a:endParaRPr lang="en-US" sz="1800" dirty="0"/>
          </a:p>
        </p:txBody>
      </p:sp>
      <p:sp>
        <p:nvSpPr>
          <p:cNvPr id="16" name="Step F3"/>
          <p:cNvSpPr/>
          <p:nvPr/>
        </p:nvSpPr>
        <p:spPr>
          <a:xfrm>
            <a:off x="800100" y="4000500"/>
            <a:ext cx="457200" cy="457200"/>
          </a:xfrm>
          <a:prstGeom prst="ellipse">
            <a:avLst/>
          </a:prstGeom>
          <a:solidFill>
            <a:schemeClr val="tx1"/>
          </a:solidFill>
          <a:ln w="10160">
            <a:solidFill>
              <a:schemeClr val="tx1"/>
            </a:solidFill>
            <a:prstDash val="solid"/>
          </a:ln>
        </p:spPr>
      </p:sp>
      <p:sp>
        <p:nvSpPr>
          <p:cNvPr id="17" name="Text 319: F3"/>
          <p:cNvSpPr txBox="1"/>
          <p:nvPr/>
        </p:nvSpPr>
        <p:spPr>
          <a:xfrm>
            <a:off x="800100" y="40005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F3</a:t>
            </a:r>
            <a:endParaRPr lang="en-US" sz="1800" dirty="0"/>
          </a:p>
        </p:txBody>
      </p:sp>
      <p:sp>
        <p:nvSpPr>
          <p:cNvPr id="18" name="Text 320: Firestore Security Rules">
            <a:hlinkClick r:id="rId5" tooltip=""/>
          </p:cNvPr>
          <p:cNvSpPr txBox="1"/>
          <p:nvPr/>
        </p:nvSpPr>
        <p:spPr>
          <a:xfrm>
            <a:off x="1485900" y="40005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5" invalidUrl="" action="" tgtFrame="" tooltip="" history="1" highlightClick="0" endSnd="0">
                  <a:extLst>
                    <a:ext uri="{A12FA001-AC4F-418D-AE19-62706E023703}">
                      <ahyp:hlinkClr xmlns:ahyp="http://schemas.microsoft.com/office/drawing/2018/hyperlinkcolor" val="tx"/>
                    </a:ext>
                  </a:extLst>
                </a:hlinkClick>
              </a:rPr>
              <a:t>Firestore Security Rules</a:t>
            </a:r>
            <a:endParaRPr lang="en-US" sz="2000" dirty="0"/>
          </a:p>
        </p:txBody>
      </p:sp>
      <p:sp>
        <p:nvSpPr>
          <p:cNvPr id="19" name="Text 321: firebase.google.com">
            <a:hlinkClick r:id="rId6" tooltip=""/>
          </p:cNvPr>
          <p:cNvSpPr txBox="1"/>
          <p:nvPr/>
        </p:nvSpPr>
        <p:spPr>
          <a:xfrm>
            <a:off x="1485900" y="43434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6" invalidUrl="" action="" tgtFrame="" tooltip="" history="1" highlightClick="0" endSnd="0">
                  <a:extLst>
                    <a:ext uri="{A12FA001-AC4F-418D-AE19-62706E023703}">
                      <ahyp:hlinkClr xmlns:ahyp="http://schemas.microsoft.com/office/drawing/2018/hyperlinkcolor" val="tx"/>
                    </a:ext>
                  </a:extLst>
                </a:hlinkClick>
              </a:rPr>
              <a:t>firebase.google.com</a:t>
            </a:r>
            <a:endParaRPr lang="en-US" sz="1800" dirty="0"/>
          </a:p>
        </p:txBody>
      </p:sp>
      <p:sp>
        <p:nvSpPr>
          <p:cNvPr id="20" name="Step F4"/>
          <p:cNvSpPr/>
          <p:nvPr/>
        </p:nvSpPr>
        <p:spPr>
          <a:xfrm>
            <a:off x="800100" y="4800600"/>
            <a:ext cx="457200" cy="457200"/>
          </a:xfrm>
          <a:prstGeom prst="ellipse">
            <a:avLst/>
          </a:prstGeom>
          <a:solidFill>
            <a:schemeClr val="tx1"/>
          </a:solidFill>
          <a:ln w="10160">
            <a:solidFill>
              <a:schemeClr val="tx1"/>
            </a:solidFill>
            <a:prstDash val="solid"/>
          </a:ln>
        </p:spPr>
      </p:sp>
      <p:sp>
        <p:nvSpPr>
          <p:cNvPr id="21" name="Text 322: F4"/>
          <p:cNvSpPr txBox="1"/>
          <p:nvPr/>
        </p:nvSpPr>
        <p:spPr>
          <a:xfrm>
            <a:off x="800100" y="48006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F4</a:t>
            </a:r>
            <a:endParaRPr lang="en-US" sz="1800" dirty="0"/>
          </a:p>
        </p:txBody>
      </p:sp>
      <p:sp>
        <p:nvSpPr>
          <p:cNvPr id="22" name="Text 323: Storage: tải bằng SDK">
            <a:hlinkClick r:id="rId7" tooltip=""/>
          </p:cNvPr>
          <p:cNvSpPr txBox="1"/>
          <p:nvPr/>
        </p:nvSpPr>
        <p:spPr>
          <a:xfrm>
            <a:off x="1485900" y="48006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Storage: tải bằng SDK</a:t>
            </a:r>
            <a:endParaRPr lang="en-US" sz="2000" dirty="0"/>
          </a:p>
        </p:txBody>
      </p:sp>
      <p:sp>
        <p:nvSpPr>
          <p:cNvPr id="23" name="Text 324: firebase.google.com">
            <a:hlinkClick r:id="rId8" tooltip=""/>
          </p:cNvPr>
          <p:cNvSpPr txBox="1"/>
          <p:nvPr/>
        </p:nvSpPr>
        <p:spPr>
          <a:xfrm>
            <a:off x="1485900" y="51435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8" invalidUrl="" action="" tgtFrame="" tooltip="" history="1" highlightClick="0" endSnd="0">
                  <a:extLst>
                    <a:ext uri="{A12FA001-AC4F-418D-AE19-62706E023703}">
                      <ahyp:hlinkClr xmlns:ahyp="http://schemas.microsoft.com/office/drawing/2018/hyperlinkcolor" val="tx"/>
                    </a:ext>
                  </a:extLst>
                </a:hlinkClick>
              </a:rPr>
              <a:t>firebase.google.com</a:t>
            </a:r>
            <a:endParaRPr lang="en-US" sz="1800" dirty="0"/>
          </a:p>
        </p:txBody>
      </p:sp>
      <p:sp>
        <p:nvSpPr>
          <p:cNvPr id="24" name="Step F5"/>
          <p:cNvSpPr/>
          <p:nvPr/>
        </p:nvSpPr>
        <p:spPr>
          <a:xfrm>
            <a:off x="6515100" y="2400300"/>
            <a:ext cx="457200" cy="457200"/>
          </a:xfrm>
          <a:prstGeom prst="ellipse">
            <a:avLst/>
          </a:prstGeom>
          <a:solidFill>
            <a:schemeClr val="tx1"/>
          </a:solidFill>
          <a:ln w="10160">
            <a:solidFill>
              <a:schemeClr val="tx1"/>
            </a:solidFill>
            <a:prstDash val="solid"/>
          </a:ln>
        </p:spPr>
      </p:sp>
      <p:sp>
        <p:nvSpPr>
          <p:cNvPr id="25" name="Text 325: F5"/>
          <p:cNvSpPr txBox="1"/>
          <p:nvPr/>
        </p:nvSpPr>
        <p:spPr>
          <a:xfrm>
            <a:off x="6515100" y="24003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F5</a:t>
            </a:r>
            <a:endParaRPr lang="en-US" sz="1800" dirty="0"/>
          </a:p>
        </p:txBody>
      </p:sp>
      <p:sp>
        <p:nvSpPr>
          <p:cNvPr id="26" name="Text 326: Storage Security Rules">
            <a:hlinkClick r:id="rId9" tooltip=""/>
          </p:cNvPr>
          <p:cNvSpPr txBox="1"/>
          <p:nvPr/>
        </p:nvSpPr>
        <p:spPr>
          <a:xfrm>
            <a:off x="7200900" y="24003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Storage Security Rules</a:t>
            </a:r>
            <a:endParaRPr lang="en-US" sz="2000" dirty="0"/>
          </a:p>
        </p:txBody>
      </p:sp>
      <p:sp>
        <p:nvSpPr>
          <p:cNvPr id="27" name="Text 327: firebase.google.com">
            <a:hlinkClick r:id="rId10" tooltip=""/>
          </p:cNvPr>
          <p:cNvSpPr txBox="1"/>
          <p:nvPr/>
        </p:nvSpPr>
        <p:spPr>
          <a:xfrm>
            <a:off x="7200900" y="27432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firebase.google.com</a:t>
            </a:r>
            <a:endParaRPr lang="en-US" sz="1800" dirty="0"/>
          </a:p>
        </p:txBody>
      </p:sp>
      <p:sp>
        <p:nvSpPr>
          <p:cNvPr id="28" name="Step F6"/>
          <p:cNvSpPr/>
          <p:nvPr/>
        </p:nvSpPr>
        <p:spPr>
          <a:xfrm>
            <a:off x="6515100" y="3200400"/>
            <a:ext cx="457200" cy="457200"/>
          </a:xfrm>
          <a:prstGeom prst="ellipse">
            <a:avLst/>
          </a:prstGeom>
          <a:solidFill>
            <a:schemeClr val="tx1"/>
          </a:solidFill>
          <a:ln w="10160">
            <a:solidFill>
              <a:schemeClr val="tx1"/>
            </a:solidFill>
            <a:prstDash val="solid"/>
          </a:ln>
        </p:spPr>
      </p:sp>
      <p:sp>
        <p:nvSpPr>
          <p:cNvPr id="29" name="Text 328: F6"/>
          <p:cNvSpPr txBox="1"/>
          <p:nvPr/>
        </p:nvSpPr>
        <p:spPr>
          <a:xfrm>
            <a:off x="6515100" y="32004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F6</a:t>
            </a:r>
            <a:endParaRPr lang="en-US" sz="1800" dirty="0"/>
          </a:p>
        </p:txBody>
      </p:sp>
      <p:sp>
        <p:nvSpPr>
          <p:cNvPr id="30" name="Text 329: Storage yêu cầu Blaze">
            <a:hlinkClick r:id="rId11" tooltip=""/>
          </p:cNvPr>
          <p:cNvSpPr txBox="1"/>
          <p:nvPr/>
        </p:nvSpPr>
        <p:spPr>
          <a:xfrm>
            <a:off x="7200900" y="32004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Storage yêu cầu Blaze</a:t>
            </a:r>
            <a:endParaRPr lang="en-US" sz="2000" dirty="0"/>
          </a:p>
        </p:txBody>
      </p:sp>
      <p:sp>
        <p:nvSpPr>
          <p:cNvPr id="31" name="Text 330: firebase.google.com">
            <a:hlinkClick r:id="rId12" tooltip=""/>
          </p:cNvPr>
          <p:cNvSpPr txBox="1"/>
          <p:nvPr/>
        </p:nvSpPr>
        <p:spPr>
          <a:xfrm>
            <a:off x="7200900" y="35433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firebase.google.com</a:t>
            </a:r>
            <a:endParaRPr lang="en-US" sz="1800" dirty="0"/>
          </a:p>
        </p:txBody>
      </p:sp>
      <p:sp>
        <p:nvSpPr>
          <p:cNvPr id="32" name="Step F7"/>
          <p:cNvSpPr/>
          <p:nvPr/>
        </p:nvSpPr>
        <p:spPr>
          <a:xfrm>
            <a:off x="6515100" y="4000500"/>
            <a:ext cx="457200" cy="457200"/>
          </a:xfrm>
          <a:prstGeom prst="ellipse">
            <a:avLst/>
          </a:prstGeom>
          <a:solidFill>
            <a:schemeClr val="tx1"/>
          </a:solidFill>
          <a:ln w="10160">
            <a:solidFill>
              <a:schemeClr val="tx1"/>
            </a:solidFill>
            <a:prstDash val="solid"/>
          </a:ln>
        </p:spPr>
      </p:sp>
      <p:sp>
        <p:nvSpPr>
          <p:cNvPr id="33" name="Text 331: F7"/>
          <p:cNvSpPr txBox="1"/>
          <p:nvPr/>
        </p:nvSpPr>
        <p:spPr>
          <a:xfrm>
            <a:off x="6515100" y="40005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F7</a:t>
            </a:r>
            <a:endParaRPr lang="en-US" sz="1800" dirty="0"/>
          </a:p>
        </p:txBody>
      </p:sp>
      <p:sp>
        <p:nvSpPr>
          <p:cNvPr id="34" name="Text 332: Giá và budget alerts">
            <a:hlinkClick r:id="rId13" tooltip=""/>
          </p:cNvPr>
          <p:cNvSpPr txBox="1"/>
          <p:nvPr/>
        </p:nvSpPr>
        <p:spPr>
          <a:xfrm>
            <a:off x="7200900" y="40005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Giá và budget alerts</a:t>
            </a:r>
            <a:endParaRPr lang="en-US" sz="2000" dirty="0"/>
          </a:p>
        </p:txBody>
      </p:sp>
      <p:sp>
        <p:nvSpPr>
          <p:cNvPr id="35" name="Text 333: firebase.google.com">
            <a:hlinkClick r:id="rId14" tooltip=""/>
          </p:cNvPr>
          <p:cNvSpPr txBox="1"/>
          <p:nvPr/>
        </p:nvSpPr>
        <p:spPr>
          <a:xfrm>
            <a:off x="7200900" y="43434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firebase.google.com</a:t>
            </a:r>
            <a:endParaRPr lang="en-US" sz="1800" dirty="0"/>
          </a:p>
        </p:txBody>
      </p:sp>
      <p:sp>
        <p:nvSpPr>
          <p:cNvPr id="36" name="Step F8"/>
          <p:cNvSpPr/>
          <p:nvPr/>
        </p:nvSpPr>
        <p:spPr>
          <a:xfrm>
            <a:off x="6515100" y="4800600"/>
            <a:ext cx="457200" cy="457200"/>
          </a:xfrm>
          <a:prstGeom prst="ellipse">
            <a:avLst/>
          </a:prstGeom>
          <a:solidFill>
            <a:schemeClr val="tx1"/>
          </a:solidFill>
          <a:ln w="10160">
            <a:solidFill>
              <a:schemeClr val="tx1"/>
            </a:solidFill>
            <a:prstDash val="solid"/>
          </a:ln>
        </p:spPr>
      </p:sp>
      <p:sp>
        <p:nvSpPr>
          <p:cNvPr id="37" name="Text 334: F8"/>
          <p:cNvSpPr txBox="1"/>
          <p:nvPr/>
        </p:nvSpPr>
        <p:spPr>
          <a:xfrm>
            <a:off x="6515100" y="4800600"/>
            <a:ext cx="457200" cy="457200"/>
          </a:xfrm>
          <a:prstGeom prst="rect">
            <a:avLst/>
          </a:prstGeom>
          <a:noFill/>
          <a:ln/>
        </p:spPr>
        <p:txBody>
          <a:bodyPr wrap="square" lIns="0" tIns="0" rIns="0" bIns="0" rtlCol="0" anchor="ctr"/>
          <a:lstStyle/>
          <a:p>
            <a:pPr algn="ctr" indent="0" marL="0">
              <a:lnSpc>
                <a:spcPct val="106000"/>
              </a:lnSpc>
              <a:buNone/>
            </a:pPr>
            <a:r>
              <a:rPr lang="en-US" sz="1800" b="1" dirty="0">
                <a:solidFill>
                  <a:schemeClr val="bg1"/>
                </a:solidFill>
                <a:latin typeface="+mn-lt" pitchFamily="34" charset="0"/>
                <a:ea typeface="+mn-lt" pitchFamily="34" charset="-122"/>
                <a:cs typeface="+mn-lt" pitchFamily="34" charset="-120"/>
              </a:rPr>
              <a:t>F8</a:t>
            </a:r>
            <a:endParaRPr lang="en-US" sz="1800" dirty="0"/>
          </a:p>
        </p:txBody>
      </p:sp>
      <p:sp>
        <p:nvSpPr>
          <p:cNvPr id="38" name="Text 335: NIST: Hybrid Cloud">
            <a:hlinkClick r:id="rId15" tooltip=""/>
          </p:cNvPr>
          <p:cNvSpPr txBox="1"/>
          <p:nvPr/>
        </p:nvSpPr>
        <p:spPr>
          <a:xfrm>
            <a:off x="7200900" y="4800600"/>
            <a:ext cx="4114800" cy="342900"/>
          </a:xfrm>
          <a:prstGeom prst="rect">
            <a:avLst/>
          </a:prstGeom>
          <a:noFill/>
          <a:ln/>
        </p:spPr>
        <p:txBody>
          <a:bodyPr wrap="square" lIns="0" tIns="0" rIns="0" bIns="0" rtlCol="0" anchor="t"/>
          <a:lstStyle/>
          <a:p>
            <a:pPr indent="0" marL="0">
              <a:lnSpc>
                <a:spcPct val="106000"/>
              </a:lnSpc>
              <a:buNone/>
            </a:pPr>
            <a:r>
              <a:rPr lang="en-US" sz="2000" b="1" u="sng" dirty="0">
                <a:solidFill>
                  <a:schemeClr val="tx1"/>
                </a:solidFill>
                <a:latin typeface="+mn-lt" pitchFamily="34" charset="0"/>
                <a:ea typeface="+mn-lt" pitchFamily="34" charset="-122"/>
                <a:cs typeface="+mn-l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NIST: Hybrid Cloud</a:t>
            </a:r>
            <a:endParaRPr lang="en-US" sz="2000" dirty="0"/>
          </a:p>
        </p:txBody>
      </p:sp>
      <p:sp>
        <p:nvSpPr>
          <p:cNvPr id="39" name="Text 336: csrc.nist.gov">
            <a:hlinkClick r:id="rId16" tooltip=""/>
          </p:cNvPr>
          <p:cNvSpPr txBox="1"/>
          <p:nvPr/>
        </p:nvSpPr>
        <p:spPr>
          <a:xfrm>
            <a:off x="7200900" y="5143500"/>
            <a:ext cx="4114800" cy="342900"/>
          </a:xfrm>
          <a:prstGeom prst="rect">
            <a:avLst/>
          </a:prstGeom>
          <a:noFill/>
          <a:ln/>
        </p:spPr>
        <p:txBody>
          <a:bodyPr wrap="square" lIns="0" tIns="0" rIns="0" bIns="0" rtlCol="0" anchor="t"/>
          <a:lstStyle/>
          <a:p>
            <a:pPr indent="0" marL="0">
              <a:lnSpc>
                <a:spcPct val="106000"/>
              </a:lnSpc>
              <a:buNone/>
            </a:pPr>
            <a:r>
              <a:rPr lang="en-US" sz="1800" u="sng" dirty="0">
                <a:solidFill>
                  <a:schemeClr val="tx2"/>
                </a:solidFill>
                <a:latin typeface="+mn-lt" pitchFamily="34" charset="0"/>
                <a:ea typeface="+mn-lt" pitchFamily="34" charset="-122"/>
                <a:cs typeface="+mn-l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csrc.nist.gov</a:t>
            </a:r>
            <a:endParaRPr lang="en-US" sz="1800" dirty="0"/>
          </a:p>
        </p:txBody>
      </p:sp>
      <p:sp>
        <p:nvSpPr>
          <p:cNvPr id="40" name="Text 337: Mã nguồn: lib/cloud/* · firestore.rules · storage.rules · scripts"/>
          <p:cNvSpPr txBox="1"/>
          <p:nvPr/>
        </p:nvSpPr>
        <p:spPr>
          <a:xfrm>
            <a:off x="571500" y="5829300"/>
            <a:ext cx="11087100" cy="342900"/>
          </a:xfrm>
          <a:prstGeom prst="rect">
            <a:avLst/>
          </a:prstGeom>
          <a:noFill/>
          <a:ln/>
        </p:spPr>
        <p:txBody>
          <a:bodyPr wrap="square" lIns="0" tIns="0" rIns="0" bIns="0" rtlCol="0" anchor="t"/>
          <a:lstStyle/>
          <a:p>
            <a:pPr indent="0" marL="0">
              <a:lnSpc>
                <a:spcPct val="106000"/>
              </a:lnSpc>
              <a:buNone/>
            </a:pPr>
            <a:r>
              <a:rPr lang="en-US" sz="1200" dirty="0">
                <a:solidFill>
                  <a:schemeClr val="tx2"/>
                </a:solidFill>
                <a:latin typeface="+mn-lt" pitchFamily="34" charset="0"/>
                <a:ea typeface="+mn-lt" pitchFamily="34" charset="-122"/>
                <a:cs typeface="+mn-lt" pitchFamily="34" charset="-120"/>
              </a:rPr>
              <a:t>Mã nguồn: lib/cloud/* · firestore.rules · storage.rules · scripts/configure_firebase.ps1</a:t>
            </a:r>
            <a:endParaRPr lang="en-US" sz="1200" dirty="0"/>
          </a:p>
        </p:txBody>
      </p:sp>
      <p:sp>
        <p:nvSpPr>
          <p:cNvPr id="25" name="Slide Number Placeholder 0"/>
          <p:cNvSpPr>
            <a:spLocks noGrp="1"/>
          </p:cNvSpPr>
          <p:nvPr>
            <p:ph type="sldNum" sz="quarter" idx="4294967295"/>
          </p:nvPr>
        </p:nvSpPr>
        <p:spPr>
          <a:xfrm>
            <a:off x="11201400" y="617220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tudyDoc Firebase | Charcoal and Orange">
  <a:themeElements>
    <a:clrScheme name="StudyDoc Firebase | Charcoal and Orange">
      <a:dk1>
        <a:srgbClr val="182126"/>
      </a:dk1>
      <a:lt1>
        <a:srgbClr val="FFFFFF"/>
      </a:lt1>
      <a:dk2>
        <a:srgbClr val="53616B"/>
      </a:dk2>
      <a:lt2>
        <a:srgbClr val="F1F4F5"/>
      </a:lt2>
      <a:accent1>
        <a:srgbClr val="FF9F1C"/>
      </a:accent1>
      <a:accent2>
        <a:srgbClr val="FFCA28"/>
      </a:accent2>
      <a:accent3>
        <a:srgbClr val="34454F"/>
      </a:accent3>
      <a:accent4>
        <a:srgbClr val="14735B"/>
      </a:accent4>
      <a:accent5>
        <a:srgbClr val="AC3C30"/>
      </a:accent5>
      <a:accent6>
        <a:srgbClr val="C8D2D8"/>
      </a:accent6>
      <a:hlink>
        <a:srgbClr val="14735B"/>
      </a:hlink>
      <a:folHlink>
        <a:srgbClr val="53616B"/>
      </a:folHlink>
    </a:clrScheme>
    <a:fontScheme name="StudyDoc Firebase | Charcoal and Oran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StudyDoc Manager | Bài tập tích hợp Cloud</dc:title>
  <dc:subject>Firebase Public Cloud cho thư viện tài liệu riêng tư</dc:subject>
  <dc:creator>StudyDoc Manager</dc:creator>
  <cp:lastModifiedBy>StudyDoc Manager</cp:lastModifiedBy>
  <cp:revision>1</cp:revision>
  <dcterms:created xsi:type="dcterms:W3CDTF">2026-10-08T15:12:40Z</dcterms:created>
  <dcterms:modified xsi:type="dcterms:W3CDTF">2026-10-08T15:12:40Z</dcterms:modified>
</cp:coreProperties>
</file>